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311ec203c843d4" /><Relationship Type="http://schemas.openxmlformats.org/officeDocument/2006/relationships/extended-properties" Target="/docProps/app.xml" Id="R5df7fd84ad4a41c8" /><Relationship Type="http://schemas.openxmlformats.org/officeDocument/2006/relationships/officeDocument" Target="/ppt/presentation.xml" Id="R508fb411497c44d4" /></Relationships>
</file>

<file path=ppt/presentation.xml><?xml version="1.0" encoding="utf-8"?>
<p:presentation xmlns:p="http://schemas.openxmlformats.org/presentationml/2006/main">
  <p:sldMasterIdLst>
    <p:sldMasterId xmlns:r="http://schemas.openxmlformats.org/officeDocument/2006/relationships" id="2147483648" r:id="Rfb4a5973fbe64e45"/>
  </p:sldMasterIdLst>
  <p:notesMasterIdLst>
    <p:notesMasterId xmlns:r="http://schemas.openxmlformats.org/officeDocument/2006/relationships" r:id="R91a9bb2adfb844d7"/>
  </p:notesMasterIdLst>
  <p:sldIdLst>
    <p:sldId xmlns:r="http://schemas.openxmlformats.org/officeDocument/2006/relationships" id="256" r:id="R26bbde98559d418e"/>
    <p:sldId xmlns:r="http://schemas.openxmlformats.org/officeDocument/2006/relationships" id="257" r:id="R02c94afedfe5416f"/>
    <p:sldId xmlns:r="http://schemas.openxmlformats.org/officeDocument/2006/relationships" id="258" r:id="R03570854a8584077"/>
    <p:sldId xmlns:r="http://schemas.openxmlformats.org/officeDocument/2006/relationships" id="259" r:id="Rfd1f7ba9a2864bb8"/>
    <p:sldId xmlns:r="http://schemas.openxmlformats.org/officeDocument/2006/relationships" id="260" r:id="R1172d3b4216448d8"/>
    <p:sldId xmlns:r="http://schemas.openxmlformats.org/officeDocument/2006/relationships" id="261" r:id="Red49b30be87140ad"/>
    <p:sldId xmlns:r="http://schemas.openxmlformats.org/officeDocument/2006/relationships" id="262" r:id="R7cf513ba941c4a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b8a5767551454c" /><Relationship Type="http://schemas.openxmlformats.org/officeDocument/2006/relationships/slideMaster" Target="/ppt/slideMasters/slideMaster1.xml" Id="Rfb4a5973fbe64e45" /><Relationship Type="http://schemas.openxmlformats.org/officeDocument/2006/relationships/notesMaster" Target="/ppt/notesMasters/notesMaster1.xml" Id="R91a9bb2adfb844d7" /><Relationship Type="http://schemas.openxmlformats.org/officeDocument/2006/relationships/presProps" Target="/ppt/presProps.xml" Id="Rd7515996da6b483b" /><Relationship Type="http://schemas.openxmlformats.org/officeDocument/2006/relationships/tableStyles" Target="/ppt/tableStyles.xml" Id="Rded84582f0274379" /><Relationship Type="http://schemas.openxmlformats.org/officeDocument/2006/relationships/slide" Target="/ppt/slides/slide1.xml" Id="R26bbde98559d418e" /><Relationship Type="http://schemas.openxmlformats.org/officeDocument/2006/relationships/slide" Target="/ppt/slides/slide2.xml" Id="R02c94afedfe5416f" /><Relationship Type="http://schemas.openxmlformats.org/officeDocument/2006/relationships/slide" Target="/ppt/slides/slide3.xml" Id="R03570854a8584077" /><Relationship Type="http://schemas.openxmlformats.org/officeDocument/2006/relationships/slide" Target="/ppt/slides/slide4.xml" Id="Rfd1f7ba9a2864bb8" /><Relationship Type="http://schemas.openxmlformats.org/officeDocument/2006/relationships/slide" Target="/ppt/slides/slide5.xml" Id="R1172d3b4216448d8" /><Relationship Type="http://schemas.openxmlformats.org/officeDocument/2006/relationships/slide" Target="/ppt/slides/slide6.xml" Id="Red49b30be87140ad" /><Relationship Type="http://schemas.openxmlformats.org/officeDocument/2006/relationships/slide" Target="/ppt/slides/slide7.xml" Id="R7cf513ba941c4a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c0b5b6bd6144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eb65a883774e46" /><Relationship Type="http://schemas.openxmlformats.org/officeDocument/2006/relationships/notesMaster" Target="/ppt/notesMasters/notesMaster1.xml" Id="R28f0c068feb94d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a263bea0ca4488" /><Relationship Type="http://schemas.openxmlformats.org/officeDocument/2006/relationships/notesMaster" Target="/ppt/notesMasters/notesMaster1.xml" Id="R11a1037797c943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dabd1d1ef34632" /><Relationship Type="http://schemas.openxmlformats.org/officeDocument/2006/relationships/notesMaster" Target="/ppt/notesMasters/notesMaster1.xml" Id="R4afaf0b8f1e446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1cb618e3734297" /><Relationship Type="http://schemas.openxmlformats.org/officeDocument/2006/relationships/notesMaster" Target="/ppt/notesMasters/notesMaster1.xml" Id="R3a6cda1029cf4d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f1d7f299cb4130" /><Relationship Type="http://schemas.openxmlformats.org/officeDocument/2006/relationships/notesMaster" Target="/ppt/notesMasters/notesMaster1.xml" Id="R958cf4b06e174f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66659fd4b84361" /><Relationship Type="http://schemas.openxmlformats.org/officeDocument/2006/relationships/notesMaster" Target="/ppt/notesMasters/notesMaster1.xml" Id="R26ef0051ca494e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69ca9808564a54" /><Relationship Type="http://schemas.openxmlformats.org/officeDocument/2006/relationships/notesMaster" Target="/ppt/notesMasters/notesMaster1.xml" Id="Rcd53097973434d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저는 신한 딜리버리 프로젝트의 실제 배송 매칭 흐름을 통해 REST API가 어떻게 설계되고 동작하는지 설명하겠습니다. 발표의 중심은 REST API이며, 화면이 API를 호출할 때 사용하는 fetch와 향후 확장 개념인 HATEOAS도 짧게 연결하겠습니다.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REST는 HTTP 위에서 자원을 URL로 표현하고, 그 자원에 할 행동을 HTTP 메서드로 구분하는 아키텍처 스타일입니다. 저희 프로젝트에서는 배송 요청을 복수형 명사인 delivery-requests로 표현합니다. 예를 들어 GET은 조회, POST는 생성, PATCH는 일부 상태 변경에 사용하며 처리 결과는 의미에 맞는 HTTP 상태 코드로 반환합니다.</a:t>
            </a:r>
          </a:p>
          <a:p xmlns:a="http://schemas.openxmlformats.org/drawingml/2006/main">
            <a:r>
              <a:t/>
            </a:r>
          </a:p>
          <a:p xmlns:a="http://schemas.openxmlformats.org/drawingml/2006/main">
            <a:r>
              <a:t>[Sources]</a:t>
            </a:r>
          </a:p>
          <a:p xmlns:a="http://schemas.openxmlformats.org/drawingml/2006/main">
            <a:r>
              <a:t>- docs/architecture/REST-API-설계-규격-가이드.md</a:t>
            </a:r>
          </a:p>
          <a:p xmlns:a="http://schemas.openxmlformats.org/drawingml/2006/main">
            <a:r>
              <a:t>- src/main/java/com/example/shinhandelivery/delivery/controller/DeliveryController.java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매칭 대기 화면에 접속하면 일반 Controller가 matching-wait HTML을 반환합니다. 화면이 열린 뒤 최신 배송 데이터가 필요하면 RestController의 API를 호출합니다. REST Controller는 요청과 응답을 담당하고, 실제 비즈니스 로직은 Service, DB 접근은 Repository가 맡습니다. 이렇게 Controller에서 Entity를 직접 반환하지 않는 단방향 구조를 유지했습니다.</a:t>
            </a:r>
          </a:p>
          <a:p xmlns:a="http://schemas.openxmlformats.org/drawingml/2006/main">
            <a:r>
              <a:t/>
            </a:r>
          </a:p>
          <a:p xmlns:a="http://schemas.openxmlformats.org/drawingml/2006/main">
            <a:r>
              <a:t>[Sources]</a:t>
            </a:r>
          </a:p>
          <a:p xmlns:a="http://schemas.openxmlformats.org/drawingml/2006/main">
            <a:r>
              <a:t>- src/main/java/com/example/shinhandelivery/delivery/controller/DeliveryWebController.java:45</a:t>
            </a:r>
          </a:p>
          <a:p xmlns:a="http://schemas.openxmlformats.org/drawingml/2006/main">
            <a:r>
              <a:t>- src/main/java/com/example/shinhandelivery/delivery/controller/DeliveryController.java:59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배송 상세 GET 요청은 단순 DB 조회로 끝나지 않습니다. JWT로 인증하고, 호출자가 고객 본인이나 배정된 배송원인지 확인한 다음 배송, 매칭, 차량 정보를 조합합니다. 그리고 Entity를 그대로 노출하지 않고 DeliveryDetailResponse DTO로 변환해 JSON을 반환합니다. DTO를 사용하면 DB 구조와 외부 API 계약을 분리하고 필요한 정보만 안전하게 제공할 수 있습니다.</a:t>
            </a:r>
          </a:p>
          <a:p xmlns:a="http://schemas.openxmlformats.org/drawingml/2006/main">
            <a:r>
              <a:t/>
            </a:r>
          </a:p>
          <a:p xmlns:a="http://schemas.openxmlformats.org/drawingml/2006/main">
            <a:r>
              <a:t>[Sources]</a:t>
            </a:r>
          </a:p>
          <a:p xmlns:a="http://schemas.openxmlformats.org/drawingml/2006/main">
            <a:r>
              <a:t>- src/main/java/com/example/shinhandelivery/delivery/controller/DeliveryController.java:102</a:t>
            </a:r>
          </a:p>
          <a:p xmlns:a="http://schemas.openxmlformats.org/drawingml/2006/main">
            <a:r>
              <a:t>- src/main/java/com/example/shinhandelivery/delivery/service/DeliveryService.java:155</a:t>
            </a:r>
          </a:p>
          <a:p xmlns:a="http://schemas.openxmlformats.org/drawingml/2006/main">
            <a:r>
              <a:t>- src/main/java/com/example/shinhandelivery/delivery/dto/response/DeliveryDetailResponse.java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REST API를 실제 화면에서 호출하는 도구가 fetch입니다. 매칭 대기 화면은 5초마다 배송 상세 GET API를 호출하고 JWT를 Authorization 헤더에 전달합니다. JSON의 상태가 MATCHED로 바뀌면 폴링을 중단하고 매칭 완료 화면으로 이동합니다. 여기서 fetch 자체가 REST인 것은 아니고, 브라우저가 REST API를 사용하는 호출 수단입니다.</a:t>
            </a:r>
          </a:p>
          <a:p xmlns:a="http://schemas.openxmlformats.org/drawingml/2006/main">
            <a:r>
              <a:t/>
            </a:r>
          </a:p>
          <a:p xmlns:a="http://schemas.openxmlformats.org/drawingml/2006/main">
            <a:r>
              <a:t>[Sources]</a:t>
            </a:r>
          </a:p>
          <a:p xmlns:a="http://schemas.openxmlformats.org/drawingml/2006/main">
            <a:r>
              <a:t>- src/main/resources/templates/matching-wait.html:218-342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취소에서는 REST API의 메서드 의미가 더 분명하게 드러납니다. GET preview는 서버 상태를 바꾸지 않고 예상 금액만 조회합니다. 사용자가 동의하면 POST cancel이 실제 취소와 환불, 배송원 보상을 수행합니다. 이 작업은 하나의 트랜잭션으로 묶고 DB 행을 잠가 동시 변경을 막습니다. 이미 취소된 요청에는 기존 결과를 반환해 이중 환불도 방지합니다. 허용되지 않는 상태 전이는 409 Conflict와 공통 ErrorResponse로 변환됩니다.</a:t>
            </a:r>
          </a:p>
          <a:p xmlns:a="http://schemas.openxmlformats.org/drawingml/2006/main">
            <a:r>
              <a:t/>
            </a:r>
          </a:p>
          <a:p xmlns:a="http://schemas.openxmlformats.org/drawingml/2006/main">
            <a:r>
              <a:t>[Sources]</a:t>
            </a:r>
          </a:p>
          <a:p xmlns:a="http://schemas.openxmlformats.org/drawingml/2006/main">
            <a:r>
              <a:t>- src/main/java/com/example/shinhandelivery/delivery/controller/DeliveryController.java:191-207</a:t>
            </a:r>
          </a:p>
          <a:p xmlns:a="http://schemas.openxmlformats.org/drawingml/2006/main">
            <a:r>
              <a:t>- src/main/java/com/example/shinhandelivery/delivery/service/DeliveryCancellationService.java</a:t>
            </a:r>
          </a:p>
          <a:p xmlns:a="http://schemas.openxmlformats.org/drawingml/2006/main">
            <a:r>
              <a:t>- src/main/java/com/example/shinhandelivery/common/exception/GlobalExceptionHandler.java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마지막으로 HATEOAS는 서버가 현재 상태에서 가능한 다음 행동을 링크로 제공하는 REST 제약 조건입니다. 현재 프로젝트는 프론트와 백엔드가 같은 저장소에 있고 API 경로도 단순하기 때문에 URL을 직접 구성하는 방식을 택했습니다. 그래서 HATEOAS는 현재 구현이 아니라 향후 모바일 앱이나 외부 클라이언트가 늘어날 때 고려할 확장 선택지입니다. 정리하면 REST API가 통신 계약을 만들고, fetch가 그 계약을 사용하며, HATEOAS는 서버가 다음 행동까지 안내하도록 계약을 확장합니다. 감사합니다.</a:t>
            </a:r>
          </a:p>
          <a:p xmlns:a="http://schemas.openxmlformats.org/drawingml/2006/main">
            <a:r>
              <a:t/>
            </a:r>
          </a:p>
          <a:p xmlns:a="http://schemas.openxmlformats.org/drawingml/2006/main">
            <a:r>
              <a:t>[Sources]</a:t>
            </a:r>
          </a:p>
          <a:p xmlns:a="http://schemas.openxmlformats.org/drawingml/2006/main">
            <a:r>
              <a:t>- build.gradle:24-51</a:t>
            </a:r>
          </a:p>
          <a:p xmlns:a="http://schemas.openxmlformats.org/drawingml/2006/main">
            <a:r>
              <a:t>- src/main/resources/templates/matching-wait.html:259-318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6b91240ff04c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4d66dc731d4643" /><Relationship Type="http://schemas.openxmlformats.org/officeDocument/2006/relationships/slideLayout" Target="/ppt/slideLayouts/slideLayout1.xml" Id="R30cb33e5781342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cb33e5781342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efa71e88ce499d" /><Relationship Type="http://schemas.openxmlformats.org/officeDocument/2006/relationships/notesSlide" Target="/ppt/notesSlides/notesSlide1.xml" Id="R435acf17b8f24e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9e410729e143c9" /><Relationship Type="http://schemas.openxmlformats.org/officeDocument/2006/relationships/notesSlide" Target="/ppt/notesSlides/notesSlide2.xml" Id="R38f89c7a446c43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c7d90efb5f428f" /><Relationship Type="http://schemas.openxmlformats.org/officeDocument/2006/relationships/notesSlide" Target="/ppt/notesSlides/notesSlide3.xml" Id="R32cc12839f3f4a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51d0a5dbed4484" /><Relationship Type="http://schemas.openxmlformats.org/officeDocument/2006/relationships/notesSlide" Target="/ppt/notesSlides/notesSlide4.xml" Id="Rdb45d534167745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437d95d6f841b3" /><Relationship Type="http://schemas.openxmlformats.org/officeDocument/2006/relationships/notesSlide" Target="/ppt/notesSlides/notesSlide5.xml" Id="R6872681c0a194d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4f68e8c1ac485e" /><Relationship Type="http://schemas.openxmlformats.org/officeDocument/2006/relationships/notesSlide" Target="/ppt/notesSlides/notesSlide6.xml" Id="R3c79c26ff0ae43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951079007142e7" /><Relationship Type="http://schemas.openxmlformats.org/officeDocument/2006/relationships/notesSlide" Target="/ppt/notesSlides/notesSlide7.xml" Id="R3ebf7587137d462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3F2D1A-8810-4FB7-86CC-6CBD08A313C3}"/>
              </a:ext>
            </a:extLst>
          </p:cNvPr>
          <p:cNvSpPr>
            <a:spLocks xmlns:a="http://schemas.openxmlformats.org/drawingml/2006/main" noGrp="1"/>
          </p:cNvSpPr>
          <p:nvPr/>
        </p:nvSpPr>
        <p:spPr>
          <a:xfrm xmlns:a="http://schemas.openxmlformats.org/drawingml/2006/main">
            <a:off x="628650" y="4762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SHINHAN DELIVERY</a:t>
            </a:r>
          </a:p>
        </p:txBody>
      </p:sp>
      <p:sp>
        <p:nvSpPr>
          <p:cNvPr id="2" name="">
            <a:extLst xmlns:a="http://schemas.openxmlformats.org/drawingml/2006/main">
              <a:ext uri="{FF2B5EF4-FFF2-40B4-BE49-F238E27FC236}">
                <a16:creationId xmlns:a16="http://schemas.microsoft.com/office/drawing/2014/main" id="{94516F7B-C095-4959-9592-E543BD0AB962}"/>
              </a:ext>
            </a:extLst>
          </p:cNvPr>
          <p:cNvSpPr>
            <a:spLocks xmlns:a="http://schemas.openxmlformats.org/drawingml/2006/main" noGrp="1"/>
          </p:cNvSpPr>
          <p:nvPr/>
        </p:nvSpPr>
        <p:spPr>
          <a:xfrm xmlns:a="http://schemas.openxmlformats.org/drawingml/2006/main">
            <a:off x="628650" y="1714500"/>
            <a:ext cx="695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a:solidFill>
                  <a:srgbClr val="111111"/>
                </a:solidFill>
              </a:defRPr>
            </a:pPr>
            <a:r>
              <a:rPr sz="4350" b="1">
                <a:solidFill>
                  <a:srgbClr val="111111"/>
                </a:solidFill>
              </a:rPr>
              <a:t>배송 매칭 흐름으로</a:t>
            </a:r>
          </a:p>
          <a:p xmlns:a="http://schemas.openxmlformats.org/drawingml/2006/main">
            <a:pPr algn="l">
              <a:defRPr sz="4350" b="1">
                <a:solidFill>
                  <a:srgbClr val="111111"/>
                </a:solidFill>
              </a:defRPr>
            </a:pPr>
            <a:r>
              <a:rPr sz="4350" b="1">
                <a:solidFill>
                  <a:srgbClr val="111111"/>
                </a:solidFill>
              </a:rPr>
              <a:t>이해하는 REST API</a:t>
            </a:r>
          </a:p>
        </p:txBody>
      </p:sp>
      <p:sp>
        <p:nvSpPr>
          <p:cNvPr id="3" name="">
            <a:extLst xmlns:a="http://schemas.openxmlformats.org/drawingml/2006/main">
              <a:ext uri="{FF2B5EF4-FFF2-40B4-BE49-F238E27FC236}">
                <a16:creationId xmlns:a16="http://schemas.microsoft.com/office/drawing/2014/main" id="{3712F7BD-A66F-4E39-8F3C-498EB3EF3E1A}"/>
              </a:ext>
            </a:extLst>
          </p:cNvPr>
          <p:cNvSpPr>
            <a:spLocks xmlns:a="http://schemas.openxmlformats.org/drawingml/2006/main" noGrp="1"/>
          </p:cNvSpPr>
          <p:nvPr/>
        </p:nvSpPr>
        <p:spPr>
          <a:xfrm xmlns:a="http://schemas.openxmlformats.org/drawingml/2006/main">
            <a:off x="666750" y="371475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60656F"/>
                </a:solidFill>
              </a:defRPr>
            </a:pPr>
            <a:r>
              <a:rPr sz="1800" b="0">
                <a:solidFill>
                  <a:srgbClr val="60656F"/>
                </a:solidFill>
              </a:rPr>
              <a:t>실제 Spring Boot 코드 · fetch 호출 · HATEOAS 확장</a:t>
            </a:r>
          </a:p>
        </p:txBody>
      </p:sp>
      <p:sp>
        <p:nvSpPr>
          <p:cNvPr id="4" name="">
            <a:extLst xmlns:a="http://schemas.openxmlformats.org/drawingml/2006/main">
              <a:ext uri="{FF2B5EF4-FFF2-40B4-BE49-F238E27FC236}">
                <a16:creationId xmlns:a16="http://schemas.microsoft.com/office/drawing/2014/main" id="{C4DD0610-B275-4EE4-88B6-AEA63A9EA7D8}"/>
              </a:ext>
            </a:extLst>
          </p:cNvPr>
          <p:cNvSpPr>
            <a:spLocks xmlns:a="http://schemas.openxmlformats.org/drawingml/2006/main" noGrp="1"/>
          </p:cNvSpPr>
          <p:nvPr/>
        </p:nvSpPr>
        <p:spPr>
          <a:xfrm xmlns:a="http://schemas.openxmlformats.org/drawingml/2006/main">
            <a:off x="8572500" y="1000125"/>
            <a:ext cx="2381250" cy="4524375"/>
          </a:xfrm>
          <a:prstGeom xmlns:a="http://schemas.openxmlformats.org/drawingml/2006/main" prst="rect">
            <a:avLst/>
          </a:prstGeom>
          <a:solidFill xmlns:a="http://schemas.openxmlformats.org/drawingml/2006/main">
            <a:srgbClr val="DDF3F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48FF643-80F4-41F0-8A88-C987BBE84621}"/>
              </a:ext>
            </a:extLst>
          </p:cNvPr>
          <p:cNvSpPr>
            <a:spLocks xmlns:a="http://schemas.openxmlformats.org/drawingml/2006/main" noGrp="1"/>
          </p:cNvSpPr>
          <p:nvPr/>
        </p:nvSpPr>
        <p:spPr>
          <a:xfrm xmlns:a="http://schemas.openxmlformats.org/drawingml/2006/main">
            <a:off x="8858250" y="1619250"/>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132238"/>
                </a:solidFill>
              </a:defRPr>
            </a:pPr>
            <a:r>
              <a:rPr sz="3150" b="1">
                <a:solidFill>
                  <a:srgbClr val="132238"/>
                </a:solidFill>
              </a:rPr>
              <a:t>GET</a:t>
            </a:r>
          </a:p>
        </p:txBody>
      </p:sp>
      <p:sp>
        <p:nvSpPr>
          <p:cNvPr id="6" name="">
            <a:extLst xmlns:a="http://schemas.openxmlformats.org/drawingml/2006/main">
              <a:ext uri="{FF2B5EF4-FFF2-40B4-BE49-F238E27FC236}">
                <a16:creationId xmlns:a16="http://schemas.microsoft.com/office/drawing/2014/main" id="{245D1BDE-7238-4C7B-8C52-2EAD2842A793}"/>
              </a:ext>
            </a:extLst>
          </p:cNvPr>
          <p:cNvSpPr>
            <a:spLocks xmlns:a="http://schemas.openxmlformats.org/drawingml/2006/main" noGrp="1"/>
          </p:cNvSpPr>
          <p:nvPr/>
        </p:nvSpPr>
        <p:spPr>
          <a:xfrm xmlns:a="http://schemas.openxmlformats.org/drawingml/2006/main">
            <a:off x="8858250" y="2333625"/>
            <a:ext cx="180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0">
                <a:solidFill>
                  <a:srgbClr val="3D8DFF"/>
                </a:solidFill>
              </a:defRPr>
            </a:pPr>
            <a:r>
              <a:rPr sz="2550" b="0">
                <a:solidFill>
                  <a:srgbClr val="3D8DFF"/>
                </a:solidFill>
              </a:rPr>
              <a:t>↓</a:t>
            </a:r>
          </a:p>
        </p:txBody>
      </p:sp>
      <p:sp>
        <p:nvSpPr>
          <p:cNvPr id="7" name="">
            <a:extLst xmlns:a="http://schemas.openxmlformats.org/drawingml/2006/main">
              <a:ext uri="{FF2B5EF4-FFF2-40B4-BE49-F238E27FC236}">
                <a16:creationId xmlns:a16="http://schemas.microsoft.com/office/drawing/2014/main" id="{5969ADCA-0147-4B46-9216-74C5A10A420F}"/>
              </a:ext>
            </a:extLst>
          </p:cNvPr>
          <p:cNvSpPr>
            <a:spLocks xmlns:a="http://schemas.openxmlformats.org/drawingml/2006/main" noGrp="1"/>
          </p:cNvSpPr>
          <p:nvPr/>
        </p:nvSpPr>
        <p:spPr>
          <a:xfrm xmlns:a="http://schemas.openxmlformats.org/drawingml/2006/main">
            <a:off x="8858250" y="2952750"/>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132238"/>
                </a:solidFill>
              </a:defRPr>
            </a:pPr>
            <a:r>
              <a:rPr sz="3150" b="1">
                <a:solidFill>
                  <a:srgbClr val="132238"/>
                </a:solidFill>
              </a:rPr>
              <a:t>JSON</a:t>
            </a:r>
          </a:p>
        </p:txBody>
      </p:sp>
      <p:sp>
        <p:nvSpPr>
          <p:cNvPr id="8" name="">
            <a:extLst xmlns:a="http://schemas.openxmlformats.org/drawingml/2006/main">
              <a:ext uri="{FF2B5EF4-FFF2-40B4-BE49-F238E27FC236}">
                <a16:creationId xmlns:a16="http://schemas.microsoft.com/office/drawing/2014/main" id="{43C83025-634A-487F-9D4E-B28F5AA34A6E}"/>
              </a:ext>
            </a:extLst>
          </p:cNvPr>
          <p:cNvSpPr>
            <a:spLocks xmlns:a="http://schemas.openxmlformats.org/drawingml/2006/main" noGrp="1"/>
          </p:cNvSpPr>
          <p:nvPr/>
        </p:nvSpPr>
        <p:spPr>
          <a:xfrm xmlns:a="http://schemas.openxmlformats.org/drawingml/2006/main">
            <a:off x="8858250" y="3667125"/>
            <a:ext cx="180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0">
                <a:solidFill>
                  <a:srgbClr val="3D8DFF"/>
                </a:solidFill>
              </a:defRPr>
            </a:pPr>
            <a:r>
              <a:rPr sz="2550" b="0">
                <a:solidFill>
                  <a:srgbClr val="3D8DFF"/>
                </a:solidFill>
              </a:rPr>
              <a:t>↓</a:t>
            </a:r>
          </a:p>
        </p:txBody>
      </p:sp>
      <p:sp>
        <p:nvSpPr>
          <p:cNvPr id="9" name="">
            <a:extLst xmlns:a="http://schemas.openxmlformats.org/drawingml/2006/main">
              <a:ext uri="{FF2B5EF4-FFF2-40B4-BE49-F238E27FC236}">
                <a16:creationId xmlns:a16="http://schemas.microsoft.com/office/drawing/2014/main" id="{AF9D60DE-D692-4128-BE54-4FEBA979CCB9}"/>
              </a:ext>
            </a:extLst>
          </p:cNvPr>
          <p:cNvSpPr>
            <a:spLocks xmlns:a="http://schemas.openxmlformats.org/drawingml/2006/main" noGrp="1"/>
          </p:cNvSpPr>
          <p:nvPr/>
        </p:nvSpPr>
        <p:spPr>
          <a:xfrm xmlns:a="http://schemas.openxmlformats.org/drawingml/2006/main">
            <a:off x="8858250" y="434340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32238"/>
                </a:solidFill>
              </a:defRPr>
            </a:pPr>
            <a:r>
              <a:rPr sz="1950" b="1">
                <a:solidFill>
                  <a:srgbClr val="132238"/>
                </a:solidFill>
              </a:rPr>
              <a:t>화면 갱신</a:t>
            </a:r>
          </a:p>
        </p:txBody>
      </p:sp>
      <p:sp>
        <p:nvSpPr>
          <p:cNvPr id="10" name="">
            <a:extLst xmlns:a="http://schemas.openxmlformats.org/drawingml/2006/main">
              <a:ext uri="{FF2B5EF4-FFF2-40B4-BE49-F238E27FC236}">
                <a16:creationId xmlns:a16="http://schemas.microsoft.com/office/drawing/2014/main" id="{01E49806-F25C-42AC-998A-8D6CED4AC12A}"/>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0656F"/>
                </a:solidFill>
              </a:defRPr>
            </a:pPr>
            <a:r>
              <a:rPr sz="900" b="0">
                <a:solidFill>
                  <a:srgbClr val="60656F"/>
                </a:solidFill>
              </a:rPr>
              <a:t>5분 발표</a:t>
            </a:r>
          </a:p>
        </p:txBody>
      </p:sp>
    </p:spTree>
    <p:extLst>
      <p:ext uri="{BB962C8B-B14F-4D97-AF65-F5344CB8AC3E}">
        <p14:creationId xmlns:p14="http://schemas.microsoft.com/office/powerpoint/2010/main" val="21238843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E62BA86-3546-4121-B0B4-2ECDD6FC806F}"/>
              </a:ext>
            </a:extLst>
          </p:cNvPr>
          <p:cNvSpPr>
            <a:spLocks xmlns:a="http://schemas.openxmlformats.org/drawingml/2006/main" noGrp="1"/>
          </p:cNvSpPr>
          <p:nvPr/>
        </p:nvSpPr>
        <p:spPr>
          <a:xfrm xmlns:a="http://schemas.openxmlformats.org/drawingml/2006/main">
            <a:off x="60960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7455E97F-960A-493E-B028-CEB7DCEFAA72}"/>
              </a:ext>
            </a:extLst>
          </p:cNvPr>
          <p:cNvSpPr>
            <a:spLocks xmlns:a="http://schemas.openxmlformats.org/drawingml/2006/main" noGrp="1"/>
          </p:cNvSpPr>
          <p:nvPr/>
        </p:nvSpPr>
        <p:spPr>
          <a:xfrm xmlns:a="http://schemas.openxmlformats.org/drawingml/2006/main">
            <a:off x="609600" y="7143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defRPr>
            </a:pPr>
            <a:r>
              <a:rPr sz="2850" b="1">
                <a:solidFill>
                  <a:srgbClr val="111111"/>
                </a:solidFill>
              </a:rPr>
              <a:t>REST는 자원·행위·표현을 HTTP로 연결한다</a:t>
            </a:r>
          </a:p>
        </p:txBody>
      </p:sp>
      <p:sp>
        <p:nvSpPr>
          <p:cNvPr id="3" name="">
            <a:extLst xmlns:a="http://schemas.openxmlformats.org/drawingml/2006/main">
              <a:ext uri="{FF2B5EF4-FFF2-40B4-BE49-F238E27FC236}">
                <a16:creationId xmlns:a16="http://schemas.microsoft.com/office/drawing/2014/main" id="{8FF8C392-EE16-44D1-BEB5-7087E25EAF30}"/>
              </a:ext>
            </a:extLst>
          </p:cNvPr>
          <p:cNvSpPr>
            <a:spLocks xmlns:a="http://schemas.openxmlformats.org/drawingml/2006/main" noGrp="1"/>
          </p:cNvSpPr>
          <p:nvPr/>
        </p:nvSpPr>
        <p:spPr>
          <a:xfrm xmlns:a="http://schemas.openxmlformats.org/drawingml/2006/main">
            <a:off x="11353800" y="4000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60656F"/>
                </a:solidFill>
              </a:defRPr>
            </a:pPr>
            <a:r>
              <a:rPr sz="975" b="1">
                <a:solidFill>
                  <a:srgbClr val="60656F"/>
                </a:solidFill>
              </a:rPr>
              <a:t>02</a:t>
            </a:r>
          </a:p>
        </p:txBody>
      </p:sp>
      <p:sp>
        <p:nvSpPr>
          <p:cNvPr id="4" name="">
            <a:extLst xmlns:a="http://schemas.openxmlformats.org/drawingml/2006/main">
              <a:ext uri="{FF2B5EF4-FFF2-40B4-BE49-F238E27FC236}">
                <a16:creationId xmlns:a16="http://schemas.microsoft.com/office/drawing/2014/main" id="{28A1504B-0FBA-4073-B84C-D56323B6A9BD}"/>
              </a:ext>
            </a:extLst>
          </p:cNvPr>
          <p:cNvSpPr>
            <a:spLocks xmlns:a="http://schemas.openxmlformats.org/drawingml/2006/main" noGrp="1"/>
          </p:cNvSpPr>
          <p:nvPr/>
        </p:nvSpPr>
        <p:spPr>
          <a:xfrm xmlns:a="http://schemas.openxmlformats.org/drawingml/2006/main">
            <a:off x="609600" y="1400175"/>
            <a:ext cx="109728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162ADD7-181D-4FEA-BE97-1B990C9AE479}"/>
              </a:ext>
            </a:extLst>
          </p:cNvPr>
          <p:cNvSpPr>
            <a:spLocks xmlns:a="http://schemas.openxmlformats.org/drawingml/2006/main" noGrp="1"/>
          </p:cNvSpPr>
          <p:nvPr/>
        </p:nvSpPr>
        <p:spPr>
          <a:xfrm xmlns:a="http://schemas.openxmlformats.org/drawingml/2006/main">
            <a:off x="723900" y="1809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defRPr>
            </a:pPr>
            <a:r>
              <a:rPr sz="1125" b="1">
                <a:solidFill>
                  <a:srgbClr val="3D8DFF"/>
                </a:solidFill>
              </a:rPr>
              <a:t>RESOURCE</a:t>
            </a:r>
          </a:p>
        </p:txBody>
      </p:sp>
      <p:sp>
        <p:nvSpPr>
          <p:cNvPr id="6" name="">
            <a:extLst xmlns:a="http://schemas.openxmlformats.org/drawingml/2006/main">
              <a:ext uri="{FF2B5EF4-FFF2-40B4-BE49-F238E27FC236}">
                <a16:creationId xmlns:a16="http://schemas.microsoft.com/office/drawing/2014/main" id="{D68335B2-555E-4881-B0F2-1337FA78B7CE}"/>
              </a:ext>
            </a:extLst>
          </p:cNvPr>
          <p:cNvSpPr>
            <a:spLocks xmlns:a="http://schemas.openxmlformats.org/drawingml/2006/main" noGrp="1"/>
          </p:cNvSpPr>
          <p:nvPr/>
        </p:nvSpPr>
        <p:spPr>
          <a:xfrm xmlns:a="http://schemas.openxmlformats.org/drawingml/2006/main">
            <a:off x="723900" y="2190750"/>
            <a:ext cx="500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11111"/>
                </a:solidFill>
              </a:defRPr>
            </a:pPr>
            <a:r>
              <a:rPr sz="1875" b="1">
                <a:solidFill>
                  <a:srgbClr val="111111"/>
                </a:solidFill>
              </a:rPr>
              <a:t>/api/v1/delivery-requests/123</a:t>
            </a:r>
          </a:p>
        </p:txBody>
      </p:sp>
      <p:sp>
        <p:nvSpPr>
          <p:cNvPr id="7" name="">
            <a:extLst xmlns:a="http://schemas.openxmlformats.org/drawingml/2006/main">
              <a:ext uri="{FF2B5EF4-FFF2-40B4-BE49-F238E27FC236}">
                <a16:creationId xmlns:a16="http://schemas.microsoft.com/office/drawing/2014/main" id="{AF37D120-7498-433C-A8F3-B53DFE84EDD5}"/>
              </a:ext>
            </a:extLst>
          </p:cNvPr>
          <p:cNvSpPr>
            <a:spLocks xmlns:a="http://schemas.openxmlformats.org/drawingml/2006/main" noGrp="1"/>
          </p:cNvSpPr>
          <p:nvPr/>
        </p:nvSpPr>
        <p:spPr>
          <a:xfrm xmlns:a="http://schemas.openxmlformats.org/drawingml/2006/main">
            <a:off x="723900" y="276225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0656F"/>
                </a:solidFill>
              </a:defRPr>
            </a:pPr>
            <a:r>
              <a:rPr sz="1350" b="0">
                <a:solidFill>
                  <a:srgbClr val="60656F"/>
                </a:solidFill>
              </a:rPr>
              <a:t>배송 요청 123번이라는 자원</a:t>
            </a:r>
          </a:p>
        </p:txBody>
      </p:sp>
      <p:sp>
        <p:nvSpPr>
          <p:cNvPr id="8" name="">
            <a:extLst xmlns:a="http://schemas.openxmlformats.org/drawingml/2006/main">
              <a:ext uri="{FF2B5EF4-FFF2-40B4-BE49-F238E27FC236}">
                <a16:creationId xmlns:a16="http://schemas.microsoft.com/office/drawing/2014/main" id="{43293E5F-08BA-4B1C-B4B6-4EB3A72185F6}"/>
              </a:ext>
            </a:extLst>
          </p:cNvPr>
          <p:cNvSpPr>
            <a:spLocks xmlns:a="http://schemas.openxmlformats.org/drawingml/2006/main" noGrp="1"/>
          </p:cNvSpPr>
          <p:nvPr/>
        </p:nvSpPr>
        <p:spPr>
          <a:xfrm xmlns:a="http://schemas.openxmlformats.org/drawingml/2006/main">
            <a:off x="5981700" y="1714500"/>
            <a:ext cx="19050" cy="3714750"/>
          </a:xfrm>
          <a:prstGeom xmlns:a="http://schemas.openxmlformats.org/drawingml/2006/main" prst="rect">
            <a:avLst/>
          </a:prstGeom>
          <a:solidFill xmlns:a="http://schemas.openxmlformats.org/drawingml/2006/main">
            <a:srgbClr val="BCC2C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30B9006-7BB3-43D2-B3C8-DD3A6FDE1534}"/>
              </a:ext>
            </a:extLst>
          </p:cNvPr>
          <p:cNvSpPr>
            <a:spLocks xmlns:a="http://schemas.openxmlformats.org/drawingml/2006/main" noGrp="1"/>
          </p:cNvSpPr>
          <p:nvPr/>
        </p:nvSpPr>
        <p:spPr>
          <a:xfrm xmlns:a="http://schemas.openxmlformats.org/drawingml/2006/main">
            <a:off x="6381750" y="1752600"/>
            <a:ext cx="1190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3D8DFF"/>
                </a:solidFill>
              </a:defRPr>
            </a:pPr>
            <a:r>
              <a:rPr sz="1725" b="1">
                <a:solidFill>
                  <a:srgbClr val="3D8DFF"/>
                </a:solidFill>
              </a:rPr>
              <a:t>GET</a:t>
            </a:r>
          </a:p>
        </p:txBody>
      </p:sp>
      <p:sp>
        <p:nvSpPr>
          <p:cNvPr id="10" name="">
            <a:extLst xmlns:a="http://schemas.openxmlformats.org/drawingml/2006/main">
              <a:ext uri="{FF2B5EF4-FFF2-40B4-BE49-F238E27FC236}">
                <a16:creationId xmlns:a16="http://schemas.microsoft.com/office/drawing/2014/main" id="{2CE1CB39-1FA4-4EB1-AF4B-4CFC674ACC7F}"/>
              </a:ext>
            </a:extLst>
          </p:cNvPr>
          <p:cNvSpPr>
            <a:spLocks xmlns:a="http://schemas.openxmlformats.org/drawingml/2006/main" noGrp="1"/>
          </p:cNvSpPr>
          <p:nvPr/>
        </p:nvSpPr>
        <p:spPr>
          <a:xfrm xmlns:a="http://schemas.openxmlformats.org/drawingml/2006/main">
            <a:off x="7715250" y="17621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defRPr>
            </a:pPr>
            <a:r>
              <a:rPr sz="1425" b="0">
                <a:solidFill>
                  <a:srgbClr val="111111"/>
                </a:solidFill>
              </a:rPr>
              <a:t>배송 상태 조회</a:t>
            </a:r>
          </a:p>
        </p:txBody>
      </p:sp>
      <p:sp>
        <p:nvSpPr>
          <p:cNvPr id="11" name="">
            <a:extLst xmlns:a="http://schemas.openxmlformats.org/drawingml/2006/main">
              <a:ext uri="{FF2B5EF4-FFF2-40B4-BE49-F238E27FC236}">
                <a16:creationId xmlns:a16="http://schemas.microsoft.com/office/drawing/2014/main" id="{7947D714-8B8F-4AE2-BA26-3D66FECD40BE}"/>
              </a:ext>
            </a:extLst>
          </p:cNvPr>
          <p:cNvSpPr>
            <a:spLocks xmlns:a="http://schemas.openxmlformats.org/drawingml/2006/main" noGrp="1"/>
          </p:cNvSpPr>
          <p:nvPr/>
        </p:nvSpPr>
        <p:spPr>
          <a:xfrm xmlns:a="http://schemas.openxmlformats.org/drawingml/2006/main">
            <a:off x="10096500" y="17716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0">
                <a:solidFill>
                  <a:srgbClr val="60656F"/>
                </a:solidFill>
              </a:defRPr>
            </a:pPr>
            <a:r>
              <a:rPr sz="1200" b="0">
                <a:solidFill>
                  <a:srgbClr val="60656F"/>
                </a:solidFill>
              </a:rPr>
              <a:t>200 OK</a:t>
            </a:r>
          </a:p>
        </p:txBody>
      </p:sp>
      <p:sp>
        <p:nvSpPr>
          <p:cNvPr id="12" name="">
            <a:extLst xmlns:a="http://schemas.openxmlformats.org/drawingml/2006/main">
              <a:ext uri="{FF2B5EF4-FFF2-40B4-BE49-F238E27FC236}">
                <a16:creationId xmlns:a16="http://schemas.microsoft.com/office/drawing/2014/main" id="{66FD7B53-C35B-4130-8FDC-AAFA793541B8}"/>
              </a:ext>
            </a:extLst>
          </p:cNvPr>
          <p:cNvSpPr>
            <a:spLocks xmlns:a="http://schemas.openxmlformats.org/drawingml/2006/main" noGrp="1"/>
          </p:cNvSpPr>
          <p:nvPr/>
        </p:nvSpPr>
        <p:spPr>
          <a:xfrm xmlns:a="http://schemas.openxmlformats.org/drawingml/2006/main">
            <a:off x="6381750" y="2276475"/>
            <a:ext cx="5143500" cy="9525"/>
          </a:xfrm>
          <a:prstGeom xmlns:a="http://schemas.openxmlformats.org/drawingml/2006/main" prst="rect">
            <a:avLst/>
          </a:prstGeom>
          <a:solidFill xmlns:a="http://schemas.openxmlformats.org/drawingml/2006/main">
            <a:srgbClr val="BCC2C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CDF8323-9435-4163-BE89-24689830E610}"/>
              </a:ext>
            </a:extLst>
          </p:cNvPr>
          <p:cNvSpPr>
            <a:spLocks xmlns:a="http://schemas.openxmlformats.org/drawingml/2006/main" noGrp="1"/>
          </p:cNvSpPr>
          <p:nvPr/>
        </p:nvSpPr>
        <p:spPr>
          <a:xfrm xmlns:a="http://schemas.openxmlformats.org/drawingml/2006/main">
            <a:off x="6381750" y="2628900"/>
            <a:ext cx="1190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111"/>
                </a:solidFill>
              </a:defRPr>
            </a:pPr>
            <a:r>
              <a:rPr sz="1725" b="1">
                <a:solidFill>
                  <a:srgbClr val="111111"/>
                </a:solidFill>
              </a:rPr>
              <a:t>POST</a:t>
            </a:r>
          </a:p>
        </p:txBody>
      </p:sp>
      <p:sp>
        <p:nvSpPr>
          <p:cNvPr id="14" name="">
            <a:extLst xmlns:a="http://schemas.openxmlformats.org/drawingml/2006/main">
              <a:ext uri="{FF2B5EF4-FFF2-40B4-BE49-F238E27FC236}">
                <a16:creationId xmlns:a16="http://schemas.microsoft.com/office/drawing/2014/main" id="{9280AE20-10B7-4B8E-90FB-D73BF66FD86D}"/>
              </a:ext>
            </a:extLst>
          </p:cNvPr>
          <p:cNvSpPr>
            <a:spLocks xmlns:a="http://schemas.openxmlformats.org/drawingml/2006/main" noGrp="1"/>
          </p:cNvSpPr>
          <p:nvPr/>
        </p:nvSpPr>
        <p:spPr>
          <a:xfrm xmlns:a="http://schemas.openxmlformats.org/drawingml/2006/main">
            <a:off x="7715250" y="26384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defRPr>
            </a:pPr>
            <a:r>
              <a:rPr sz="1425" b="0">
                <a:solidFill>
                  <a:srgbClr val="111111"/>
                </a:solidFill>
              </a:rPr>
              <a:t>배송 요청 생성</a:t>
            </a:r>
          </a:p>
        </p:txBody>
      </p:sp>
      <p:sp>
        <p:nvSpPr>
          <p:cNvPr id="15" name="">
            <a:extLst xmlns:a="http://schemas.openxmlformats.org/drawingml/2006/main">
              <a:ext uri="{FF2B5EF4-FFF2-40B4-BE49-F238E27FC236}">
                <a16:creationId xmlns:a16="http://schemas.microsoft.com/office/drawing/2014/main" id="{7EB6E373-55FC-4094-A735-0146FC3F89F8}"/>
              </a:ext>
            </a:extLst>
          </p:cNvPr>
          <p:cNvSpPr>
            <a:spLocks xmlns:a="http://schemas.openxmlformats.org/drawingml/2006/main" noGrp="1"/>
          </p:cNvSpPr>
          <p:nvPr/>
        </p:nvSpPr>
        <p:spPr>
          <a:xfrm xmlns:a="http://schemas.openxmlformats.org/drawingml/2006/main">
            <a:off x="10096500" y="26479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0">
                <a:solidFill>
                  <a:srgbClr val="60656F"/>
                </a:solidFill>
              </a:defRPr>
            </a:pPr>
            <a:r>
              <a:rPr sz="1200" b="0">
                <a:solidFill>
                  <a:srgbClr val="60656F"/>
                </a:solidFill>
              </a:rPr>
              <a:t>201 Created</a:t>
            </a:r>
          </a:p>
        </p:txBody>
      </p:sp>
      <p:sp>
        <p:nvSpPr>
          <p:cNvPr id="16" name="">
            <a:extLst xmlns:a="http://schemas.openxmlformats.org/drawingml/2006/main">
              <a:ext uri="{FF2B5EF4-FFF2-40B4-BE49-F238E27FC236}">
                <a16:creationId xmlns:a16="http://schemas.microsoft.com/office/drawing/2014/main" id="{9FF7EC48-3C19-40AC-906D-4747C20F888A}"/>
              </a:ext>
            </a:extLst>
          </p:cNvPr>
          <p:cNvSpPr>
            <a:spLocks xmlns:a="http://schemas.openxmlformats.org/drawingml/2006/main" noGrp="1"/>
          </p:cNvSpPr>
          <p:nvPr/>
        </p:nvSpPr>
        <p:spPr>
          <a:xfrm xmlns:a="http://schemas.openxmlformats.org/drawingml/2006/main">
            <a:off x="6381750" y="3152775"/>
            <a:ext cx="5143500" cy="9525"/>
          </a:xfrm>
          <a:prstGeom xmlns:a="http://schemas.openxmlformats.org/drawingml/2006/main" prst="rect">
            <a:avLst/>
          </a:prstGeom>
          <a:solidFill xmlns:a="http://schemas.openxmlformats.org/drawingml/2006/main">
            <a:srgbClr val="BCC2C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4145E87-3973-45F0-A9AA-04D30022D592}"/>
              </a:ext>
            </a:extLst>
          </p:cNvPr>
          <p:cNvSpPr>
            <a:spLocks xmlns:a="http://schemas.openxmlformats.org/drawingml/2006/main" noGrp="1"/>
          </p:cNvSpPr>
          <p:nvPr/>
        </p:nvSpPr>
        <p:spPr>
          <a:xfrm xmlns:a="http://schemas.openxmlformats.org/drawingml/2006/main">
            <a:off x="6381750" y="3505200"/>
            <a:ext cx="1190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111"/>
                </a:solidFill>
              </a:defRPr>
            </a:pPr>
            <a:r>
              <a:rPr sz="1725" b="1">
                <a:solidFill>
                  <a:srgbClr val="111111"/>
                </a:solidFill>
              </a:rPr>
              <a:t>PATCH</a:t>
            </a:r>
          </a:p>
        </p:txBody>
      </p:sp>
      <p:sp>
        <p:nvSpPr>
          <p:cNvPr id="18" name="">
            <a:extLst xmlns:a="http://schemas.openxmlformats.org/drawingml/2006/main">
              <a:ext uri="{FF2B5EF4-FFF2-40B4-BE49-F238E27FC236}">
                <a16:creationId xmlns:a16="http://schemas.microsoft.com/office/drawing/2014/main" id="{4B46F55B-FDC4-4DF7-BA86-7A277566C1A5}"/>
              </a:ext>
            </a:extLst>
          </p:cNvPr>
          <p:cNvSpPr>
            <a:spLocks xmlns:a="http://schemas.openxmlformats.org/drawingml/2006/main" noGrp="1"/>
          </p:cNvSpPr>
          <p:nvPr/>
        </p:nvSpPr>
        <p:spPr>
          <a:xfrm xmlns:a="http://schemas.openxmlformats.org/drawingml/2006/main">
            <a:off x="7715250" y="35147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defRPr>
            </a:pPr>
            <a:r>
              <a:rPr sz="1425" b="0">
                <a:solidFill>
                  <a:srgbClr val="111111"/>
                </a:solidFill>
              </a:rPr>
              <a:t>픽업·완료 상태 변경</a:t>
            </a:r>
          </a:p>
        </p:txBody>
      </p:sp>
      <p:sp>
        <p:nvSpPr>
          <p:cNvPr id="19" name="">
            <a:extLst xmlns:a="http://schemas.openxmlformats.org/drawingml/2006/main">
              <a:ext uri="{FF2B5EF4-FFF2-40B4-BE49-F238E27FC236}">
                <a16:creationId xmlns:a16="http://schemas.microsoft.com/office/drawing/2014/main" id="{EAF404C3-1BD1-4C85-827E-0C0BC41555DA}"/>
              </a:ext>
            </a:extLst>
          </p:cNvPr>
          <p:cNvSpPr>
            <a:spLocks xmlns:a="http://schemas.openxmlformats.org/drawingml/2006/main" noGrp="1"/>
          </p:cNvSpPr>
          <p:nvPr/>
        </p:nvSpPr>
        <p:spPr>
          <a:xfrm xmlns:a="http://schemas.openxmlformats.org/drawingml/2006/main">
            <a:off x="10096500" y="35242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0">
                <a:solidFill>
                  <a:srgbClr val="60656F"/>
                </a:solidFill>
              </a:defRPr>
            </a:pPr>
            <a:r>
              <a:rPr sz="1200" b="0">
                <a:solidFill>
                  <a:srgbClr val="60656F"/>
                </a:solidFill>
              </a:rPr>
              <a:t>200 OK</a:t>
            </a:r>
          </a:p>
        </p:txBody>
      </p:sp>
      <p:sp>
        <p:nvSpPr>
          <p:cNvPr id="20" name="">
            <a:extLst xmlns:a="http://schemas.openxmlformats.org/drawingml/2006/main">
              <a:ext uri="{FF2B5EF4-FFF2-40B4-BE49-F238E27FC236}">
                <a16:creationId xmlns:a16="http://schemas.microsoft.com/office/drawing/2014/main" id="{2B02DD86-CE60-4A55-BD9F-290D8E1296C9}"/>
              </a:ext>
            </a:extLst>
          </p:cNvPr>
          <p:cNvSpPr>
            <a:spLocks xmlns:a="http://schemas.openxmlformats.org/drawingml/2006/main" noGrp="1"/>
          </p:cNvSpPr>
          <p:nvPr/>
        </p:nvSpPr>
        <p:spPr>
          <a:xfrm xmlns:a="http://schemas.openxmlformats.org/drawingml/2006/main">
            <a:off x="6381750" y="4029075"/>
            <a:ext cx="5143500" cy="9525"/>
          </a:xfrm>
          <a:prstGeom xmlns:a="http://schemas.openxmlformats.org/drawingml/2006/main" prst="rect">
            <a:avLst/>
          </a:prstGeom>
          <a:solidFill xmlns:a="http://schemas.openxmlformats.org/drawingml/2006/main">
            <a:srgbClr val="BCC2C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66B3798-FDEA-496E-A74E-A2E8182F8283}"/>
              </a:ext>
            </a:extLst>
          </p:cNvPr>
          <p:cNvSpPr>
            <a:spLocks xmlns:a="http://schemas.openxmlformats.org/drawingml/2006/main" noGrp="1"/>
          </p:cNvSpPr>
          <p:nvPr/>
        </p:nvSpPr>
        <p:spPr>
          <a:xfrm xmlns:a="http://schemas.openxmlformats.org/drawingml/2006/main">
            <a:off x="6381750" y="4381500"/>
            <a:ext cx="1190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111"/>
                </a:solidFill>
              </a:defRPr>
            </a:pPr>
            <a:r>
              <a:rPr sz="1725" b="1">
                <a:solidFill>
                  <a:srgbClr val="111111"/>
                </a:solidFill>
              </a:rPr>
              <a:t>DELETE</a:t>
            </a:r>
          </a:p>
        </p:txBody>
      </p:sp>
      <p:sp>
        <p:nvSpPr>
          <p:cNvPr id="22" name="">
            <a:extLst xmlns:a="http://schemas.openxmlformats.org/drawingml/2006/main">
              <a:ext uri="{FF2B5EF4-FFF2-40B4-BE49-F238E27FC236}">
                <a16:creationId xmlns:a16="http://schemas.microsoft.com/office/drawing/2014/main" id="{F94B42F9-D268-43DB-9ED2-0F0CA8B2B0D7}"/>
              </a:ext>
            </a:extLst>
          </p:cNvPr>
          <p:cNvSpPr>
            <a:spLocks xmlns:a="http://schemas.openxmlformats.org/drawingml/2006/main" noGrp="1"/>
          </p:cNvSpPr>
          <p:nvPr/>
        </p:nvSpPr>
        <p:spPr>
          <a:xfrm xmlns:a="http://schemas.openxmlformats.org/drawingml/2006/main">
            <a:off x="7715250" y="43910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defRPr>
            </a:pPr>
            <a:r>
              <a:rPr sz="1425" b="0">
                <a:solidFill>
                  <a:srgbClr val="111111"/>
                </a:solidFill>
              </a:rPr>
              <a:t>기존 호환 취소</a:t>
            </a:r>
          </a:p>
        </p:txBody>
      </p:sp>
      <p:sp>
        <p:nvSpPr>
          <p:cNvPr id="23" name="">
            <a:extLst xmlns:a="http://schemas.openxmlformats.org/drawingml/2006/main">
              <a:ext uri="{FF2B5EF4-FFF2-40B4-BE49-F238E27FC236}">
                <a16:creationId xmlns:a16="http://schemas.microsoft.com/office/drawing/2014/main" id="{8C60B555-E5DC-4186-9254-5EE7280CA3C8}"/>
              </a:ext>
            </a:extLst>
          </p:cNvPr>
          <p:cNvSpPr>
            <a:spLocks xmlns:a="http://schemas.openxmlformats.org/drawingml/2006/main" noGrp="1"/>
          </p:cNvSpPr>
          <p:nvPr/>
        </p:nvSpPr>
        <p:spPr>
          <a:xfrm xmlns:a="http://schemas.openxmlformats.org/drawingml/2006/main">
            <a:off x="10096500" y="44005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0">
                <a:solidFill>
                  <a:srgbClr val="60656F"/>
                </a:solidFill>
              </a:defRPr>
            </a:pPr>
            <a:r>
              <a:rPr sz="1200" b="0">
                <a:solidFill>
                  <a:srgbClr val="60656F"/>
                </a:solidFill>
              </a:rPr>
              <a:t>204 No Content</a:t>
            </a:r>
          </a:p>
        </p:txBody>
      </p:sp>
      <p:sp>
        <p:nvSpPr>
          <p:cNvPr id="24" name="">
            <a:extLst xmlns:a="http://schemas.openxmlformats.org/drawingml/2006/main">
              <a:ext uri="{FF2B5EF4-FFF2-40B4-BE49-F238E27FC236}">
                <a16:creationId xmlns:a16="http://schemas.microsoft.com/office/drawing/2014/main" id="{19258AB9-FE97-4F87-8AE0-923276844301}"/>
              </a:ext>
            </a:extLst>
          </p:cNvPr>
          <p:cNvSpPr>
            <a:spLocks xmlns:a="http://schemas.openxmlformats.org/drawingml/2006/main" noGrp="1"/>
          </p:cNvSpPr>
          <p:nvPr/>
        </p:nvSpPr>
        <p:spPr>
          <a:xfrm xmlns:a="http://schemas.openxmlformats.org/drawingml/2006/main">
            <a:off x="6381750" y="4905375"/>
            <a:ext cx="5143500" cy="9525"/>
          </a:xfrm>
          <a:prstGeom xmlns:a="http://schemas.openxmlformats.org/drawingml/2006/main" prst="rect">
            <a:avLst/>
          </a:prstGeom>
          <a:solidFill xmlns:a="http://schemas.openxmlformats.org/drawingml/2006/main">
            <a:srgbClr val="BCC2C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28B44F5-2928-4BA2-B4F9-A216406F8F16}"/>
              </a:ext>
            </a:extLst>
          </p:cNvPr>
          <p:cNvSpPr>
            <a:spLocks xmlns:a="http://schemas.openxmlformats.org/drawingml/2006/main" noGrp="1"/>
          </p:cNvSpPr>
          <p:nvPr/>
        </p:nvSpPr>
        <p:spPr>
          <a:xfrm xmlns:a="http://schemas.openxmlformats.org/drawingml/2006/main">
            <a:off x="723900" y="55435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11111"/>
                </a:solidFill>
              </a:defRPr>
            </a:pPr>
            <a:r>
              <a:rPr sz="1875" b="1">
                <a:solidFill>
                  <a:srgbClr val="111111"/>
                </a:solidFill>
              </a:rPr>
              <a:t>URL은 ‘무엇’, HTTP 메서드는 ‘무엇을 할지’를 표현한다.</a:t>
            </a:r>
          </a:p>
        </p:txBody>
      </p:sp>
      <p:sp>
        <p:nvSpPr>
          <p:cNvPr id="26" name="">
            <a:extLst xmlns:a="http://schemas.openxmlformats.org/drawingml/2006/main">
              <a:ext uri="{FF2B5EF4-FFF2-40B4-BE49-F238E27FC236}">
                <a16:creationId xmlns:a16="http://schemas.microsoft.com/office/drawing/2014/main" id="{16DFE2A5-0A9B-4130-B763-BAF92DDCFD19}"/>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0656F"/>
                </a:solidFill>
              </a:defRPr>
            </a:pPr>
            <a:r>
              <a:rPr sz="900" b="0">
                <a:solidFill>
                  <a:srgbClr val="60656F"/>
                </a:solidFill>
              </a:rPr>
              <a:t>실제 프로젝트 코드 기반</a:t>
            </a:r>
          </a:p>
        </p:txBody>
      </p:sp>
    </p:spTree>
    <p:extLst>
      <p:ext uri="{BB962C8B-B14F-4D97-AF65-F5344CB8AC3E}">
        <p14:creationId xmlns:p14="http://schemas.microsoft.com/office/powerpoint/2010/main" val="21285480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E374178-AFEC-4570-B961-E95254C9A5EF}"/>
              </a:ext>
            </a:extLst>
          </p:cNvPr>
          <p:cNvSpPr>
            <a:spLocks xmlns:a="http://schemas.openxmlformats.org/drawingml/2006/main" noGrp="1"/>
          </p:cNvSpPr>
          <p:nvPr/>
        </p:nvSpPr>
        <p:spPr>
          <a:xfrm xmlns:a="http://schemas.openxmlformats.org/drawingml/2006/main">
            <a:off x="60960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AB084AD0-8FDF-48EE-8CF4-2B0E5D485A74}"/>
              </a:ext>
            </a:extLst>
          </p:cNvPr>
          <p:cNvSpPr>
            <a:spLocks xmlns:a="http://schemas.openxmlformats.org/drawingml/2006/main" noGrp="1"/>
          </p:cNvSpPr>
          <p:nvPr/>
        </p:nvSpPr>
        <p:spPr>
          <a:xfrm xmlns:a="http://schemas.openxmlformats.org/drawingml/2006/main">
            <a:off x="609600" y="7143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defRPr>
            </a:pPr>
            <a:r>
              <a:rPr sz="2850" b="1">
                <a:solidFill>
                  <a:srgbClr val="111111"/>
                </a:solidFill>
              </a:rPr>
              <a:t>화면 제공과 데이터 제공을 분리했다</a:t>
            </a:r>
          </a:p>
        </p:txBody>
      </p:sp>
      <p:sp>
        <p:nvSpPr>
          <p:cNvPr id="3" name="">
            <a:extLst xmlns:a="http://schemas.openxmlformats.org/drawingml/2006/main">
              <a:ext uri="{FF2B5EF4-FFF2-40B4-BE49-F238E27FC236}">
                <a16:creationId xmlns:a16="http://schemas.microsoft.com/office/drawing/2014/main" id="{4D1ABFCD-BDE1-4E4C-8A7D-831B56762C00}"/>
              </a:ext>
            </a:extLst>
          </p:cNvPr>
          <p:cNvSpPr>
            <a:spLocks xmlns:a="http://schemas.openxmlformats.org/drawingml/2006/main" noGrp="1"/>
          </p:cNvSpPr>
          <p:nvPr/>
        </p:nvSpPr>
        <p:spPr>
          <a:xfrm xmlns:a="http://schemas.openxmlformats.org/drawingml/2006/main">
            <a:off x="11353800" y="4000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60656F"/>
                </a:solidFill>
              </a:defRPr>
            </a:pPr>
            <a:r>
              <a:rPr sz="975" b="1">
                <a:solidFill>
                  <a:srgbClr val="60656F"/>
                </a:solidFill>
              </a:rPr>
              <a:t>03</a:t>
            </a:r>
          </a:p>
        </p:txBody>
      </p:sp>
      <p:sp>
        <p:nvSpPr>
          <p:cNvPr id="4" name="">
            <a:extLst xmlns:a="http://schemas.openxmlformats.org/drawingml/2006/main">
              <a:ext uri="{FF2B5EF4-FFF2-40B4-BE49-F238E27FC236}">
                <a16:creationId xmlns:a16="http://schemas.microsoft.com/office/drawing/2014/main" id="{89BF28C1-56D5-47AE-A650-00DBB0E7E705}"/>
              </a:ext>
            </a:extLst>
          </p:cNvPr>
          <p:cNvSpPr>
            <a:spLocks xmlns:a="http://schemas.openxmlformats.org/drawingml/2006/main" noGrp="1"/>
          </p:cNvSpPr>
          <p:nvPr/>
        </p:nvSpPr>
        <p:spPr>
          <a:xfrm xmlns:a="http://schemas.openxmlformats.org/drawingml/2006/main">
            <a:off x="609600" y="1400175"/>
            <a:ext cx="109728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26DE3C9-47B8-4338-88CF-98976D5ABC7F}"/>
              </a:ext>
            </a:extLst>
          </p:cNvPr>
          <p:cNvSpPr>
            <a:spLocks xmlns:a="http://schemas.openxmlformats.org/drawingml/2006/main" noGrp="1"/>
          </p:cNvSpPr>
          <p:nvPr/>
        </p:nvSpPr>
        <p:spPr>
          <a:xfrm xmlns:a="http://schemas.openxmlformats.org/drawingml/2006/main">
            <a:off x="742950" y="171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111"/>
                </a:solidFill>
              </a:defRPr>
            </a:pPr>
            <a:r>
              <a:rPr sz="1800" b="1">
                <a:solidFill>
                  <a:srgbClr val="111111"/>
                </a:solidFill>
              </a:rPr>
              <a:t>화면 요청</a:t>
            </a:r>
          </a:p>
        </p:txBody>
      </p:sp>
      <p:sp>
        <p:nvSpPr>
          <p:cNvPr id="6" name="">
            <a:extLst xmlns:a="http://schemas.openxmlformats.org/drawingml/2006/main">
              <a:ext uri="{FF2B5EF4-FFF2-40B4-BE49-F238E27FC236}">
                <a16:creationId xmlns:a16="http://schemas.microsoft.com/office/drawing/2014/main" id="{EC016FDE-C4FE-46E3-B5FF-B652CAF6771D}"/>
              </a:ext>
            </a:extLst>
          </p:cNvPr>
          <p:cNvSpPr>
            <a:spLocks xmlns:a="http://schemas.openxmlformats.org/drawingml/2006/main" noGrp="1"/>
          </p:cNvSpPr>
          <p:nvPr/>
        </p:nvSpPr>
        <p:spPr>
          <a:xfrm xmlns:a="http://schemas.openxmlformats.org/drawingml/2006/main">
            <a:off x="685800" y="2143125"/>
            <a:ext cx="4762500" cy="2095500"/>
          </a:xfrm>
          <a:prstGeom xmlns:a="http://schemas.openxmlformats.org/drawingml/2006/main" prst="roundRect">
            <a:avLst>
              <a:gd name="adj" fmla="val 5455"/>
            </a:avLst>
          </a:prstGeom>
          <a:solidFill xmlns:a="http://schemas.openxmlformats.org/drawingml/2006/main">
            <a:srgbClr val="111827"/>
          </a:solidFill>
          <a:ln xmlns:a="http://schemas.openxmlformats.org/drawingml/2006/main" w="9525">
            <a:solidFill>
              <a:srgbClr val="111827"/>
            </a:solidFill>
            <a:prstDash val="solid"/>
          </a:ln>
        </p:spPr>
      </p:sp>
      <p:sp>
        <p:nvSpPr>
          <p:cNvPr id="7" name="">
            <a:extLst xmlns:a="http://schemas.openxmlformats.org/drawingml/2006/main">
              <a:ext uri="{FF2B5EF4-FFF2-40B4-BE49-F238E27FC236}">
                <a16:creationId xmlns:a16="http://schemas.microsoft.com/office/drawing/2014/main" id="{FA897927-9C9A-4EE7-87AD-A33325E6EEE2}"/>
              </a:ext>
            </a:extLst>
          </p:cNvPr>
          <p:cNvSpPr>
            <a:spLocks xmlns:a="http://schemas.openxmlformats.org/drawingml/2006/main" noGrp="1"/>
          </p:cNvSpPr>
          <p:nvPr/>
        </p:nvSpPr>
        <p:spPr>
          <a:xfrm xmlns:a="http://schemas.openxmlformats.org/drawingml/2006/main">
            <a:off x="914400" y="2333625"/>
            <a:ext cx="43053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E5EEF9"/>
                </a:solidFill>
              </a:defRPr>
            </a:pPr>
            <a:r>
              <a:rPr sz="1350" b="0">
                <a:solidFill>
                  <a:srgbClr val="E5EEF9"/>
                </a:solidFill>
              </a:rPr>
              <a:t>@Controller</a:t>
            </a:r>
          </a:p>
          <a:p xmlns:a="http://schemas.openxmlformats.org/drawingml/2006/main">
            <a:pPr algn="l">
              <a:defRPr sz="1350" b="0">
                <a:solidFill>
                  <a:srgbClr val="E5EEF9"/>
                </a:solidFill>
              </a:defRPr>
            </a:pPr>
            <a:r>
              <a:rPr sz="1350" b="0">
                <a:solidFill>
                  <a:srgbClr val="E5EEF9"/>
                </a:solidFill>
              </a:rPr>
              <a:t>@GetMapping("/matching-wait")</a:t>
            </a:r>
          </a:p>
          <a:p xmlns:a="http://schemas.openxmlformats.org/drawingml/2006/main">
            <a:pPr algn="l">
              <a:defRPr sz="1350" b="0">
                <a:solidFill>
                  <a:srgbClr val="E5EEF9"/>
                </a:solidFill>
              </a:defRPr>
            </a:pPr>
            <a:r>
              <a:rPr sz="1350" b="0">
                <a:solidFill>
                  <a:srgbClr val="E5EEF9"/>
                </a:solidFill>
              </a:rPr>
              <a:t>public String matchingWait() {</a:t>
            </a:r>
          </a:p>
          <a:p xmlns:a="http://schemas.openxmlformats.org/drawingml/2006/main">
            <a:pPr algn="l">
              <a:defRPr sz="1350" b="0">
                <a:solidFill>
                  <a:srgbClr val="E5EEF9"/>
                </a:solidFill>
              </a:defRPr>
            </a:pPr>
            <a:r>
              <a:rPr sz="1350" b="0">
                <a:solidFill>
                  <a:srgbClr val="E5EEF9"/>
                </a:solidFill>
              </a:rPr>
              <a:t>  return "matching-wait";</a:t>
            </a:r>
          </a:p>
          <a:p xmlns:a="http://schemas.openxmlformats.org/drawingml/2006/main">
            <a:pPr algn="l">
              <a:defRPr sz="1350" b="0">
                <a:solidFill>
                  <a:srgbClr val="E5EEF9"/>
                </a:solidFill>
              </a:defRPr>
            </a:pPr>
            <a:r>
              <a:rPr sz="1350" b="0">
                <a:solidFill>
                  <a:srgbClr val="E5EEF9"/>
                </a:solidFill>
              </a:rPr>
              <a:t>}</a:t>
            </a:r>
          </a:p>
        </p:txBody>
      </p:sp>
      <p:sp>
        <p:nvSpPr>
          <p:cNvPr id="8" name="">
            <a:extLst xmlns:a="http://schemas.openxmlformats.org/drawingml/2006/main">
              <a:ext uri="{FF2B5EF4-FFF2-40B4-BE49-F238E27FC236}">
                <a16:creationId xmlns:a16="http://schemas.microsoft.com/office/drawing/2014/main" id="{18CB32FC-90D0-4A3E-8B6A-9D557B4F0409}"/>
              </a:ext>
            </a:extLst>
          </p:cNvPr>
          <p:cNvSpPr>
            <a:spLocks xmlns:a="http://schemas.openxmlformats.org/drawingml/2006/main" noGrp="1"/>
          </p:cNvSpPr>
          <p:nvPr/>
        </p:nvSpPr>
        <p:spPr>
          <a:xfrm xmlns:a="http://schemas.openxmlformats.org/drawingml/2006/main">
            <a:off x="2000250" y="4476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6845B"/>
                </a:solidFill>
              </a:defRPr>
            </a:pPr>
            <a:r>
              <a:rPr sz="1650" b="1">
                <a:solidFill>
                  <a:srgbClr val="16845B"/>
                </a:solidFill>
              </a:rPr>
              <a:t>HTML 반환</a:t>
            </a:r>
          </a:p>
        </p:txBody>
      </p:sp>
      <p:sp>
        <p:nvSpPr>
          <p:cNvPr id="9" name="">
            <a:extLst xmlns:a="http://schemas.openxmlformats.org/drawingml/2006/main">
              <a:ext uri="{FF2B5EF4-FFF2-40B4-BE49-F238E27FC236}">
                <a16:creationId xmlns:a16="http://schemas.microsoft.com/office/drawing/2014/main" id="{4E4268B7-6D56-4FD1-AA48-DD261624B51D}"/>
              </a:ext>
            </a:extLst>
          </p:cNvPr>
          <p:cNvSpPr>
            <a:spLocks xmlns:a="http://schemas.openxmlformats.org/drawingml/2006/main" noGrp="1"/>
          </p:cNvSpPr>
          <p:nvPr/>
        </p:nvSpPr>
        <p:spPr>
          <a:xfrm xmlns:a="http://schemas.openxmlformats.org/drawingml/2006/main">
            <a:off x="6705600" y="171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111"/>
                </a:solidFill>
              </a:defRPr>
            </a:pPr>
            <a:r>
              <a:rPr sz="1800" b="1">
                <a:solidFill>
                  <a:srgbClr val="111111"/>
                </a:solidFill>
              </a:rPr>
              <a:t>REST API</a:t>
            </a:r>
          </a:p>
        </p:txBody>
      </p:sp>
      <p:sp>
        <p:nvSpPr>
          <p:cNvPr id="10" name="">
            <a:extLst xmlns:a="http://schemas.openxmlformats.org/drawingml/2006/main">
              <a:ext uri="{FF2B5EF4-FFF2-40B4-BE49-F238E27FC236}">
                <a16:creationId xmlns:a16="http://schemas.microsoft.com/office/drawing/2014/main" id="{672E93A1-93C5-4F31-959A-7973E4D0CE0D}"/>
              </a:ext>
            </a:extLst>
          </p:cNvPr>
          <p:cNvSpPr>
            <a:spLocks xmlns:a="http://schemas.openxmlformats.org/drawingml/2006/main" noGrp="1"/>
          </p:cNvSpPr>
          <p:nvPr/>
        </p:nvSpPr>
        <p:spPr>
          <a:xfrm xmlns:a="http://schemas.openxmlformats.org/drawingml/2006/main">
            <a:off x="6648450" y="2143125"/>
            <a:ext cx="4857750" cy="2095500"/>
          </a:xfrm>
          <a:prstGeom xmlns:a="http://schemas.openxmlformats.org/drawingml/2006/main" prst="roundRect">
            <a:avLst>
              <a:gd name="adj" fmla="val 5455"/>
            </a:avLst>
          </a:prstGeom>
          <a:solidFill xmlns:a="http://schemas.openxmlformats.org/drawingml/2006/main">
            <a:srgbClr val="111827"/>
          </a:solidFill>
          <a:ln xmlns:a="http://schemas.openxmlformats.org/drawingml/2006/main" w="9525">
            <a:solidFill>
              <a:srgbClr val="111827"/>
            </a:solidFill>
            <a:prstDash val="solid"/>
          </a:ln>
        </p:spPr>
      </p:sp>
      <p:sp>
        <p:nvSpPr>
          <p:cNvPr id="11" name="">
            <a:extLst xmlns:a="http://schemas.openxmlformats.org/drawingml/2006/main">
              <a:ext uri="{FF2B5EF4-FFF2-40B4-BE49-F238E27FC236}">
                <a16:creationId xmlns:a16="http://schemas.microsoft.com/office/drawing/2014/main" id="{09F9A143-C7B2-4135-AEC3-A811998F2859}"/>
              </a:ext>
            </a:extLst>
          </p:cNvPr>
          <p:cNvSpPr>
            <a:spLocks xmlns:a="http://schemas.openxmlformats.org/drawingml/2006/main" noGrp="1"/>
          </p:cNvSpPr>
          <p:nvPr/>
        </p:nvSpPr>
        <p:spPr>
          <a:xfrm xmlns:a="http://schemas.openxmlformats.org/drawingml/2006/main">
            <a:off x="6877050" y="2333625"/>
            <a:ext cx="44005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E5EEF9"/>
                </a:solidFill>
              </a:defRPr>
            </a:pPr>
            <a:r>
              <a:rPr sz="1275" b="0">
                <a:solidFill>
                  <a:srgbClr val="E5EEF9"/>
                </a:solidFill>
              </a:rPr>
              <a:t>@RestController</a:t>
            </a:r>
          </a:p>
          <a:p xmlns:a="http://schemas.openxmlformats.org/drawingml/2006/main">
            <a:pPr algn="l">
              <a:defRPr sz="1275" b="0">
                <a:solidFill>
                  <a:srgbClr val="E5EEF9"/>
                </a:solidFill>
              </a:defRPr>
            </a:pPr>
            <a:r>
              <a:rPr sz="1275" b="0">
                <a:solidFill>
                  <a:srgbClr val="E5EEF9"/>
                </a:solidFill>
              </a:rPr>
              <a:t>@RequestMapping("/api/v1/delivery-requests")</a:t>
            </a:r>
          </a:p>
          <a:p xmlns:a="http://schemas.openxmlformats.org/drawingml/2006/main">
            <a:pPr algn="l">
              <a:defRPr sz="1275" b="0">
                <a:solidFill>
                  <a:srgbClr val="E5EEF9"/>
                </a:solidFill>
              </a:defRPr>
            </a:pPr>
            <a:r>
              <a:rPr sz="1275" b="0">
                <a:solidFill>
                  <a:srgbClr val="E5EEF9"/>
                </a:solidFill>
              </a:rPr>
              <a:t>@GetMapping("/{deliveryRequestId}")</a:t>
            </a:r>
          </a:p>
          <a:p xmlns:a="http://schemas.openxmlformats.org/drawingml/2006/main">
            <a:pPr algn="l">
              <a:defRPr sz="1275" b="0">
                <a:solidFill>
                  <a:srgbClr val="E5EEF9"/>
                </a:solidFill>
              </a:defRPr>
            </a:pPr>
            <a:r>
              <a:rPr sz="1275" b="0">
                <a:solidFill>
                  <a:srgbClr val="E5EEF9"/>
                </a:solidFill>
              </a:rPr>
              <a:t>public ResponseEntity&lt;DeliveryDetailResponse&gt; ...</a:t>
            </a:r>
          </a:p>
        </p:txBody>
      </p:sp>
      <p:sp>
        <p:nvSpPr>
          <p:cNvPr id="12" name="">
            <a:extLst xmlns:a="http://schemas.openxmlformats.org/drawingml/2006/main">
              <a:ext uri="{FF2B5EF4-FFF2-40B4-BE49-F238E27FC236}">
                <a16:creationId xmlns:a16="http://schemas.microsoft.com/office/drawing/2014/main" id="{E0E60395-9719-4F41-9359-64D8352683A7}"/>
              </a:ext>
            </a:extLst>
          </p:cNvPr>
          <p:cNvSpPr>
            <a:spLocks xmlns:a="http://schemas.openxmlformats.org/drawingml/2006/main" noGrp="1"/>
          </p:cNvSpPr>
          <p:nvPr/>
        </p:nvSpPr>
        <p:spPr>
          <a:xfrm xmlns:a="http://schemas.openxmlformats.org/drawingml/2006/main">
            <a:off x="8058150" y="4476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3D8DFF"/>
                </a:solidFill>
              </a:defRPr>
            </a:pPr>
            <a:r>
              <a:rPr sz="1650" b="1">
                <a:solidFill>
                  <a:srgbClr val="3D8DFF"/>
                </a:solidFill>
              </a:rPr>
              <a:t>JSON 반환</a:t>
            </a:r>
          </a:p>
        </p:txBody>
      </p:sp>
      <p:sp>
        <p:nvSpPr>
          <p:cNvPr id="13" name="">
            <a:extLst xmlns:a="http://schemas.openxmlformats.org/drawingml/2006/main">
              <a:ext uri="{FF2B5EF4-FFF2-40B4-BE49-F238E27FC236}">
                <a16:creationId xmlns:a16="http://schemas.microsoft.com/office/drawing/2014/main" id="{C349CA08-35F3-4FD3-9777-F81F04801640}"/>
              </a:ext>
            </a:extLst>
          </p:cNvPr>
          <p:cNvSpPr>
            <a:spLocks xmlns:a="http://schemas.openxmlformats.org/drawingml/2006/main" noGrp="1"/>
          </p:cNvSpPr>
          <p:nvPr/>
        </p:nvSpPr>
        <p:spPr>
          <a:xfrm xmlns:a="http://schemas.openxmlformats.org/drawingml/2006/main">
            <a:off x="1809750" y="542925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111111"/>
                </a:solidFill>
              </a:defRPr>
            </a:pPr>
            <a:r>
              <a:rPr sz="2100" b="1">
                <a:solidFill>
                  <a:srgbClr val="111111"/>
                </a:solidFill>
              </a:rPr>
              <a:t>Controller  →  Service  →  Repository  →  MariaDB</a:t>
            </a:r>
          </a:p>
        </p:txBody>
      </p:sp>
      <p:sp>
        <p:nvSpPr>
          <p:cNvPr id="14" name="">
            <a:extLst xmlns:a="http://schemas.openxmlformats.org/drawingml/2006/main">
              <a:ext uri="{FF2B5EF4-FFF2-40B4-BE49-F238E27FC236}">
                <a16:creationId xmlns:a16="http://schemas.microsoft.com/office/drawing/2014/main" id="{4AF731AC-F5DD-4FE1-9204-0BC355A69833}"/>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0656F"/>
                </a:solidFill>
              </a:defRPr>
            </a:pPr>
            <a:r>
              <a:rPr sz="900" b="0">
                <a:solidFill>
                  <a:srgbClr val="60656F"/>
                </a:solidFill>
              </a:rPr>
              <a:t>실제 프로젝트 코드 기반</a:t>
            </a:r>
          </a:p>
        </p:txBody>
      </p:sp>
    </p:spTree>
    <p:extLst>
      <p:ext uri="{BB962C8B-B14F-4D97-AF65-F5344CB8AC3E}">
        <p14:creationId xmlns:p14="http://schemas.microsoft.com/office/powerpoint/2010/main" val="12190803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D228613-B566-4041-B42F-DE401ED9BB86}"/>
              </a:ext>
            </a:extLst>
          </p:cNvPr>
          <p:cNvSpPr>
            <a:spLocks xmlns:a="http://schemas.openxmlformats.org/drawingml/2006/main" noGrp="1"/>
          </p:cNvSpPr>
          <p:nvPr/>
        </p:nvSpPr>
        <p:spPr>
          <a:xfrm xmlns:a="http://schemas.openxmlformats.org/drawingml/2006/main">
            <a:off x="60960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FFB06056-A6D4-4BDA-B851-D30177B8288C}"/>
              </a:ext>
            </a:extLst>
          </p:cNvPr>
          <p:cNvSpPr>
            <a:spLocks xmlns:a="http://schemas.openxmlformats.org/drawingml/2006/main" noGrp="1"/>
          </p:cNvSpPr>
          <p:nvPr/>
        </p:nvSpPr>
        <p:spPr>
          <a:xfrm xmlns:a="http://schemas.openxmlformats.org/drawingml/2006/main">
            <a:off x="609600" y="7143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defRPr>
            </a:pPr>
            <a:r>
              <a:rPr sz="2850" b="1">
                <a:solidFill>
                  <a:srgbClr val="111111"/>
                </a:solidFill>
              </a:rPr>
              <a:t>GET 한 번이 인증·조회·DTO 변환을 거친다</a:t>
            </a:r>
          </a:p>
        </p:txBody>
      </p:sp>
      <p:sp>
        <p:nvSpPr>
          <p:cNvPr id="3" name="">
            <a:extLst xmlns:a="http://schemas.openxmlformats.org/drawingml/2006/main">
              <a:ext uri="{FF2B5EF4-FFF2-40B4-BE49-F238E27FC236}">
                <a16:creationId xmlns:a16="http://schemas.microsoft.com/office/drawing/2014/main" id="{09058071-847F-4926-8248-D81247A5E0B5}"/>
              </a:ext>
            </a:extLst>
          </p:cNvPr>
          <p:cNvSpPr>
            <a:spLocks xmlns:a="http://schemas.openxmlformats.org/drawingml/2006/main" noGrp="1"/>
          </p:cNvSpPr>
          <p:nvPr/>
        </p:nvSpPr>
        <p:spPr>
          <a:xfrm xmlns:a="http://schemas.openxmlformats.org/drawingml/2006/main">
            <a:off x="11353800" y="4000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60656F"/>
                </a:solidFill>
              </a:defRPr>
            </a:pPr>
            <a:r>
              <a:rPr sz="975" b="1">
                <a:solidFill>
                  <a:srgbClr val="60656F"/>
                </a:solidFill>
              </a:rPr>
              <a:t>04</a:t>
            </a:r>
          </a:p>
        </p:txBody>
      </p:sp>
      <p:sp>
        <p:nvSpPr>
          <p:cNvPr id="4" name="">
            <a:extLst xmlns:a="http://schemas.openxmlformats.org/drawingml/2006/main">
              <a:ext uri="{FF2B5EF4-FFF2-40B4-BE49-F238E27FC236}">
                <a16:creationId xmlns:a16="http://schemas.microsoft.com/office/drawing/2014/main" id="{2A0A3CFD-6C91-4EC8-A360-9D01FC333A2C}"/>
              </a:ext>
            </a:extLst>
          </p:cNvPr>
          <p:cNvSpPr>
            <a:spLocks xmlns:a="http://schemas.openxmlformats.org/drawingml/2006/main" noGrp="1"/>
          </p:cNvSpPr>
          <p:nvPr/>
        </p:nvSpPr>
        <p:spPr>
          <a:xfrm xmlns:a="http://schemas.openxmlformats.org/drawingml/2006/main">
            <a:off x="609600" y="1400175"/>
            <a:ext cx="109728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59C2BB3-21CA-461A-A8A8-0AEB30965BEC}"/>
              </a:ext>
            </a:extLst>
          </p:cNvPr>
          <p:cNvSpPr>
            <a:spLocks xmlns:a="http://schemas.openxmlformats.org/drawingml/2006/main" noGrp="1"/>
          </p:cNvSpPr>
          <p:nvPr/>
        </p:nvSpPr>
        <p:spPr>
          <a:xfrm xmlns:a="http://schemas.openxmlformats.org/drawingml/2006/main">
            <a:off x="685800" y="18097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01</a:t>
            </a:r>
          </a:p>
        </p:txBody>
      </p:sp>
      <p:sp>
        <p:nvSpPr>
          <p:cNvPr id="6" name="">
            <a:extLst xmlns:a="http://schemas.openxmlformats.org/drawingml/2006/main">
              <a:ext uri="{FF2B5EF4-FFF2-40B4-BE49-F238E27FC236}">
                <a16:creationId xmlns:a16="http://schemas.microsoft.com/office/drawing/2014/main" id="{7B6560B3-DB6D-4F51-BEA4-561C9C89C7EE}"/>
              </a:ext>
            </a:extLst>
          </p:cNvPr>
          <p:cNvSpPr>
            <a:spLocks xmlns:a="http://schemas.openxmlformats.org/drawingml/2006/main" noGrp="1"/>
          </p:cNvSpPr>
          <p:nvPr/>
        </p:nvSpPr>
        <p:spPr>
          <a:xfrm xmlns:a="http://schemas.openxmlformats.org/drawingml/2006/main">
            <a:off x="685800" y="2238375"/>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111"/>
                </a:solidFill>
              </a:defRPr>
            </a:pPr>
            <a:r>
              <a:rPr sz="1800" b="1">
                <a:solidFill>
                  <a:srgbClr val="111111"/>
                </a:solidFill>
              </a:rPr>
              <a:t>GET 요청</a:t>
            </a:r>
          </a:p>
        </p:txBody>
      </p:sp>
      <p:sp>
        <p:nvSpPr>
          <p:cNvPr id="7" name="">
            <a:extLst xmlns:a="http://schemas.openxmlformats.org/drawingml/2006/main">
              <a:ext uri="{FF2B5EF4-FFF2-40B4-BE49-F238E27FC236}">
                <a16:creationId xmlns:a16="http://schemas.microsoft.com/office/drawing/2014/main" id="{FF074858-AFF0-45F7-A7E0-5238531FFC46}"/>
              </a:ext>
            </a:extLst>
          </p:cNvPr>
          <p:cNvSpPr>
            <a:spLocks xmlns:a="http://schemas.openxmlformats.org/drawingml/2006/main" noGrp="1"/>
          </p:cNvSpPr>
          <p:nvPr/>
        </p:nvSpPr>
        <p:spPr>
          <a:xfrm xmlns:a="http://schemas.openxmlformats.org/drawingml/2006/main">
            <a:off x="685800" y="2724150"/>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0656F"/>
                </a:solidFill>
              </a:defRPr>
            </a:pPr>
            <a:r>
              <a:rPr sz="1275" b="0">
                <a:solidFill>
                  <a:srgbClr val="60656F"/>
                </a:solidFill>
              </a:rPr>
              <a:t>/delivery-requests/123</a:t>
            </a:r>
          </a:p>
        </p:txBody>
      </p:sp>
      <p:sp>
        <p:nvSpPr>
          <p:cNvPr id="8" name="">
            <a:extLst xmlns:a="http://schemas.openxmlformats.org/drawingml/2006/main">
              <a:ext uri="{FF2B5EF4-FFF2-40B4-BE49-F238E27FC236}">
                <a16:creationId xmlns:a16="http://schemas.microsoft.com/office/drawing/2014/main" id="{B26DBA0C-D749-40E1-896B-A6C6BA210DD4}"/>
              </a:ext>
            </a:extLst>
          </p:cNvPr>
          <p:cNvSpPr>
            <a:spLocks xmlns:a="http://schemas.openxmlformats.org/drawingml/2006/main" noGrp="1"/>
          </p:cNvSpPr>
          <p:nvPr/>
        </p:nvSpPr>
        <p:spPr>
          <a:xfrm xmlns:a="http://schemas.openxmlformats.org/drawingml/2006/main">
            <a:off x="3067050" y="224790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0">
                <a:solidFill>
                  <a:srgbClr val="3D8DFF"/>
                </a:solidFill>
              </a:defRPr>
            </a:pPr>
            <a:r>
              <a:rPr sz="2100" b="0">
                <a:solidFill>
                  <a:srgbClr val="3D8DFF"/>
                </a:solidFill>
              </a:rPr>
              <a:t>→</a:t>
            </a:r>
          </a:p>
        </p:txBody>
      </p:sp>
      <p:sp>
        <p:nvSpPr>
          <p:cNvPr id="9" name="">
            <a:extLst xmlns:a="http://schemas.openxmlformats.org/drawingml/2006/main">
              <a:ext uri="{FF2B5EF4-FFF2-40B4-BE49-F238E27FC236}">
                <a16:creationId xmlns:a16="http://schemas.microsoft.com/office/drawing/2014/main" id="{8DD384DA-346B-4F92-BA1B-887437493B60}"/>
              </a:ext>
            </a:extLst>
          </p:cNvPr>
          <p:cNvSpPr>
            <a:spLocks xmlns:a="http://schemas.openxmlformats.org/drawingml/2006/main" noGrp="1"/>
          </p:cNvSpPr>
          <p:nvPr/>
        </p:nvSpPr>
        <p:spPr>
          <a:xfrm xmlns:a="http://schemas.openxmlformats.org/drawingml/2006/main">
            <a:off x="3524250" y="18097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02</a:t>
            </a:r>
          </a:p>
        </p:txBody>
      </p:sp>
      <p:sp>
        <p:nvSpPr>
          <p:cNvPr id="10" name="">
            <a:extLst xmlns:a="http://schemas.openxmlformats.org/drawingml/2006/main">
              <a:ext uri="{FF2B5EF4-FFF2-40B4-BE49-F238E27FC236}">
                <a16:creationId xmlns:a16="http://schemas.microsoft.com/office/drawing/2014/main" id="{67ADDE7F-BD71-45A6-A0F3-C8C2E118DD13}"/>
              </a:ext>
            </a:extLst>
          </p:cNvPr>
          <p:cNvSpPr>
            <a:spLocks xmlns:a="http://schemas.openxmlformats.org/drawingml/2006/main" noGrp="1"/>
          </p:cNvSpPr>
          <p:nvPr/>
        </p:nvSpPr>
        <p:spPr>
          <a:xfrm xmlns:a="http://schemas.openxmlformats.org/drawingml/2006/main">
            <a:off x="3524250" y="2238375"/>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111"/>
                </a:solidFill>
              </a:defRPr>
            </a:pPr>
            <a:r>
              <a:rPr sz="1800" b="1">
                <a:solidFill>
                  <a:srgbClr val="111111"/>
                </a:solidFill>
              </a:rPr>
              <a:t>인증·권한</a:t>
            </a:r>
          </a:p>
        </p:txBody>
      </p:sp>
      <p:sp>
        <p:nvSpPr>
          <p:cNvPr id="11" name="">
            <a:extLst xmlns:a="http://schemas.openxmlformats.org/drawingml/2006/main">
              <a:ext uri="{FF2B5EF4-FFF2-40B4-BE49-F238E27FC236}">
                <a16:creationId xmlns:a16="http://schemas.microsoft.com/office/drawing/2014/main" id="{9F8C3190-54BD-4762-AAE0-290C9DD93A2F}"/>
              </a:ext>
            </a:extLst>
          </p:cNvPr>
          <p:cNvSpPr>
            <a:spLocks xmlns:a="http://schemas.openxmlformats.org/drawingml/2006/main" noGrp="1"/>
          </p:cNvSpPr>
          <p:nvPr/>
        </p:nvSpPr>
        <p:spPr>
          <a:xfrm xmlns:a="http://schemas.openxmlformats.org/drawingml/2006/main">
            <a:off x="3524250" y="2724150"/>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0656F"/>
                </a:solidFill>
              </a:defRPr>
            </a:pPr>
            <a:r>
              <a:rPr sz="1275" b="0">
                <a:solidFill>
                  <a:srgbClr val="60656F"/>
                </a:solidFill>
              </a:rPr>
              <a:t>JWT · 본인/배정 배송원</a:t>
            </a:r>
          </a:p>
        </p:txBody>
      </p:sp>
      <p:sp>
        <p:nvSpPr>
          <p:cNvPr id="12" name="">
            <a:extLst xmlns:a="http://schemas.openxmlformats.org/drawingml/2006/main">
              <a:ext uri="{FF2B5EF4-FFF2-40B4-BE49-F238E27FC236}">
                <a16:creationId xmlns:a16="http://schemas.microsoft.com/office/drawing/2014/main" id="{8F9B9D98-8ECC-4B0B-9E6C-3B4C22A06728}"/>
              </a:ext>
            </a:extLst>
          </p:cNvPr>
          <p:cNvSpPr>
            <a:spLocks xmlns:a="http://schemas.openxmlformats.org/drawingml/2006/main" noGrp="1"/>
          </p:cNvSpPr>
          <p:nvPr/>
        </p:nvSpPr>
        <p:spPr>
          <a:xfrm xmlns:a="http://schemas.openxmlformats.org/drawingml/2006/main">
            <a:off x="5905500" y="224790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0">
                <a:solidFill>
                  <a:srgbClr val="3D8DFF"/>
                </a:solidFill>
              </a:defRPr>
            </a:pPr>
            <a:r>
              <a:rPr sz="2100" b="0">
                <a:solidFill>
                  <a:srgbClr val="3D8DFF"/>
                </a:solidFill>
              </a:rPr>
              <a:t>→</a:t>
            </a:r>
          </a:p>
        </p:txBody>
      </p:sp>
      <p:sp>
        <p:nvSpPr>
          <p:cNvPr id="13" name="">
            <a:extLst xmlns:a="http://schemas.openxmlformats.org/drawingml/2006/main">
              <a:ext uri="{FF2B5EF4-FFF2-40B4-BE49-F238E27FC236}">
                <a16:creationId xmlns:a16="http://schemas.microsoft.com/office/drawing/2014/main" id="{C6719D4E-53C5-4FE9-86E5-695DE8A2A269}"/>
              </a:ext>
            </a:extLst>
          </p:cNvPr>
          <p:cNvSpPr>
            <a:spLocks xmlns:a="http://schemas.openxmlformats.org/drawingml/2006/main" noGrp="1"/>
          </p:cNvSpPr>
          <p:nvPr/>
        </p:nvSpPr>
        <p:spPr>
          <a:xfrm xmlns:a="http://schemas.openxmlformats.org/drawingml/2006/main">
            <a:off x="6362700" y="18097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03</a:t>
            </a:r>
          </a:p>
        </p:txBody>
      </p:sp>
      <p:sp>
        <p:nvSpPr>
          <p:cNvPr id="14" name="">
            <a:extLst xmlns:a="http://schemas.openxmlformats.org/drawingml/2006/main">
              <a:ext uri="{FF2B5EF4-FFF2-40B4-BE49-F238E27FC236}">
                <a16:creationId xmlns:a16="http://schemas.microsoft.com/office/drawing/2014/main" id="{4393583D-3E17-42E5-A4D9-3D566F508612}"/>
              </a:ext>
            </a:extLst>
          </p:cNvPr>
          <p:cNvSpPr>
            <a:spLocks xmlns:a="http://schemas.openxmlformats.org/drawingml/2006/main" noGrp="1"/>
          </p:cNvSpPr>
          <p:nvPr/>
        </p:nvSpPr>
        <p:spPr>
          <a:xfrm xmlns:a="http://schemas.openxmlformats.org/drawingml/2006/main">
            <a:off x="6362700" y="2238375"/>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111"/>
                </a:solidFill>
              </a:defRPr>
            </a:pPr>
            <a:r>
              <a:rPr sz="1800" b="1">
                <a:solidFill>
                  <a:srgbClr val="111111"/>
                </a:solidFill>
              </a:rPr>
              <a:t>Service 조회</a:t>
            </a:r>
          </a:p>
        </p:txBody>
      </p:sp>
      <p:sp>
        <p:nvSpPr>
          <p:cNvPr id="15" name="">
            <a:extLst xmlns:a="http://schemas.openxmlformats.org/drawingml/2006/main">
              <a:ext uri="{FF2B5EF4-FFF2-40B4-BE49-F238E27FC236}">
                <a16:creationId xmlns:a16="http://schemas.microsoft.com/office/drawing/2014/main" id="{D82A5995-6E76-42AA-B396-9DFC6FA7C416}"/>
              </a:ext>
            </a:extLst>
          </p:cNvPr>
          <p:cNvSpPr>
            <a:spLocks xmlns:a="http://schemas.openxmlformats.org/drawingml/2006/main" noGrp="1"/>
          </p:cNvSpPr>
          <p:nvPr/>
        </p:nvSpPr>
        <p:spPr>
          <a:xfrm xmlns:a="http://schemas.openxmlformats.org/drawingml/2006/main">
            <a:off x="6362700" y="2724150"/>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0656F"/>
                </a:solidFill>
              </a:defRPr>
            </a:pPr>
            <a:r>
              <a:rPr sz="1275" b="0">
                <a:solidFill>
                  <a:srgbClr val="60656F"/>
                </a:solidFill>
              </a:rPr>
              <a:t>배송·매칭·차량 정보</a:t>
            </a:r>
          </a:p>
        </p:txBody>
      </p:sp>
      <p:sp>
        <p:nvSpPr>
          <p:cNvPr id="16" name="">
            <a:extLst xmlns:a="http://schemas.openxmlformats.org/drawingml/2006/main">
              <a:ext uri="{FF2B5EF4-FFF2-40B4-BE49-F238E27FC236}">
                <a16:creationId xmlns:a16="http://schemas.microsoft.com/office/drawing/2014/main" id="{145E4545-2DFA-4B14-A77B-E93270F376A9}"/>
              </a:ext>
            </a:extLst>
          </p:cNvPr>
          <p:cNvSpPr>
            <a:spLocks xmlns:a="http://schemas.openxmlformats.org/drawingml/2006/main" noGrp="1"/>
          </p:cNvSpPr>
          <p:nvPr/>
        </p:nvSpPr>
        <p:spPr>
          <a:xfrm xmlns:a="http://schemas.openxmlformats.org/drawingml/2006/main">
            <a:off x="8743950" y="224790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0">
                <a:solidFill>
                  <a:srgbClr val="3D8DFF"/>
                </a:solidFill>
              </a:defRPr>
            </a:pPr>
            <a:r>
              <a:rPr sz="2100" b="0">
                <a:solidFill>
                  <a:srgbClr val="3D8DFF"/>
                </a:solidFill>
              </a:rPr>
              <a:t>→</a:t>
            </a:r>
          </a:p>
        </p:txBody>
      </p:sp>
      <p:sp>
        <p:nvSpPr>
          <p:cNvPr id="17" name="">
            <a:extLst xmlns:a="http://schemas.openxmlformats.org/drawingml/2006/main">
              <a:ext uri="{FF2B5EF4-FFF2-40B4-BE49-F238E27FC236}">
                <a16:creationId xmlns:a16="http://schemas.microsoft.com/office/drawing/2014/main" id="{1D4550F7-7884-463C-B6D8-9883461C2B20}"/>
              </a:ext>
            </a:extLst>
          </p:cNvPr>
          <p:cNvSpPr>
            <a:spLocks xmlns:a="http://schemas.openxmlformats.org/drawingml/2006/main" noGrp="1"/>
          </p:cNvSpPr>
          <p:nvPr/>
        </p:nvSpPr>
        <p:spPr>
          <a:xfrm xmlns:a="http://schemas.openxmlformats.org/drawingml/2006/main">
            <a:off x="9201150" y="18097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04</a:t>
            </a:r>
          </a:p>
        </p:txBody>
      </p:sp>
      <p:sp>
        <p:nvSpPr>
          <p:cNvPr id="18" name="">
            <a:extLst xmlns:a="http://schemas.openxmlformats.org/drawingml/2006/main">
              <a:ext uri="{FF2B5EF4-FFF2-40B4-BE49-F238E27FC236}">
                <a16:creationId xmlns:a16="http://schemas.microsoft.com/office/drawing/2014/main" id="{096BD559-DCCB-44C8-830C-6EF1A381A4A9}"/>
              </a:ext>
            </a:extLst>
          </p:cNvPr>
          <p:cNvSpPr>
            <a:spLocks xmlns:a="http://schemas.openxmlformats.org/drawingml/2006/main" noGrp="1"/>
          </p:cNvSpPr>
          <p:nvPr/>
        </p:nvSpPr>
        <p:spPr>
          <a:xfrm xmlns:a="http://schemas.openxmlformats.org/drawingml/2006/main">
            <a:off x="9201150" y="2238375"/>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111"/>
                </a:solidFill>
              </a:defRPr>
            </a:pPr>
            <a:r>
              <a:rPr sz="1800" b="1">
                <a:solidFill>
                  <a:srgbClr val="111111"/>
                </a:solidFill>
              </a:rPr>
              <a:t>DTO 응답</a:t>
            </a:r>
          </a:p>
        </p:txBody>
      </p:sp>
      <p:sp>
        <p:nvSpPr>
          <p:cNvPr id="19" name="">
            <a:extLst xmlns:a="http://schemas.openxmlformats.org/drawingml/2006/main">
              <a:ext uri="{FF2B5EF4-FFF2-40B4-BE49-F238E27FC236}">
                <a16:creationId xmlns:a16="http://schemas.microsoft.com/office/drawing/2014/main" id="{051ABC39-EC17-4C03-9CC0-D11F22C89023}"/>
              </a:ext>
            </a:extLst>
          </p:cNvPr>
          <p:cNvSpPr>
            <a:spLocks xmlns:a="http://schemas.openxmlformats.org/drawingml/2006/main" noGrp="1"/>
          </p:cNvSpPr>
          <p:nvPr/>
        </p:nvSpPr>
        <p:spPr>
          <a:xfrm xmlns:a="http://schemas.openxmlformats.org/drawingml/2006/main">
            <a:off x="9201150" y="2724150"/>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0656F"/>
                </a:solidFill>
              </a:defRPr>
            </a:pPr>
            <a:r>
              <a:rPr sz="1275" b="0">
                <a:solidFill>
                  <a:srgbClr val="60656F"/>
                </a:solidFill>
              </a:rPr>
              <a:t>DeliveryDetailResponse</a:t>
            </a:r>
          </a:p>
        </p:txBody>
      </p:sp>
      <p:sp>
        <p:nvSpPr>
          <p:cNvPr id="20" name="">
            <a:extLst xmlns:a="http://schemas.openxmlformats.org/drawingml/2006/main">
              <a:ext uri="{FF2B5EF4-FFF2-40B4-BE49-F238E27FC236}">
                <a16:creationId xmlns:a16="http://schemas.microsoft.com/office/drawing/2014/main" id="{E53689CA-07A0-400D-9DD0-B447EC7A8A8D}"/>
              </a:ext>
            </a:extLst>
          </p:cNvPr>
          <p:cNvSpPr>
            <a:spLocks xmlns:a="http://schemas.openxmlformats.org/drawingml/2006/main" noGrp="1"/>
          </p:cNvSpPr>
          <p:nvPr/>
        </p:nvSpPr>
        <p:spPr>
          <a:xfrm xmlns:a="http://schemas.openxmlformats.org/drawingml/2006/main">
            <a:off x="685800" y="3638550"/>
            <a:ext cx="4667250" cy="2190750"/>
          </a:xfrm>
          <a:prstGeom xmlns:a="http://schemas.openxmlformats.org/drawingml/2006/main" prst="roundRect">
            <a:avLst>
              <a:gd name="adj" fmla="val 5217"/>
            </a:avLst>
          </a:prstGeom>
          <a:solidFill xmlns:a="http://schemas.openxmlformats.org/drawingml/2006/main">
            <a:srgbClr val="111827"/>
          </a:solidFill>
          <a:ln xmlns:a="http://schemas.openxmlformats.org/drawingml/2006/main" w="9525">
            <a:solidFill>
              <a:srgbClr val="111827"/>
            </a:solidFill>
            <a:prstDash val="solid"/>
          </a:ln>
        </p:spPr>
      </p:sp>
      <p:sp>
        <p:nvSpPr>
          <p:cNvPr id="21" name="">
            <a:extLst xmlns:a="http://schemas.openxmlformats.org/drawingml/2006/main">
              <a:ext uri="{FF2B5EF4-FFF2-40B4-BE49-F238E27FC236}">
                <a16:creationId xmlns:a16="http://schemas.microsoft.com/office/drawing/2014/main" id="{6BDE39FD-006F-4A82-B88A-0574D20566AD}"/>
              </a:ext>
            </a:extLst>
          </p:cNvPr>
          <p:cNvSpPr>
            <a:spLocks xmlns:a="http://schemas.openxmlformats.org/drawingml/2006/main" noGrp="1"/>
          </p:cNvSpPr>
          <p:nvPr/>
        </p:nvSpPr>
        <p:spPr>
          <a:xfrm xmlns:a="http://schemas.openxmlformats.org/drawingml/2006/main">
            <a:off x="914400" y="3829050"/>
            <a:ext cx="42100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E5EEF9"/>
                </a:solidFill>
              </a:defRPr>
            </a:pPr>
            <a:r>
              <a:rPr sz="1350" b="0">
                <a:solidFill>
                  <a:srgbClr val="E5EEF9"/>
                </a:solidFill>
              </a:rPr>
              <a:t>{</a:t>
            </a:r>
          </a:p>
          <a:p xmlns:a="http://schemas.openxmlformats.org/drawingml/2006/main">
            <a:pPr algn="l">
              <a:defRPr sz="1350" b="0">
                <a:solidFill>
                  <a:srgbClr val="E5EEF9"/>
                </a:solidFill>
              </a:defRPr>
            </a:pPr>
            <a:r>
              <a:rPr sz="1350" b="0">
                <a:solidFill>
                  <a:srgbClr val="E5EEF9"/>
                </a:solidFill>
              </a:rPr>
              <a:t>  "id": 123,</a:t>
            </a:r>
          </a:p>
          <a:p xmlns:a="http://schemas.openxmlformats.org/drawingml/2006/main">
            <a:pPr algn="l">
              <a:defRPr sz="1350" b="0">
                <a:solidFill>
                  <a:srgbClr val="E5EEF9"/>
                </a:solidFill>
              </a:defRPr>
            </a:pPr>
            <a:r>
              <a:rPr sz="1350" b="0">
                <a:solidFill>
                  <a:srgbClr val="E5EEF9"/>
                </a:solidFill>
              </a:rPr>
              <a:t>  "status": "MATCHED",</a:t>
            </a:r>
          </a:p>
          <a:p xmlns:a="http://schemas.openxmlformats.org/drawingml/2006/main">
            <a:pPr algn="l">
              <a:defRPr sz="1350" b="0">
                <a:solidFill>
                  <a:srgbClr val="E5EEF9"/>
                </a:solidFill>
              </a:defRPr>
            </a:pPr>
            <a:r>
              <a:rPr sz="1350" b="0">
                <a:solidFill>
                  <a:srgbClr val="E5EEF9"/>
                </a:solidFill>
              </a:rPr>
              <a:t>  "feePoint": 5000,</a:t>
            </a:r>
          </a:p>
          <a:p xmlns:a="http://schemas.openxmlformats.org/drawingml/2006/main">
            <a:pPr algn="l">
              <a:defRPr sz="1350" b="0">
                <a:solidFill>
                  <a:srgbClr val="E5EEF9"/>
                </a:solidFill>
              </a:defRPr>
            </a:pPr>
            <a:r>
              <a:rPr sz="1350" b="0">
                <a:solidFill>
                  <a:srgbClr val="E5EEF9"/>
                </a:solidFill>
              </a:rPr>
              <a:t>  "courierName": "홍길동",</a:t>
            </a:r>
          </a:p>
          <a:p xmlns:a="http://schemas.openxmlformats.org/drawingml/2006/main">
            <a:pPr algn="l">
              <a:defRPr sz="1350" b="0">
                <a:solidFill>
                  <a:srgbClr val="E5EEF9"/>
                </a:solidFill>
              </a:defRPr>
            </a:pPr>
            <a:r>
              <a:rPr sz="1350" b="0">
                <a:solidFill>
                  <a:srgbClr val="E5EEF9"/>
                </a:solidFill>
              </a:rPr>
              <a:t>  "vehicleType": "MOTORCYCLE"</a:t>
            </a:r>
          </a:p>
          <a:p xmlns:a="http://schemas.openxmlformats.org/drawingml/2006/main">
            <a:pPr algn="l">
              <a:defRPr sz="1350" b="0">
                <a:solidFill>
                  <a:srgbClr val="E5EEF9"/>
                </a:solidFill>
              </a:defRPr>
            </a:pPr>
            <a:r>
              <a:rPr sz="1350" b="0">
                <a:solidFill>
                  <a:srgbClr val="E5EEF9"/>
                </a:solidFill>
              </a:rPr>
              <a:t>}</a:t>
            </a:r>
          </a:p>
        </p:txBody>
      </p:sp>
      <p:sp>
        <p:nvSpPr>
          <p:cNvPr id="22" name="">
            <a:extLst xmlns:a="http://schemas.openxmlformats.org/drawingml/2006/main">
              <a:ext uri="{FF2B5EF4-FFF2-40B4-BE49-F238E27FC236}">
                <a16:creationId xmlns:a16="http://schemas.microsoft.com/office/drawing/2014/main" id="{E64A1D6F-00CA-471C-933C-12868032D799}"/>
              </a:ext>
            </a:extLst>
          </p:cNvPr>
          <p:cNvSpPr>
            <a:spLocks xmlns:a="http://schemas.openxmlformats.org/drawingml/2006/main" noGrp="1"/>
          </p:cNvSpPr>
          <p:nvPr/>
        </p:nvSpPr>
        <p:spPr>
          <a:xfrm xmlns:a="http://schemas.openxmlformats.org/drawingml/2006/main">
            <a:off x="5953125" y="37623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defRPr>
            </a:pPr>
            <a:r>
              <a:rPr sz="1950" b="1">
                <a:solidFill>
                  <a:srgbClr val="111111"/>
                </a:solidFill>
              </a:rPr>
              <a:t>왜 Entity가 아니라 DTO인가?</a:t>
            </a:r>
          </a:p>
        </p:txBody>
      </p:sp>
      <p:sp>
        <p:nvSpPr>
          <p:cNvPr id="23" name="">
            <a:extLst xmlns:a="http://schemas.openxmlformats.org/drawingml/2006/main">
              <a:ext uri="{FF2B5EF4-FFF2-40B4-BE49-F238E27FC236}">
                <a16:creationId xmlns:a16="http://schemas.microsoft.com/office/drawing/2014/main" id="{2E64C8E6-E108-4B08-A8F5-1CC0FE4CD706}"/>
              </a:ext>
            </a:extLst>
          </p:cNvPr>
          <p:cNvSpPr>
            <a:spLocks xmlns:a="http://schemas.openxmlformats.org/drawingml/2006/main" noGrp="1"/>
          </p:cNvSpPr>
          <p:nvPr/>
        </p:nvSpPr>
        <p:spPr>
          <a:xfrm xmlns:a="http://schemas.openxmlformats.org/drawingml/2006/main">
            <a:off x="5953125" y="4333875"/>
            <a:ext cx="5048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11111"/>
                </a:solidFill>
              </a:defRPr>
            </a:pPr>
            <a:r>
              <a:rPr sz="1575" b="0">
                <a:solidFill>
                  <a:srgbClr val="111111"/>
                </a:solidFill>
              </a:rPr>
              <a:t>• DB 구조와 API 계약 분리</a:t>
            </a:r>
          </a:p>
          <a:p xmlns:a="http://schemas.openxmlformats.org/drawingml/2006/main">
            <a:pPr algn="l">
              <a:defRPr sz="1575" b="0">
                <a:solidFill>
                  <a:srgbClr val="111111"/>
                </a:solidFill>
              </a:defRPr>
            </a:pPr>
            <a:r>
              <a:rPr sz="1575" b="0">
                <a:solidFill>
                  <a:srgbClr val="111111"/>
                </a:solidFill>
              </a:rPr>
              <a:t>• 필요한 필드만 외부에 노출</a:t>
            </a:r>
          </a:p>
          <a:p xmlns:a="http://schemas.openxmlformats.org/drawingml/2006/main">
            <a:pPr algn="l">
              <a:defRPr sz="1575" b="0">
                <a:solidFill>
                  <a:srgbClr val="111111"/>
                </a:solidFill>
              </a:defRPr>
            </a:pPr>
            <a:r>
              <a:rPr sz="1575" b="0">
                <a:solidFill>
                  <a:srgbClr val="111111"/>
                </a:solidFill>
              </a:rPr>
              <a:t>• 배송·매칭·차량 정보를 하나로 조합</a:t>
            </a:r>
          </a:p>
          <a:p xmlns:a="http://schemas.openxmlformats.org/drawingml/2006/main">
            <a:pPr algn="l">
              <a:defRPr sz="1575" b="0">
                <a:solidFill>
                  <a:srgbClr val="111111"/>
                </a:solidFill>
              </a:defRPr>
            </a:pPr>
            <a:r>
              <a:rPr sz="1575" b="0">
                <a:solidFill>
                  <a:srgbClr val="111111"/>
                </a:solidFill>
              </a:rPr>
              <a:t>• 내부 필드와 민감 정보 노출 방지</a:t>
            </a:r>
          </a:p>
        </p:txBody>
      </p:sp>
      <p:sp>
        <p:nvSpPr>
          <p:cNvPr id="24" name="">
            <a:extLst xmlns:a="http://schemas.openxmlformats.org/drawingml/2006/main">
              <a:ext uri="{FF2B5EF4-FFF2-40B4-BE49-F238E27FC236}">
                <a16:creationId xmlns:a16="http://schemas.microsoft.com/office/drawing/2014/main" id="{2BEA2F2B-8068-4FB8-80F9-AA8988C12270}"/>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0656F"/>
                </a:solidFill>
              </a:defRPr>
            </a:pPr>
            <a:r>
              <a:rPr sz="900" b="0">
                <a:solidFill>
                  <a:srgbClr val="60656F"/>
                </a:solidFill>
              </a:rPr>
              <a:t>실제 프로젝트 코드 기반</a:t>
            </a:r>
          </a:p>
        </p:txBody>
      </p:sp>
    </p:spTree>
    <p:extLst>
      <p:ext uri="{BB962C8B-B14F-4D97-AF65-F5344CB8AC3E}">
        <p14:creationId xmlns:p14="http://schemas.microsoft.com/office/powerpoint/2010/main" val="21036425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64A032B-61F9-49B8-8D4A-CEC4D1DB0EC1}"/>
              </a:ext>
            </a:extLst>
          </p:cNvPr>
          <p:cNvSpPr>
            <a:spLocks xmlns:a="http://schemas.openxmlformats.org/drawingml/2006/main" noGrp="1"/>
          </p:cNvSpPr>
          <p:nvPr/>
        </p:nvSpPr>
        <p:spPr>
          <a:xfrm xmlns:a="http://schemas.openxmlformats.org/drawingml/2006/main">
            <a:off x="60960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9B2BBC59-3539-4FB1-B253-E80ABFB73094}"/>
              </a:ext>
            </a:extLst>
          </p:cNvPr>
          <p:cNvSpPr>
            <a:spLocks xmlns:a="http://schemas.openxmlformats.org/drawingml/2006/main" noGrp="1"/>
          </p:cNvSpPr>
          <p:nvPr/>
        </p:nvSpPr>
        <p:spPr>
          <a:xfrm xmlns:a="http://schemas.openxmlformats.org/drawingml/2006/main">
            <a:off x="609600" y="7143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defRPr>
            </a:pPr>
            <a:r>
              <a:rPr sz="2850" b="1">
                <a:solidFill>
                  <a:srgbClr val="111111"/>
                </a:solidFill>
              </a:rPr>
              <a:t>fetch가 REST API를 5초마다 호출한다</a:t>
            </a:r>
          </a:p>
        </p:txBody>
      </p:sp>
      <p:sp>
        <p:nvSpPr>
          <p:cNvPr id="3" name="">
            <a:extLst xmlns:a="http://schemas.openxmlformats.org/drawingml/2006/main">
              <a:ext uri="{FF2B5EF4-FFF2-40B4-BE49-F238E27FC236}">
                <a16:creationId xmlns:a16="http://schemas.microsoft.com/office/drawing/2014/main" id="{6656BAE4-830E-4415-A1C3-C1F84A9DC6E1}"/>
              </a:ext>
            </a:extLst>
          </p:cNvPr>
          <p:cNvSpPr>
            <a:spLocks xmlns:a="http://schemas.openxmlformats.org/drawingml/2006/main" noGrp="1"/>
          </p:cNvSpPr>
          <p:nvPr/>
        </p:nvSpPr>
        <p:spPr>
          <a:xfrm xmlns:a="http://schemas.openxmlformats.org/drawingml/2006/main">
            <a:off x="11353800" y="4000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60656F"/>
                </a:solidFill>
              </a:defRPr>
            </a:pPr>
            <a:r>
              <a:rPr sz="975" b="1">
                <a:solidFill>
                  <a:srgbClr val="60656F"/>
                </a:solidFill>
              </a:rPr>
              <a:t>05</a:t>
            </a:r>
          </a:p>
        </p:txBody>
      </p:sp>
      <p:sp>
        <p:nvSpPr>
          <p:cNvPr id="4" name="">
            <a:extLst xmlns:a="http://schemas.openxmlformats.org/drawingml/2006/main">
              <a:ext uri="{FF2B5EF4-FFF2-40B4-BE49-F238E27FC236}">
                <a16:creationId xmlns:a16="http://schemas.microsoft.com/office/drawing/2014/main" id="{74351B71-F4A3-46DF-BDC4-D02AAC40DE6A}"/>
              </a:ext>
            </a:extLst>
          </p:cNvPr>
          <p:cNvSpPr>
            <a:spLocks xmlns:a="http://schemas.openxmlformats.org/drawingml/2006/main" noGrp="1"/>
          </p:cNvSpPr>
          <p:nvPr/>
        </p:nvSpPr>
        <p:spPr>
          <a:xfrm xmlns:a="http://schemas.openxmlformats.org/drawingml/2006/main">
            <a:off x="609600" y="1400175"/>
            <a:ext cx="109728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F70494-728E-4395-B0FB-1E5BC9324936}"/>
              </a:ext>
            </a:extLst>
          </p:cNvPr>
          <p:cNvSpPr>
            <a:spLocks xmlns:a="http://schemas.openxmlformats.org/drawingml/2006/main" noGrp="1"/>
          </p:cNvSpPr>
          <p:nvPr/>
        </p:nvSpPr>
        <p:spPr>
          <a:xfrm xmlns:a="http://schemas.openxmlformats.org/drawingml/2006/main">
            <a:off x="685800" y="1762125"/>
            <a:ext cx="6191250" cy="3429000"/>
          </a:xfrm>
          <a:prstGeom xmlns:a="http://schemas.openxmlformats.org/drawingml/2006/main" prst="roundRect">
            <a:avLst>
              <a:gd name="adj" fmla="val 3333"/>
            </a:avLst>
          </a:prstGeom>
          <a:solidFill xmlns:a="http://schemas.openxmlformats.org/drawingml/2006/main">
            <a:srgbClr val="111827"/>
          </a:solidFill>
          <a:ln xmlns:a="http://schemas.openxmlformats.org/drawingml/2006/main" w="9525">
            <a:solidFill>
              <a:srgbClr val="111827"/>
            </a:solidFill>
            <a:prstDash val="solid"/>
          </a:ln>
        </p:spPr>
      </p:sp>
      <p:sp>
        <p:nvSpPr>
          <p:cNvPr id="6" name="">
            <a:extLst xmlns:a="http://schemas.openxmlformats.org/drawingml/2006/main">
              <a:ext uri="{FF2B5EF4-FFF2-40B4-BE49-F238E27FC236}">
                <a16:creationId xmlns:a16="http://schemas.microsoft.com/office/drawing/2014/main" id="{C8C1B9EB-AA78-46B1-A922-B7E82389FBC4}"/>
              </a:ext>
            </a:extLst>
          </p:cNvPr>
          <p:cNvSpPr>
            <a:spLocks xmlns:a="http://schemas.openxmlformats.org/drawingml/2006/main" noGrp="1"/>
          </p:cNvSpPr>
          <p:nvPr/>
        </p:nvSpPr>
        <p:spPr>
          <a:xfrm xmlns:a="http://schemas.openxmlformats.org/drawingml/2006/main">
            <a:off x="914400" y="1952625"/>
            <a:ext cx="57340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E5EEF9"/>
                </a:solidFill>
              </a:defRPr>
            </a:pPr>
            <a:r>
              <a:rPr sz="1350" b="0">
                <a:solidFill>
                  <a:srgbClr val="E5EEF9"/>
                </a:solidFill>
              </a:rPr>
              <a:t>const response = await fetch(</a:t>
            </a:r>
          </a:p>
          <a:p xmlns:a="http://schemas.openxmlformats.org/drawingml/2006/main">
            <a:pPr algn="l">
              <a:defRPr sz="1350" b="0">
                <a:solidFill>
                  <a:srgbClr val="E5EEF9"/>
                </a:solidFill>
              </a:defRPr>
            </a:pPr>
            <a:r>
              <a:rPr sz="1350" b="0">
                <a:solidFill>
                  <a:srgbClr val="E5EEF9"/>
                </a:solidFill>
              </a:rPr>
              <a:t>  `/api/v1/delivery-requests/${deliveryId}`,</a:t>
            </a:r>
          </a:p>
          <a:p xmlns:a="http://schemas.openxmlformats.org/drawingml/2006/main">
            <a:pPr algn="l">
              <a:defRPr sz="1350" b="0">
                <a:solidFill>
                  <a:srgbClr val="E5EEF9"/>
                </a:solidFill>
              </a:defRPr>
            </a:pPr>
            <a:r>
              <a:rPr sz="1350" b="0">
                <a:solidFill>
                  <a:srgbClr val="E5EEF9"/>
                </a:solidFill>
              </a:rPr>
              <a:t>  {</a:t>
            </a:r>
          </a:p>
          <a:p xmlns:a="http://schemas.openxmlformats.org/drawingml/2006/main">
            <a:pPr algn="l">
              <a:defRPr sz="1350" b="0">
                <a:solidFill>
                  <a:srgbClr val="E5EEF9"/>
                </a:solidFill>
              </a:defRPr>
            </a:pPr>
            <a:r>
              <a:rPr sz="1350" b="0">
                <a:solidFill>
                  <a:srgbClr val="E5EEF9"/>
                </a:solidFill>
              </a:rPr>
              <a:t>    headers: { Authorization: header },</a:t>
            </a:r>
          </a:p>
          <a:p xmlns:a="http://schemas.openxmlformats.org/drawingml/2006/main">
            <a:pPr algn="l">
              <a:defRPr sz="1350" b="0">
                <a:solidFill>
                  <a:srgbClr val="E5EEF9"/>
                </a:solidFill>
              </a:defRPr>
            </a:pPr>
            <a:r>
              <a:rPr sz="1350" b="0">
                <a:solidFill>
                  <a:srgbClr val="E5EEF9"/>
                </a:solidFill>
              </a:rPr>
              <a:t>    cache: 'no-store'</a:t>
            </a:r>
          </a:p>
          <a:p xmlns:a="http://schemas.openxmlformats.org/drawingml/2006/main">
            <a:pPr algn="l">
              <a:defRPr sz="1350" b="0">
                <a:solidFill>
                  <a:srgbClr val="E5EEF9"/>
                </a:solidFill>
              </a:defRPr>
            </a:pPr>
            <a:r>
              <a:rPr sz="1350" b="0">
                <a:solidFill>
                  <a:srgbClr val="E5EEF9"/>
                </a:solidFill>
              </a:rPr>
              <a:t>  }</a:t>
            </a:r>
          </a:p>
          <a:p xmlns:a="http://schemas.openxmlformats.org/drawingml/2006/main">
            <a:pPr algn="l">
              <a:defRPr sz="1350" b="0">
                <a:solidFill>
                  <a:srgbClr val="E5EEF9"/>
                </a:solidFill>
              </a:defRPr>
            </a:pPr>
            <a:r>
              <a:rPr sz="1350" b="0">
                <a:solidFill>
                  <a:srgbClr val="E5EEF9"/>
                </a:solidFill>
              </a:rPr>
              <a:t>);</a:t>
            </a:r>
          </a:p>
          <a:p xmlns:a="http://schemas.openxmlformats.org/drawingml/2006/main">
            <a:r>
              <a:t/>
            </a:r>
          </a:p>
          <a:p xmlns:a="http://schemas.openxmlformats.org/drawingml/2006/main">
            <a:pPr algn="l">
              <a:defRPr sz="1350" b="0">
                <a:solidFill>
                  <a:srgbClr val="E5EEF9"/>
                </a:solidFill>
              </a:defRPr>
            </a:pPr>
            <a:r>
              <a:rPr sz="1350" b="0">
                <a:solidFill>
                  <a:srgbClr val="E5EEF9"/>
                </a:solidFill>
              </a:rPr>
              <a:t>const detail = await response.json();</a:t>
            </a:r>
          </a:p>
        </p:txBody>
      </p:sp>
      <p:sp>
        <p:nvSpPr>
          <p:cNvPr id="7" name="">
            <a:extLst xmlns:a="http://schemas.openxmlformats.org/drawingml/2006/main">
              <a:ext uri="{FF2B5EF4-FFF2-40B4-BE49-F238E27FC236}">
                <a16:creationId xmlns:a16="http://schemas.microsoft.com/office/drawing/2014/main" id="{CFE268D5-86EC-4056-AEE6-A2F83DB945E9}"/>
              </a:ext>
            </a:extLst>
          </p:cNvPr>
          <p:cNvSpPr>
            <a:spLocks xmlns:a="http://schemas.openxmlformats.org/drawingml/2006/main" noGrp="1"/>
          </p:cNvSpPr>
          <p:nvPr/>
        </p:nvSpPr>
        <p:spPr>
          <a:xfrm xmlns:a="http://schemas.openxmlformats.org/drawingml/2006/main">
            <a:off x="7858125" y="195262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111111"/>
                </a:solidFill>
              </a:defRPr>
            </a:pPr>
            <a:r>
              <a:rPr sz="2100" b="1">
                <a:solidFill>
                  <a:srgbClr val="111111"/>
                </a:solidFill>
              </a:rPr>
              <a:t>REST API</a:t>
            </a:r>
          </a:p>
        </p:txBody>
      </p:sp>
      <p:sp>
        <p:nvSpPr>
          <p:cNvPr id="8" name="">
            <a:extLst xmlns:a="http://schemas.openxmlformats.org/drawingml/2006/main">
              <a:ext uri="{FF2B5EF4-FFF2-40B4-BE49-F238E27FC236}">
                <a16:creationId xmlns:a16="http://schemas.microsoft.com/office/drawing/2014/main" id="{9805324D-0BBB-4912-8541-F997F7A9518B}"/>
              </a:ext>
            </a:extLst>
          </p:cNvPr>
          <p:cNvSpPr>
            <a:spLocks xmlns:a="http://schemas.openxmlformats.org/drawingml/2006/main" noGrp="1"/>
          </p:cNvSpPr>
          <p:nvPr/>
        </p:nvSpPr>
        <p:spPr>
          <a:xfrm xmlns:a="http://schemas.openxmlformats.org/drawingml/2006/main">
            <a:off x="7858125" y="2619375"/>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a:solidFill>
                  <a:srgbClr val="3D8DFF"/>
                </a:solidFill>
              </a:defRPr>
            </a:pPr>
            <a:r>
              <a:rPr sz="1650" b="0">
                <a:solidFill>
                  <a:srgbClr val="3D8DFF"/>
                </a:solidFill>
              </a:rPr>
              <a:t>GET + JWT</a:t>
            </a:r>
          </a:p>
        </p:txBody>
      </p:sp>
      <p:sp>
        <p:nvSpPr>
          <p:cNvPr id="9" name="">
            <a:extLst xmlns:a="http://schemas.openxmlformats.org/drawingml/2006/main">
              <a:ext uri="{FF2B5EF4-FFF2-40B4-BE49-F238E27FC236}">
                <a16:creationId xmlns:a16="http://schemas.microsoft.com/office/drawing/2014/main" id="{8AF7D09B-3EB9-49C2-BB90-4CBDB1F23C73}"/>
              </a:ext>
            </a:extLst>
          </p:cNvPr>
          <p:cNvSpPr>
            <a:spLocks xmlns:a="http://schemas.openxmlformats.org/drawingml/2006/main" noGrp="1"/>
          </p:cNvSpPr>
          <p:nvPr/>
        </p:nvSpPr>
        <p:spPr>
          <a:xfrm xmlns:a="http://schemas.openxmlformats.org/drawingml/2006/main">
            <a:off x="7858125" y="3105150"/>
            <a:ext cx="266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0">
                <a:solidFill>
                  <a:srgbClr val="3D8DFF"/>
                </a:solidFill>
              </a:defRPr>
            </a:pPr>
            <a:r>
              <a:rPr sz="2100" b="0">
                <a:solidFill>
                  <a:srgbClr val="3D8DFF"/>
                </a:solidFill>
              </a:rPr>
              <a:t>↓</a:t>
            </a:r>
          </a:p>
        </p:txBody>
      </p:sp>
      <p:sp>
        <p:nvSpPr>
          <p:cNvPr id="10" name="">
            <a:extLst xmlns:a="http://schemas.openxmlformats.org/drawingml/2006/main">
              <a:ext uri="{FF2B5EF4-FFF2-40B4-BE49-F238E27FC236}">
                <a16:creationId xmlns:a16="http://schemas.microsoft.com/office/drawing/2014/main" id="{A5E3FF0E-9137-4581-9083-BA4B5FA9C2F8}"/>
              </a:ext>
            </a:extLst>
          </p:cNvPr>
          <p:cNvSpPr>
            <a:spLocks xmlns:a="http://schemas.openxmlformats.org/drawingml/2006/main" noGrp="1"/>
          </p:cNvSpPr>
          <p:nvPr/>
        </p:nvSpPr>
        <p:spPr>
          <a:xfrm xmlns:a="http://schemas.openxmlformats.org/drawingml/2006/main">
            <a:off x="7858125" y="36195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a:solidFill>
                  <a:srgbClr val="111111"/>
                </a:solidFill>
              </a:defRPr>
            </a:pPr>
            <a:r>
              <a:rPr sz="2025" b="1">
                <a:solidFill>
                  <a:srgbClr val="111111"/>
                </a:solidFill>
              </a:rPr>
              <a:t>JSON 응답</a:t>
            </a:r>
          </a:p>
        </p:txBody>
      </p:sp>
      <p:sp>
        <p:nvSpPr>
          <p:cNvPr id="11" name="">
            <a:extLst xmlns:a="http://schemas.openxmlformats.org/drawingml/2006/main">
              <a:ext uri="{FF2B5EF4-FFF2-40B4-BE49-F238E27FC236}">
                <a16:creationId xmlns:a16="http://schemas.microsoft.com/office/drawing/2014/main" id="{08312743-A016-4034-8503-0F8B3A528D98}"/>
              </a:ext>
            </a:extLst>
          </p:cNvPr>
          <p:cNvSpPr>
            <a:spLocks xmlns:a="http://schemas.openxmlformats.org/drawingml/2006/main" noGrp="1"/>
          </p:cNvSpPr>
          <p:nvPr/>
        </p:nvSpPr>
        <p:spPr>
          <a:xfrm xmlns:a="http://schemas.openxmlformats.org/drawingml/2006/main">
            <a:off x="7858125" y="4105275"/>
            <a:ext cx="266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0">
                <a:solidFill>
                  <a:srgbClr val="3D8DFF"/>
                </a:solidFill>
              </a:defRPr>
            </a:pPr>
            <a:r>
              <a:rPr sz="2100" b="0">
                <a:solidFill>
                  <a:srgbClr val="3D8DFF"/>
                </a:solidFill>
              </a:rPr>
              <a:t>↓</a:t>
            </a:r>
          </a:p>
        </p:txBody>
      </p:sp>
      <p:sp>
        <p:nvSpPr>
          <p:cNvPr id="12" name="">
            <a:extLst xmlns:a="http://schemas.openxmlformats.org/drawingml/2006/main">
              <a:ext uri="{FF2B5EF4-FFF2-40B4-BE49-F238E27FC236}">
                <a16:creationId xmlns:a16="http://schemas.microsoft.com/office/drawing/2014/main" id="{1CF1F27F-0250-466C-BEB1-AAE4893C6772}"/>
              </a:ext>
            </a:extLst>
          </p:cNvPr>
          <p:cNvSpPr>
            <a:spLocks xmlns:a="http://schemas.openxmlformats.org/drawingml/2006/main" noGrp="1"/>
          </p:cNvSpPr>
          <p:nvPr/>
        </p:nvSpPr>
        <p:spPr>
          <a:xfrm xmlns:a="http://schemas.openxmlformats.org/drawingml/2006/main">
            <a:off x="7477125" y="46196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6845B"/>
                </a:solidFill>
              </a:defRPr>
            </a:pPr>
            <a:r>
              <a:rPr sz="1725" b="1">
                <a:solidFill>
                  <a:srgbClr val="16845B"/>
                </a:solidFill>
              </a:rPr>
              <a:t>MATCHED면 화면 이동</a:t>
            </a:r>
          </a:p>
        </p:txBody>
      </p:sp>
      <p:sp>
        <p:nvSpPr>
          <p:cNvPr id="13" name="">
            <a:extLst xmlns:a="http://schemas.openxmlformats.org/drawingml/2006/main">
              <a:ext uri="{FF2B5EF4-FFF2-40B4-BE49-F238E27FC236}">
                <a16:creationId xmlns:a16="http://schemas.microsoft.com/office/drawing/2014/main" id="{DFF8D06F-A604-42CC-BDFC-0CDE0758AB7F}"/>
              </a:ext>
            </a:extLst>
          </p:cNvPr>
          <p:cNvSpPr>
            <a:spLocks xmlns:a="http://schemas.openxmlformats.org/drawingml/2006/main" noGrp="1"/>
          </p:cNvSpPr>
          <p:nvPr/>
        </p:nvSpPr>
        <p:spPr>
          <a:xfrm xmlns:a="http://schemas.openxmlformats.org/drawingml/2006/main">
            <a:off x="990600" y="5619750"/>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11111"/>
                </a:solidFill>
              </a:defRPr>
            </a:pPr>
            <a:r>
              <a:rPr sz="1875" b="1">
                <a:solidFill>
                  <a:srgbClr val="111111"/>
                </a:solidFill>
              </a:rPr>
              <a:t>fetch는 REST가 아니라, 브라우저가 REST API를 호출하는 도구다.</a:t>
            </a:r>
          </a:p>
        </p:txBody>
      </p:sp>
      <p:sp>
        <p:nvSpPr>
          <p:cNvPr id="14" name="">
            <a:extLst xmlns:a="http://schemas.openxmlformats.org/drawingml/2006/main">
              <a:ext uri="{FF2B5EF4-FFF2-40B4-BE49-F238E27FC236}">
                <a16:creationId xmlns:a16="http://schemas.microsoft.com/office/drawing/2014/main" id="{88882FF3-E40D-4594-BDF3-920BADE3F7DC}"/>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0656F"/>
                </a:solidFill>
              </a:defRPr>
            </a:pPr>
            <a:r>
              <a:rPr sz="900" b="0">
                <a:solidFill>
                  <a:srgbClr val="60656F"/>
                </a:solidFill>
              </a:rPr>
              <a:t>실제 프로젝트 코드 기반</a:t>
            </a:r>
          </a:p>
        </p:txBody>
      </p:sp>
    </p:spTree>
    <p:extLst>
      <p:ext uri="{BB962C8B-B14F-4D97-AF65-F5344CB8AC3E}">
        <p14:creationId xmlns:p14="http://schemas.microsoft.com/office/powerpoint/2010/main" val="470570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805C654-1E6D-44E4-9218-F6574EC60CC0}"/>
              </a:ext>
            </a:extLst>
          </p:cNvPr>
          <p:cNvSpPr>
            <a:spLocks xmlns:a="http://schemas.openxmlformats.org/drawingml/2006/main" noGrp="1"/>
          </p:cNvSpPr>
          <p:nvPr/>
        </p:nvSpPr>
        <p:spPr>
          <a:xfrm xmlns:a="http://schemas.openxmlformats.org/drawingml/2006/main">
            <a:off x="60960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51571DF4-4161-4A96-939F-0E95C7066687}"/>
              </a:ext>
            </a:extLst>
          </p:cNvPr>
          <p:cNvSpPr>
            <a:spLocks xmlns:a="http://schemas.openxmlformats.org/drawingml/2006/main" noGrp="1"/>
          </p:cNvSpPr>
          <p:nvPr/>
        </p:nvSpPr>
        <p:spPr>
          <a:xfrm xmlns:a="http://schemas.openxmlformats.org/drawingml/2006/main">
            <a:off x="609600" y="7143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defRPr>
            </a:pPr>
            <a:r>
              <a:rPr sz="2850" b="1">
                <a:solidFill>
                  <a:srgbClr val="111111"/>
                </a:solidFill>
              </a:rPr>
              <a:t>취소는 조회와 명령을 분리하고 원자적으로 처리한다</a:t>
            </a:r>
          </a:p>
        </p:txBody>
      </p:sp>
      <p:sp>
        <p:nvSpPr>
          <p:cNvPr id="3" name="">
            <a:extLst xmlns:a="http://schemas.openxmlformats.org/drawingml/2006/main">
              <a:ext uri="{FF2B5EF4-FFF2-40B4-BE49-F238E27FC236}">
                <a16:creationId xmlns:a16="http://schemas.microsoft.com/office/drawing/2014/main" id="{C121F8BB-BCC3-4F56-802E-51A0BEFD2178}"/>
              </a:ext>
            </a:extLst>
          </p:cNvPr>
          <p:cNvSpPr>
            <a:spLocks xmlns:a="http://schemas.openxmlformats.org/drawingml/2006/main" noGrp="1"/>
          </p:cNvSpPr>
          <p:nvPr/>
        </p:nvSpPr>
        <p:spPr>
          <a:xfrm xmlns:a="http://schemas.openxmlformats.org/drawingml/2006/main">
            <a:off x="11353800" y="4000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60656F"/>
                </a:solidFill>
              </a:defRPr>
            </a:pPr>
            <a:r>
              <a:rPr sz="975" b="1">
                <a:solidFill>
                  <a:srgbClr val="60656F"/>
                </a:solidFill>
              </a:rPr>
              <a:t>06</a:t>
            </a:r>
          </a:p>
        </p:txBody>
      </p:sp>
      <p:sp>
        <p:nvSpPr>
          <p:cNvPr id="4" name="">
            <a:extLst xmlns:a="http://schemas.openxmlformats.org/drawingml/2006/main">
              <a:ext uri="{FF2B5EF4-FFF2-40B4-BE49-F238E27FC236}">
                <a16:creationId xmlns:a16="http://schemas.microsoft.com/office/drawing/2014/main" id="{9AEE6020-0D91-4E23-B712-CCDDD09556EA}"/>
              </a:ext>
            </a:extLst>
          </p:cNvPr>
          <p:cNvSpPr>
            <a:spLocks xmlns:a="http://schemas.openxmlformats.org/drawingml/2006/main" noGrp="1"/>
          </p:cNvSpPr>
          <p:nvPr/>
        </p:nvSpPr>
        <p:spPr>
          <a:xfrm xmlns:a="http://schemas.openxmlformats.org/drawingml/2006/main">
            <a:off x="609600" y="1400175"/>
            <a:ext cx="109728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9478B7-FBF4-4570-B600-94147F519505}"/>
              </a:ext>
            </a:extLst>
          </p:cNvPr>
          <p:cNvSpPr>
            <a:spLocks xmlns:a="http://schemas.openxmlformats.org/drawingml/2006/main" noGrp="1"/>
          </p:cNvSpPr>
          <p:nvPr/>
        </p:nvSpPr>
        <p:spPr>
          <a:xfrm xmlns:a="http://schemas.openxmlformats.org/drawingml/2006/main">
            <a:off x="742950" y="18573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defRPr>
            </a:pPr>
            <a:r>
              <a:rPr sz="2250" b="1">
                <a:solidFill>
                  <a:srgbClr val="3D8DFF"/>
                </a:solidFill>
              </a:rPr>
              <a:t>1</a:t>
            </a:r>
          </a:p>
        </p:txBody>
      </p:sp>
      <p:sp>
        <p:nvSpPr>
          <p:cNvPr id="6" name="">
            <a:extLst xmlns:a="http://schemas.openxmlformats.org/drawingml/2006/main">
              <a:ext uri="{FF2B5EF4-FFF2-40B4-BE49-F238E27FC236}">
                <a16:creationId xmlns:a16="http://schemas.microsoft.com/office/drawing/2014/main" id="{F005C553-12BB-4C50-B3F6-AB6C204C69E6}"/>
              </a:ext>
            </a:extLst>
          </p:cNvPr>
          <p:cNvSpPr>
            <a:spLocks xmlns:a="http://schemas.openxmlformats.org/drawingml/2006/main" noGrp="1"/>
          </p:cNvSpPr>
          <p:nvPr/>
        </p:nvSpPr>
        <p:spPr>
          <a:xfrm xmlns:a="http://schemas.openxmlformats.org/drawingml/2006/main">
            <a:off x="1314450" y="18097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111"/>
                </a:solidFill>
              </a:defRPr>
            </a:pPr>
            <a:r>
              <a:rPr sz="1800" b="1">
                <a:solidFill>
                  <a:srgbClr val="111111"/>
                </a:solidFill>
              </a:rPr>
              <a:t>GET  /{id}/cancellation-preview</a:t>
            </a:r>
          </a:p>
        </p:txBody>
      </p:sp>
      <p:sp>
        <p:nvSpPr>
          <p:cNvPr id="7" name="">
            <a:extLst xmlns:a="http://schemas.openxmlformats.org/drawingml/2006/main">
              <a:ext uri="{FF2B5EF4-FFF2-40B4-BE49-F238E27FC236}">
                <a16:creationId xmlns:a16="http://schemas.microsoft.com/office/drawing/2014/main" id="{C4FC5838-303D-466B-B46D-59C9BF56FE51}"/>
              </a:ext>
            </a:extLst>
          </p:cNvPr>
          <p:cNvSpPr>
            <a:spLocks xmlns:a="http://schemas.openxmlformats.org/drawingml/2006/main" noGrp="1"/>
          </p:cNvSpPr>
          <p:nvPr/>
        </p:nvSpPr>
        <p:spPr>
          <a:xfrm xmlns:a="http://schemas.openxmlformats.org/drawingml/2006/main">
            <a:off x="1314450" y="22288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0656F"/>
                </a:solidFill>
              </a:defRPr>
            </a:pPr>
            <a:r>
              <a:rPr sz="1350" b="0">
                <a:solidFill>
                  <a:srgbClr val="60656F"/>
                </a:solidFill>
              </a:rPr>
              <a:t>수수료·예상 환불액만 조회</a:t>
            </a:r>
          </a:p>
        </p:txBody>
      </p:sp>
      <p:sp>
        <p:nvSpPr>
          <p:cNvPr id="8" name="">
            <a:extLst xmlns:a="http://schemas.openxmlformats.org/drawingml/2006/main">
              <a:ext uri="{FF2B5EF4-FFF2-40B4-BE49-F238E27FC236}">
                <a16:creationId xmlns:a16="http://schemas.microsoft.com/office/drawing/2014/main" id="{3F23C3BE-9171-4124-A02D-02037CE4F999}"/>
              </a:ext>
            </a:extLst>
          </p:cNvPr>
          <p:cNvSpPr>
            <a:spLocks xmlns:a="http://schemas.openxmlformats.org/drawingml/2006/main" noGrp="1"/>
          </p:cNvSpPr>
          <p:nvPr/>
        </p:nvSpPr>
        <p:spPr>
          <a:xfrm xmlns:a="http://schemas.openxmlformats.org/drawingml/2006/main">
            <a:off x="723900" y="2705100"/>
            <a:ext cx="5143500" cy="19050"/>
          </a:xfrm>
          <a:prstGeom xmlns:a="http://schemas.openxmlformats.org/drawingml/2006/main" prst="rect">
            <a:avLst/>
          </a:prstGeom>
          <a:solidFill xmlns:a="http://schemas.openxmlformats.org/drawingml/2006/main">
            <a:srgbClr val="BCC2C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01A0CBF-E0E1-48B0-BF4A-61748263E4BD}"/>
              </a:ext>
            </a:extLst>
          </p:cNvPr>
          <p:cNvSpPr>
            <a:spLocks xmlns:a="http://schemas.openxmlformats.org/drawingml/2006/main" noGrp="1"/>
          </p:cNvSpPr>
          <p:nvPr/>
        </p:nvSpPr>
        <p:spPr>
          <a:xfrm xmlns:a="http://schemas.openxmlformats.org/drawingml/2006/main">
            <a:off x="742950" y="3009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defRPr>
            </a:pPr>
            <a:r>
              <a:rPr sz="2250" b="1">
                <a:solidFill>
                  <a:srgbClr val="3D8DFF"/>
                </a:solidFill>
              </a:rPr>
              <a:t>2</a:t>
            </a:r>
          </a:p>
        </p:txBody>
      </p:sp>
      <p:sp>
        <p:nvSpPr>
          <p:cNvPr id="10" name="">
            <a:extLst xmlns:a="http://schemas.openxmlformats.org/drawingml/2006/main">
              <a:ext uri="{FF2B5EF4-FFF2-40B4-BE49-F238E27FC236}">
                <a16:creationId xmlns:a16="http://schemas.microsoft.com/office/drawing/2014/main" id="{3C9FD5C5-84C9-4BCE-ACA5-6A9551552D26}"/>
              </a:ext>
            </a:extLst>
          </p:cNvPr>
          <p:cNvSpPr>
            <a:spLocks xmlns:a="http://schemas.openxmlformats.org/drawingml/2006/main" noGrp="1"/>
          </p:cNvSpPr>
          <p:nvPr/>
        </p:nvSpPr>
        <p:spPr>
          <a:xfrm xmlns:a="http://schemas.openxmlformats.org/drawingml/2006/main">
            <a:off x="1314450" y="29622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111"/>
                </a:solidFill>
              </a:defRPr>
            </a:pPr>
            <a:r>
              <a:rPr sz="1800" b="1">
                <a:solidFill>
                  <a:srgbClr val="111111"/>
                </a:solidFill>
              </a:rPr>
              <a:t>POST  /{id}/cancel</a:t>
            </a:r>
          </a:p>
        </p:txBody>
      </p:sp>
      <p:sp>
        <p:nvSpPr>
          <p:cNvPr id="11" name="">
            <a:extLst xmlns:a="http://schemas.openxmlformats.org/drawingml/2006/main">
              <a:ext uri="{FF2B5EF4-FFF2-40B4-BE49-F238E27FC236}">
                <a16:creationId xmlns:a16="http://schemas.microsoft.com/office/drawing/2014/main" id="{93A7AB49-A48A-4C24-B718-E2B6C5B0CD4F}"/>
              </a:ext>
            </a:extLst>
          </p:cNvPr>
          <p:cNvSpPr>
            <a:spLocks xmlns:a="http://schemas.openxmlformats.org/drawingml/2006/main" noGrp="1"/>
          </p:cNvSpPr>
          <p:nvPr/>
        </p:nvSpPr>
        <p:spPr>
          <a:xfrm xmlns:a="http://schemas.openxmlformats.org/drawingml/2006/main">
            <a:off x="1314450" y="3381375"/>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0656F"/>
                </a:solidFill>
              </a:defRPr>
            </a:pPr>
            <a:r>
              <a:rPr sz="1350" b="0">
                <a:solidFill>
                  <a:srgbClr val="60656F"/>
                </a:solidFill>
              </a:rPr>
              <a:t>취소·환불·배송원 보상·상태 변경</a:t>
            </a:r>
          </a:p>
        </p:txBody>
      </p:sp>
      <p:sp>
        <p:nvSpPr>
          <p:cNvPr id="12" name="">
            <a:extLst xmlns:a="http://schemas.openxmlformats.org/drawingml/2006/main">
              <a:ext uri="{FF2B5EF4-FFF2-40B4-BE49-F238E27FC236}">
                <a16:creationId xmlns:a16="http://schemas.microsoft.com/office/drawing/2014/main" id="{F2B3D5AE-56E8-45F5-978D-8E680BBE9D68}"/>
              </a:ext>
            </a:extLst>
          </p:cNvPr>
          <p:cNvSpPr>
            <a:spLocks xmlns:a="http://schemas.openxmlformats.org/drawingml/2006/main" noGrp="1"/>
          </p:cNvSpPr>
          <p:nvPr/>
        </p:nvSpPr>
        <p:spPr>
          <a:xfrm xmlns:a="http://schemas.openxmlformats.org/drawingml/2006/main">
            <a:off x="6381750" y="1695450"/>
            <a:ext cx="19050" cy="3429000"/>
          </a:xfrm>
          <a:prstGeom xmlns:a="http://schemas.openxmlformats.org/drawingml/2006/main" prst="rect">
            <a:avLst/>
          </a:prstGeom>
          <a:solidFill xmlns:a="http://schemas.openxmlformats.org/drawingml/2006/main">
            <a:srgbClr val="BCC2C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F9863D2-F6BE-4193-9CB0-F832DEE17B7A}"/>
              </a:ext>
            </a:extLst>
          </p:cNvPr>
          <p:cNvSpPr>
            <a:spLocks xmlns:a="http://schemas.openxmlformats.org/drawingml/2006/main" noGrp="1"/>
          </p:cNvSpPr>
          <p:nvPr/>
        </p:nvSpPr>
        <p:spPr>
          <a:xfrm xmlns:a="http://schemas.openxmlformats.org/drawingml/2006/main">
            <a:off x="6915150" y="180975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6845B"/>
                </a:solidFill>
              </a:defRPr>
            </a:pPr>
            <a:r>
              <a:rPr sz="2250" b="1">
                <a:solidFill>
                  <a:srgbClr val="16845B"/>
                </a:solidFill>
              </a:rPr>
              <a:t>@Transactional</a:t>
            </a:r>
          </a:p>
        </p:txBody>
      </p:sp>
      <p:sp>
        <p:nvSpPr>
          <p:cNvPr id="14" name="">
            <a:extLst xmlns:a="http://schemas.openxmlformats.org/drawingml/2006/main">
              <a:ext uri="{FF2B5EF4-FFF2-40B4-BE49-F238E27FC236}">
                <a16:creationId xmlns:a16="http://schemas.microsoft.com/office/drawing/2014/main" id="{A964A7AE-EA29-42E1-B1D4-91384319808E}"/>
              </a:ext>
            </a:extLst>
          </p:cNvPr>
          <p:cNvSpPr>
            <a:spLocks xmlns:a="http://schemas.openxmlformats.org/drawingml/2006/main" noGrp="1"/>
          </p:cNvSpPr>
          <p:nvPr/>
        </p:nvSpPr>
        <p:spPr>
          <a:xfrm xmlns:a="http://schemas.openxmlformats.org/drawingml/2006/main">
            <a:off x="6915150" y="2476500"/>
            <a:ext cx="4286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11111"/>
                </a:solidFill>
              </a:defRPr>
            </a:pPr>
            <a:r>
              <a:rPr sz="1575" b="0">
                <a:solidFill>
                  <a:srgbClr val="111111"/>
                </a:solidFill>
              </a:rPr>
              <a:t>• 비관적 락으로 동시 변경 차단</a:t>
            </a:r>
          </a:p>
          <a:p xmlns:a="http://schemas.openxmlformats.org/drawingml/2006/main">
            <a:pPr algn="l">
              <a:defRPr sz="1575" b="0">
                <a:solidFill>
                  <a:srgbClr val="111111"/>
                </a:solidFill>
              </a:defRPr>
            </a:pPr>
            <a:r>
              <a:rPr sz="1575" b="0">
                <a:solidFill>
                  <a:srgbClr val="111111"/>
                </a:solidFill>
              </a:rPr>
              <a:t>• 중간 실패 시 전체 롤백</a:t>
            </a:r>
          </a:p>
          <a:p xmlns:a="http://schemas.openxmlformats.org/drawingml/2006/main">
            <a:pPr algn="l">
              <a:defRPr sz="1575" b="0">
                <a:solidFill>
                  <a:srgbClr val="111111"/>
                </a:solidFill>
              </a:defRPr>
            </a:pPr>
            <a:r>
              <a:rPr sz="1575" b="0">
                <a:solidFill>
                  <a:srgbClr val="111111"/>
                </a:solidFill>
              </a:rPr>
              <a:t>• 중복 요청에도 이중 환불 방지</a:t>
            </a:r>
          </a:p>
          <a:p xmlns:a="http://schemas.openxmlformats.org/drawingml/2006/main">
            <a:pPr algn="l">
              <a:defRPr sz="1575" b="0">
                <a:solidFill>
                  <a:srgbClr val="111111"/>
                </a:solidFill>
              </a:defRPr>
            </a:pPr>
            <a:r>
              <a:rPr sz="1575" b="0">
                <a:solidFill>
                  <a:srgbClr val="111111"/>
                </a:solidFill>
              </a:rPr>
              <a:t>• 상태 충돌은 409 Conflict</a:t>
            </a:r>
          </a:p>
        </p:txBody>
      </p:sp>
      <p:sp>
        <p:nvSpPr>
          <p:cNvPr id="15" name="">
            <a:extLst xmlns:a="http://schemas.openxmlformats.org/drawingml/2006/main">
              <a:ext uri="{FF2B5EF4-FFF2-40B4-BE49-F238E27FC236}">
                <a16:creationId xmlns:a16="http://schemas.microsoft.com/office/drawing/2014/main" id="{8329FA42-6CAF-4173-98F3-9414C0242131}"/>
              </a:ext>
            </a:extLst>
          </p:cNvPr>
          <p:cNvSpPr>
            <a:spLocks xmlns:a="http://schemas.openxmlformats.org/drawingml/2006/main" noGrp="1"/>
          </p:cNvSpPr>
          <p:nvPr/>
        </p:nvSpPr>
        <p:spPr>
          <a:xfrm xmlns:a="http://schemas.openxmlformats.org/drawingml/2006/main">
            <a:off x="6915150" y="4381500"/>
            <a:ext cx="4000500" cy="685800"/>
          </a:xfrm>
          <a:prstGeom xmlns:a="http://schemas.openxmlformats.org/drawingml/2006/main" prst="rect">
            <a:avLst/>
          </a:prstGeom>
          <a:solidFill xmlns:a="http://schemas.openxmlformats.org/drawingml/2006/main">
            <a:srgbClr val="DDF3F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D7138A2-E94F-4171-A606-8FBDAF2A90F7}"/>
              </a:ext>
            </a:extLst>
          </p:cNvPr>
          <p:cNvSpPr>
            <a:spLocks xmlns:a="http://schemas.openxmlformats.org/drawingml/2006/main" noGrp="1"/>
          </p:cNvSpPr>
          <p:nvPr/>
        </p:nvSpPr>
        <p:spPr>
          <a:xfrm xmlns:a="http://schemas.openxmlformats.org/drawingml/2006/main">
            <a:off x="7105650" y="45720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111"/>
                </a:solidFill>
              </a:defRPr>
            </a:pPr>
            <a:r>
              <a:rPr sz="1350" b="1">
                <a:solidFill>
                  <a:srgbClr val="111111"/>
                </a:solidFill>
              </a:rPr>
              <a:t>GlobalExceptionHandler → 공통 ErrorResponse</a:t>
            </a:r>
          </a:p>
        </p:txBody>
      </p:sp>
      <p:sp>
        <p:nvSpPr>
          <p:cNvPr id="17" name="">
            <a:extLst xmlns:a="http://schemas.openxmlformats.org/drawingml/2006/main">
              <a:ext uri="{FF2B5EF4-FFF2-40B4-BE49-F238E27FC236}">
                <a16:creationId xmlns:a16="http://schemas.microsoft.com/office/drawing/2014/main" id="{12EA2D5B-BC66-446F-BECE-23D342AA9EF4}"/>
              </a:ext>
            </a:extLst>
          </p:cNvPr>
          <p:cNvSpPr>
            <a:spLocks xmlns:a="http://schemas.openxmlformats.org/drawingml/2006/main" noGrp="1"/>
          </p:cNvSpPr>
          <p:nvPr/>
        </p:nvSpPr>
        <p:spPr>
          <a:xfrm xmlns:a="http://schemas.openxmlformats.org/drawingml/2006/main">
            <a:off x="1524000" y="5572125"/>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11111"/>
                </a:solidFill>
              </a:defRPr>
            </a:pPr>
            <a:r>
              <a:rPr sz="1950" b="1">
                <a:solidFill>
                  <a:srgbClr val="111111"/>
                </a:solidFill>
              </a:rPr>
              <a:t>단순 DELETE가 아니라 정산을 포함한 도메인 명령</a:t>
            </a:r>
          </a:p>
        </p:txBody>
      </p:sp>
      <p:sp>
        <p:nvSpPr>
          <p:cNvPr id="18" name="">
            <a:extLst xmlns:a="http://schemas.openxmlformats.org/drawingml/2006/main">
              <a:ext uri="{FF2B5EF4-FFF2-40B4-BE49-F238E27FC236}">
                <a16:creationId xmlns:a16="http://schemas.microsoft.com/office/drawing/2014/main" id="{BE074842-E800-4F5B-815E-7BEE4D79329A}"/>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0656F"/>
                </a:solidFill>
              </a:defRPr>
            </a:pPr>
            <a:r>
              <a:rPr sz="900" b="0">
                <a:solidFill>
                  <a:srgbClr val="60656F"/>
                </a:solidFill>
              </a:rPr>
              <a:t>실제 프로젝트 코드 기반</a:t>
            </a:r>
          </a:p>
        </p:txBody>
      </p:sp>
    </p:spTree>
    <p:extLst>
      <p:ext uri="{BB962C8B-B14F-4D97-AF65-F5344CB8AC3E}">
        <p14:creationId xmlns:p14="http://schemas.microsoft.com/office/powerpoint/2010/main" val="5063674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D0B743A-4BF7-4B22-A90D-A014F80578BC}"/>
              </a:ext>
            </a:extLst>
          </p:cNvPr>
          <p:cNvSpPr>
            <a:spLocks xmlns:a="http://schemas.openxmlformats.org/drawingml/2006/main" noGrp="1"/>
          </p:cNvSpPr>
          <p:nvPr/>
        </p:nvSpPr>
        <p:spPr>
          <a:xfrm xmlns:a="http://schemas.openxmlformats.org/drawingml/2006/main">
            <a:off x="60960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C29113FA-E644-4E17-ABD9-67D7EA1FC53D}"/>
              </a:ext>
            </a:extLst>
          </p:cNvPr>
          <p:cNvSpPr>
            <a:spLocks xmlns:a="http://schemas.openxmlformats.org/drawingml/2006/main" noGrp="1"/>
          </p:cNvSpPr>
          <p:nvPr/>
        </p:nvSpPr>
        <p:spPr>
          <a:xfrm xmlns:a="http://schemas.openxmlformats.org/drawingml/2006/main">
            <a:off x="609600" y="7143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defRPr>
            </a:pPr>
            <a:r>
              <a:rPr sz="2850" b="1">
                <a:solidFill>
                  <a:srgbClr val="111111"/>
                </a:solidFill>
              </a:rPr>
              <a:t>현재는 단순성을 택했고, HATEOAS는 확장 선택지다</a:t>
            </a:r>
          </a:p>
        </p:txBody>
      </p:sp>
      <p:sp>
        <p:nvSpPr>
          <p:cNvPr id="3" name="">
            <a:extLst xmlns:a="http://schemas.openxmlformats.org/drawingml/2006/main">
              <a:ext uri="{FF2B5EF4-FFF2-40B4-BE49-F238E27FC236}">
                <a16:creationId xmlns:a16="http://schemas.microsoft.com/office/drawing/2014/main" id="{42842363-9991-46FA-B13C-4E608D0B0BA7}"/>
              </a:ext>
            </a:extLst>
          </p:cNvPr>
          <p:cNvSpPr>
            <a:spLocks xmlns:a="http://schemas.openxmlformats.org/drawingml/2006/main" noGrp="1"/>
          </p:cNvSpPr>
          <p:nvPr/>
        </p:nvSpPr>
        <p:spPr>
          <a:xfrm xmlns:a="http://schemas.openxmlformats.org/drawingml/2006/main">
            <a:off x="11353800" y="4000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60656F"/>
                </a:solidFill>
              </a:defRPr>
            </a:pPr>
            <a:r>
              <a:rPr sz="975" b="1">
                <a:solidFill>
                  <a:srgbClr val="60656F"/>
                </a:solidFill>
              </a:rPr>
              <a:t>07</a:t>
            </a:r>
          </a:p>
        </p:txBody>
      </p:sp>
      <p:sp>
        <p:nvSpPr>
          <p:cNvPr id="4" name="">
            <a:extLst xmlns:a="http://schemas.openxmlformats.org/drawingml/2006/main">
              <a:ext uri="{FF2B5EF4-FFF2-40B4-BE49-F238E27FC236}">
                <a16:creationId xmlns:a16="http://schemas.microsoft.com/office/drawing/2014/main" id="{DD4EAD6D-5042-413E-9A36-45DEA2FD3916}"/>
              </a:ext>
            </a:extLst>
          </p:cNvPr>
          <p:cNvSpPr>
            <a:spLocks xmlns:a="http://schemas.openxmlformats.org/drawingml/2006/main" noGrp="1"/>
          </p:cNvSpPr>
          <p:nvPr/>
        </p:nvSpPr>
        <p:spPr>
          <a:xfrm xmlns:a="http://schemas.openxmlformats.org/drawingml/2006/main">
            <a:off x="609600" y="1400175"/>
            <a:ext cx="109728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B035F78-ED59-4EBB-B711-CA656C006110}"/>
              </a:ext>
            </a:extLst>
          </p:cNvPr>
          <p:cNvSpPr>
            <a:spLocks xmlns:a="http://schemas.openxmlformats.org/drawingml/2006/main" noGrp="1"/>
          </p:cNvSpPr>
          <p:nvPr/>
        </p:nvSpPr>
        <p:spPr>
          <a:xfrm xmlns:a="http://schemas.openxmlformats.org/drawingml/2006/main">
            <a:off x="723900" y="1809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defRPr>
            </a:pPr>
            <a:r>
              <a:rPr sz="1950" b="1">
                <a:solidFill>
                  <a:srgbClr val="111111"/>
                </a:solidFill>
              </a:rPr>
              <a:t>현재 구현</a:t>
            </a:r>
          </a:p>
        </p:txBody>
      </p:sp>
      <p:sp>
        <p:nvSpPr>
          <p:cNvPr id="6" name="">
            <a:extLst xmlns:a="http://schemas.openxmlformats.org/drawingml/2006/main">
              <a:ext uri="{FF2B5EF4-FFF2-40B4-BE49-F238E27FC236}">
                <a16:creationId xmlns:a16="http://schemas.microsoft.com/office/drawing/2014/main" id="{0D78F8F5-D9EF-426C-B1BD-F374A063900E}"/>
              </a:ext>
            </a:extLst>
          </p:cNvPr>
          <p:cNvSpPr>
            <a:spLocks xmlns:a="http://schemas.openxmlformats.org/drawingml/2006/main" noGrp="1"/>
          </p:cNvSpPr>
          <p:nvPr/>
        </p:nvSpPr>
        <p:spPr>
          <a:xfrm xmlns:a="http://schemas.openxmlformats.org/drawingml/2006/main">
            <a:off x="685800" y="2266950"/>
            <a:ext cx="4857750" cy="1428750"/>
          </a:xfrm>
          <a:prstGeom xmlns:a="http://schemas.openxmlformats.org/drawingml/2006/main" prst="roundRect">
            <a:avLst>
              <a:gd name="adj" fmla="val 8000"/>
            </a:avLst>
          </a:prstGeom>
          <a:solidFill xmlns:a="http://schemas.openxmlformats.org/drawingml/2006/main">
            <a:srgbClr val="111827"/>
          </a:solidFill>
          <a:ln xmlns:a="http://schemas.openxmlformats.org/drawingml/2006/main" w="9525">
            <a:solidFill>
              <a:srgbClr val="111827"/>
            </a:solidFill>
            <a:prstDash val="solid"/>
          </a:ln>
        </p:spPr>
      </p:sp>
      <p:sp>
        <p:nvSpPr>
          <p:cNvPr id="7" name="">
            <a:extLst xmlns:a="http://schemas.openxmlformats.org/drawingml/2006/main">
              <a:ext uri="{FF2B5EF4-FFF2-40B4-BE49-F238E27FC236}">
                <a16:creationId xmlns:a16="http://schemas.microsoft.com/office/drawing/2014/main" id="{058ACE17-1075-482D-8438-1B0C14142524}"/>
              </a:ext>
            </a:extLst>
          </p:cNvPr>
          <p:cNvSpPr>
            <a:spLocks xmlns:a="http://schemas.openxmlformats.org/drawingml/2006/main" noGrp="1"/>
          </p:cNvSpPr>
          <p:nvPr/>
        </p:nvSpPr>
        <p:spPr>
          <a:xfrm xmlns:a="http://schemas.openxmlformats.org/drawingml/2006/main">
            <a:off x="914400" y="2457450"/>
            <a:ext cx="4400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E5EEF9"/>
                </a:solidFill>
              </a:defRPr>
            </a:pPr>
            <a:r>
              <a:rPr sz="1350" b="0">
                <a:solidFill>
                  <a:srgbClr val="E5EEF9"/>
                </a:solidFill>
              </a:rPr>
              <a:t>fetch(</a:t>
            </a:r>
          </a:p>
          <a:p xmlns:a="http://schemas.openxmlformats.org/drawingml/2006/main">
            <a:pPr algn="l">
              <a:defRPr sz="1350" b="0">
                <a:solidFill>
                  <a:srgbClr val="E5EEF9"/>
                </a:solidFill>
              </a:defRPr>
            </a:pPr>
            <a:r>
              <a:rPr sz="1350" b="0">
                <a:solidFill>
                  <a:srgbClr val="E5EEF9"/>
                </a:solidFill>
              </a:rPr>
              <a:t>  `/delivery-requests/${id}/cancel`,</a:t>
            </a:r>
          </a:p>
          <a:p xmlns:a="http://schemas.openxmlformats.org/drawingml/2006/main">
            <a:pPr algn="l">
              <a:defRPr sz="1350" b="0">
                <a:solidFill>
                  <a:srgbClr val="E5EEF9"/>
                </a:solidFill>
              </a:defRPr>
            </a:pPr>
            <a:r>
              <a:rPr sz="1350" b="0">
                <a:solidFill>
                  <a:srgbClr val="E5EEF9"/>
                </a:solidFill>
              </a:rPr>
              <a:t>  { method: 'POST' }</a:t>
            </a:r>
          </a:p>
          <a:p xmlns:a="http://schemas.openxmlformats.org/drawingml/2006/main">
            <a:pPr algn="l">
              <a:defRPr sz="1350" b="0">
                <a:solidFill>
                  <a:srgbClr val="E5EEF9"/>
                </a:solidFill>
              </a:defRPr>
            </a:pPr>
            <a:r>
              <a:rPr sz="1350" b="0">
                <a:solidFill>
                  <a:srgbClr val="E5EEF9"/>
                </a:solidFill>
              </a:rPr>
              <a:t>);</a:t>
            </a:r>
          </a:p>
        </p:txBody>
      </p:sp>
      <p:sp>
        <p:nvSpPr>
          <p:cNvPr id="8" name="">
            <a:extLst xmlns:a="http://schemas.openxmlformats.org/drawingml/2006/main">
              <a:ext uri="{FF2B5EF4-FFF2-40B4-BE49-F238E27FC236}">
                <a16:creationId xmlns:a16="http://schemas.microsoft.com/office/drawing/2014/main" id="{DD57A460-CEE2-4228-8293-AC3342E43DE8}"/>
              </a:ext>
            </a:extLst>
          </p:cNvPr>
          <p:cNvSpPr>
            <a:spLocks xmlns:a="http://schemas.openxmlformats.org/drawingml/2006/main" noGrp="1"/>
          </p:cNvSpPr>
          <p:nvPr/>
        </p:nvSpPr>
        <p:spPr>
          <a:xfrm xmlns:a="http://schemas.openxmlformats.org/drawingml/2006/main">
            <a:off x="1047750" y="39433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60656F"/>
                </a:solidFill>
              </a:defRPr>
            </a:pPr>
            <a:r>
              <a:rPr sz="1500" b="0">
                <a:solidFill>
                  <a:srgbClr val="60656F"/>
                </a:solidFill>
              </a:rPr>
              <a:t>프론트가 URL을 직접 구성</a:t>
            </a:r>
          </a:p>
        </p:txBody>
      </p:sp>
      <p:sp>
        <p:nvSpPr>
          <p:cNvPr id="9" name="">
            <a:extLst xmlns:a="http://schemas.openxmlformats.org/drawingml/2006/main">
              <a:ext uri="{FF2B5EF4-FFF2-40B4-BE49-F238E27FC236}">
                <a16:creationId xmlns:a16="http://schemas.microsoft.com/office/drawing/2014/main" id="{3F470996-D9FD-464A-9036-55E06F9771FD}"/>
              </a:ext>
            </a:extLst>
          </p:cNvPr>
          <p:cNvSpPr>
            <a:spLocks xmlns:a="http://schemas.openxmlformats.org/drawingml/2006/main" noGrp="1"/>
          </p:cNvSpPr>
          <p:nvPr/>
        </p:nvSpPr>
        <p:spPr>
          <a:xfrm xmlns:a="http://schemas.openxmlformats.org/drawingml/2006/main">
            <a:off x="6705600" y="18097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defRPr>
            </a:pPr>
            <a:r>
              <a:rPr sz="1950" b="1">
                <a:solidFill>
                  <a:srgbClr val="111111"/>
                </a:solidFill>
              </a:rPr>
              <a:t>HATEOAS 적용 예시</a:t>
            </a:r>
          </a:p>
        </p:txBody>
      </p:sp>
      <p:sp>
        <p:nvSpPr>
          <p:cNvPr id="10" name="">
            <a:extLst xmlns:a="http://schemas.openxmlformats.org/drawingml/2006/main">
              <a:ext uri="{FF2B5EF4-FFF2-40B4-BE49-F238E27FC236}">
                <a16:creationId xmlns:a16="http://schemas.microsoft.com/office/drawing/2014/main" id="{6E464BD5-3227-44F1-8B4C-657823F6E3CE}"/>
              </a:ext>
            </a:extLst>
          </p:cNvPr>
          <p:cNvSpPr>
            <a:spLocks xmlns:a="http://schemas.openxmlformats.org/drawingml/2006/main" noGrp="1"/>
          </p:cNvSpPr>
          <p:nvPr/>
        </p:nvSpPr>
        <p:spPr>
          <a:xfrm xmlns:a="http://schemas.openxmlformats.org/drawingml/2006/main">
            <a:off x="6648450" y="2266950"/>
            <a:ext cx="4857750" cy="1428750"/>
          </a:xfrm>
          <a:prstGeom xmlns:a="http://schemas.openxmlformats.org/drawingml/2006/main" prst="roundRect">
            <a:avLst>
              <a:gd name="adj" fmla="val 8000"/>
            </a:avLst>
          </a:prstGeom>
          <a:solidFill xmlns:a="http://schemas.openxmlformats.org/drawingml/2006/main">
            <a:srgbClr val="111827"/>
          </a:solidFill>
          <a:ln xmlns:a="http://schemas.openxmlformats.org/drawingml/2006/main" w="9525">
            <a:solidFill>
              <a:srgbClr val="111827"/>
            </a:solidFill>
            <a:prstDash val="solid"/>
          </a:ln>
        </p:spPr>
      </p:sp>
      <p:sp>
        <p:nvSpPr>
          <p:cNvPr id="11" name="">
            <a:extLst xmlns:a="http://schemas.openxmlformats.org/drawingml/2006/main">
              <a:ext uri="{FF2B5EF4-FFF2-40B4-BE49-F238E27FC236}">
                <a16:creationId xmlns:a16="http://schemas.microsoft.com/office/drawing/2014/main" id="{878FD8B6-43E4-4D3E-8637-81BAAADB7878}"/>
              </a:ext>
            </a:extLst>
          </p:cNvPr>
          <p:cNvSpPr>
            <a:spLocks xmlns:a="http://schemas.openxmlformats.org/drawingml/2006/main" noGrp="1"/>
          </p:cNvSpPr>
          <p:nvPr/>
        </p:nvSpPr>
        <p:spPr>
          <a:xfrm xmlns:a="http://schemas.openxmlformats.org/drawingml/2006/main">
            <a:off x="6877050" y="2457450"/>
            <a:ext cx="4400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E5EEF9"/>
                </a:solidFill>
              </a:defRPr>
            </a:pPr>
            <a:r>
              <a:rPr sz="1275" b="0">
                <a:solidFill>
                  <a:srgbClr val="E5EEF9"/>
                </a:solidFill>
              </a:rPr>
              <a:t>"_links": {</a:t>
            </a:r>
          </a:p>
          <a:p xmlns:a="http://schemas.openxmlformats.org/drawingml/2006/main">
            <a:pPr algn="l">
              <a:defRPr sz="1275" b="0">
                <a:solidFill>
                  <a:srgbClr val="E5EEF9"/>
                </a:solidFill>
              </a:defRPr>
            </a:pPr>
            <a:r>
              <a:rPr sz="1275" b="0">
                <a:solidFill>
                  <a:srgbClr val="E5EEF9"/>
                </a:solidFill>
              </a:rPr>
              <a:t>  "self": { "href": ".../123" },</a:t>
            </a:r>
          </a:p>
          <a:p xmlns:a="http://schemas.openxmlformats.org/drawingml/2006/main">
            <a:pPr algn="l">
              <a:defRPr sz="1275" b="0">
                <a:solidFill>
                  <a:srgbClr val="E5EEF9"/>
                </a:solidFill>
              </a:defRPr>
            </a:pPr>
            <a:r>
              <a:rPr sz="1275" b="0">
                <a:solidFill>
                  <a:srgbClr val="E5EEF9"/>
                </a:solidFill>
              </a:rPr>
              <a:t>  "cancel": { "href": ".../123/cancel" }</a:t>
            </a:r>
          </a:p>
          <a:p xmlns:a="http://schemas.openxmlformats.org/drawingml/2006/main">
            <a:pPr algn="l">
              <a:defRPr sz="1275" b="0">
                <a:solidFill>
                  <a:srgbClr val="E5EEF9"/>
                </a:solidFill>
              </a:defRPr>
            </a:pPr>
            <a:r>
              <a:rPr sz="1275" b="0">
                <a:solidFill>
                  <a:srgbClr val="E5EEF9"/>
                </a:solidFill>
              </a:rPr>
              <a:t>}</a:t>
            </a:r>
          </a:p>
        </p:txBody>
      </p:sp>
      <p:sp>
        <p:nvSpPr>
          <p:cNvPr id="12" name="">
            <a:extLst xmlns:a="http://schemas.openxmlformats.org/drawingml/2006/main">
              <a:ext uri="{FF2B5EF4-FFF2-40B4-BE49-F238E27FC236}">
                <a16:creationId xmlns:a16="http://schemas.microsoft.com/office/drawing/2014/main" id="{3212644D-546B-48F4-A9CC-2B63EDE77F22}"/>
              </a:ext>
            </a:extLst>
          </p:cNvPr>
          <p:cNvSpPr>
            <a:spLocks xmlns:a="http://schemas.openxmlformats.org/drawingml/2006/main" noGrp="1"/>
          </p:cNvSpPr>
          <p:nvPr/>
        </p:nvSpPr>
        <p:spPr>
          <a:xfrm xmlns:a="http://schemas.openxmlformats.org/drawingml/2006/main">
            <a:off x="7029450" y="39433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60656F"/>
                </a:solidFill>
              </a:defRPr>
            </a:pPr>
            <a:r>
              <a:rPr sz="1500" b="0">
                <a:solidFill>
                  <a:srgbClr val="60656F"/>
                </a:solidFill>
              </a:rPr>
              <a:t>서버가 가능한 다음 행동을 안내</a:t>
            </a:r>
          </a:p>
        </p:txBody>
      </p:sp>
      <p:sp>
        <p:nvSpPr>
          <p:cNvPr id="13" name="">
            <a:extLst xmlns:a="http://schemas.openxmlformats.org/drawingml/2006/main">
              <a:ext uri="{FF2B5EF4-FFF2-40B4-BE49-F238E27FC236}">
                <a16:creationId xmlns:a16="http://schemas.microsoft.com/office/drawing/2014/main" id="{5BEDAEE2-DECE-49C1-8331-173AF4AAE92C}"/>
              </a:ext>
            </a:extLst>
          </p:cNvPr>
          <p:cNvSpPr>
            <a:spLocks xmlns:a="http://schemas.openxmlformats.org/drawingml/2006/main" noGrp="1"/>
          </p:cNvSpPr>
          <p:nvPr/>
        </p:nvSpPr>
        <p:spPr>
          <a:xfrm xmlns:a="http://schemas.openxmlformats.org/drawingml/2006/main">
            <a:off x="685800" y="4572000"/>
            <a:ext cx="108204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55ABFD8-30C1-4099-8DCD-AAEAF5793D77}"/>
              </a:ext>
            </a:extLst>
          </p:cNvPr>
          <p:cNvSpPr>
            <a:spLocks xmlns:a="http://schemas.openxmlformats.org/drawingml/2006/main" noGrp="1"/>
          </p:cNvSpPr>
          <p:nvPr/>
        </p:nvSpPr>
        <p:spPr>
          <a:xfrm xmlns:a="http://schemas.openxmlformats.org/drawingml/2006/main">
            <a:off x="723900" y="49053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3D8DFF"/>
                </a:solidFill>
              </a:defRPr>
            </a:pPr>
            <a:r>
              <a:rPr sz="1575" b="1">
                <a:solidFill>
                  <a:srgbClr val="3D8DFF"/>
                </a:solidFill>
              </a:rPr>
              <a:t>왜 현재는 미도입인가</a:t>
            </a:r>
          </a:p>
        </p:txBody>
      </p:sp>
      <p:sp>
        <p:nvSpPr>
          <p:cNvPr id="15" name="">
            <a:extLst xmlns:a="http://schemas.openxmlformats.org/drawingml/2006/main">
              <a:ext uri="{FF2B5EF4-FFF2-40B4-BE49-F238E27FC236}">
                <a16:creationId xmlns:a16="http://schemas.microsoft.com/office/drawing/2014/main" id="{1E43A35D-B9DD-47ED-9BCE-93532069E798}"/>
              </a:ext>
            </a:extLst>
          </p:cNvPr>
          <p:cNvSpPr>
            <a:spLocks xmlns:a="http://schemas.openxmlformats.org/drawingml/2006/main" noGrp="1"/>
          </p:cNvSpPr>
          <p:nvPr/>
        </p:nvSpPr>
        <p:spPr>
          <a:xfrm xmlns:a="http://schemas.openxmlformats.org/drawingml/2006/main">
            <a:off x="723900" y="53340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같은 저장소의 Thymeleaf·API  ·  단순하고 고정된 경로  ·  도입 복잡도 대비 작은 효과</a:t>
            </a:r>
          </a:p>
        </p:txBody>
      </p:sp>
      <p:sp>
        <p:nvSpPr>
          <p:cNvPr id="16" name="">
            <a:extLst xmlns:a="http://schemas.openxmlformats.org/drawingml/2006/main">
              <a:ext uri="{FF2B5EF4-FFF2-40B4-BE49-F238E27FC236}">
                <a16:creationId xmlns:a16="http://schemas.microsoft.com/office/drawing/2014/main" id="{FE27367C-9302-459E-9A44-F055882D6477}"/>
              </a:ext>
            </a:extLst>
          </p:cNvPr>
          <p:cNvSpPr>
            <a:spLocks xmlns:a="http://schemas.openxmlformats.org/drawingml/2006/main" noGrp="1"/>
          </p:cNvSpPr>
          <p:nvPr/>
        </p:nvSpPr>
        <p:spPr>
          <a:xfrm xmlns:a="http://schemas.openxmlformats.org/drawingml/2006/main">
            <a:off x="723900" y="598170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32238"/>
                </a:solidFill>
              </a:defRPr>
            </a:pPr>
            <a:r>
              <a:rPr sz="1725" b="1">
                <a:solidFill>
                  <a:srgbClr val="132238"/>
                </a:solidFill>
              </a:rPr>
              <a:t>REST API가 계약을 만들고, fetch가 사용하며, HATEOAS는 그 계약의 탐색성을 확장한다.</a:t>
            </a:r>
          </a:p>
        </p:txBody>
      </p:sp>
      <p:sp>
        <p:nvSpPr>
          <p:cNvPr id="17" name="">
            <a:extLst xmlns:a="http://schemas.openxmlformats.org/drawingml/2006/main">
              <a:ext uri="{FF2B5EF4-FFF2-40B4-BE49-F238E27FC236}">
                <a16:creationId xmlns:a16="http://schemas.microsoft.com/office/drawing/2014/main" id="{D9F30E88-6B79-498B-AC9A-339432146699}"/>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0656F"/>
                </a:solidFill>
              </a:defRPr>
            </a:pPr>
            <a:r>
              <a:rPr sz="900" b="0">
                <a:solidFill>
                  <a:srgbClr val="60656F"/>
                </a:solidFill>
              </a:rPr>
              <a:t>현재 프로젝트에는 Spring HATEOAS가 구현되어 있지 않음</a:t>
            </a:r>
          </a:p>
        </p:txBody>
      </p:sp>
    </p:spTree>
    <p:extLst>
      <p:ext uri="{BB962C8B-B14F-4D97-AF65-F5344CB8AC3E}">
        <p14:creationId xmlns:p14="http://schemas.microsoft.com/office/powerpoint/2010/main" val="12550934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2026-08-18T06:06:27.5840000Z</dcterms:created>
  <dcterms:modified xsi:type="dcterms:W3CDTF">2026-08-18T06:06:27.5840000Z</dcterms:modified>
</coreProperties>
</file>