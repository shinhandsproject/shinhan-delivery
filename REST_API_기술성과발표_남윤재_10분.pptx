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f70cf456324c9a" /><Relationship Type="http://schemas.openxmlformats.org/officeDocument/2006/relationships/extended-properties" Target="/docProps/app.xml" Id="Rdd49fa27d5a04c09" /><Relationship Type="http://schemas.openxmlformats.org/officeDocument/2006/relationships/officeDocument" Target="/ppt/presentation.xml" Id="R7f350db2a6b245c3" /></Relationships>
</file>

<file path=ppt/presentation.xml><?xml version="1.0" encoding="utf-8"?>
<p:presentation xmlns:p="http://schemas.openxmlformats.org/presentationml/2006/main">
  <p:sldMasterIdLst>
    <p:sldMasterId xmlns:r="http://schemas.openxmlformats.org/officeDocument/2006/relationships" id="2147483648" r:id="Rf4ce81af699f420b"/>
  </p:sldMasterIdLst>
  <p:notesMasterIdLst>
    <p:notesMasterId xmlns:r="http://schemas.openxmlformats.org/officeDocument/2006/relationships" r:id="R6e91ef268fc84bae"/>
  </p:notesMasterIdLst>
  <p:sldIdLst>
    <p:sldId xmlns:r="http://schemas.openxmlformats.org/officeDocument/2006/relationships" id="256" r:id="R07870323feab413f"/>
    <p:sldId xmlns:r="http://schemas.openxmlformats.org/officeDocument/2006/relationships" id="257" r:id="Rf7bf5a95f1244c3b"/>
    <p:sldId xmlns:r="http://schemas.openxmlformats.org/officeDocument/2006/relationships" id="258" r:id="R5aa32b375e494818"/>
    <p:sldId xmlns:r="http://schemas.openxmlformats.org/officeDocument/2006/relationships" id="259" r:id="Rbf5ee5530aef4ae1"/>
    <p:sldId xmlns:r="http://schemas.openxmlformats.org/officeDocument/2006/relationships" id="260" r:id="Rfbde1d64384f4a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13d9e7457942fc" /><Relationship Type="http://schemas.openxmlformats.org/officeDocument/2006/relationships/slideMaster" Target="/ppt/slideMasters/slideMaster1.xml" Id="Rf4ce81af699f420b" /><Relationship Type="http://schemas.openxmlformats.org/officeDocument/2006/relationships/notesMaster" Target="/ppt/notesMasters/notesMaster1.xml" Id="R6e91ef268fc84bae" /><Relationship Type="http://schemas.openxmlformats.org/officeDocument/2006/relationships/presProps" Target="/ppt/presProps.xml" Id="Rb7df9dd97d16479a" /><Relationship Type="http://schemas.openxmlformats.org/officeDocument/2006/relationships/tableStyles" Target="/ppt/tableStyles.xml" Id="R44e0b6dcd1f544ec" /><Relationship Type="http://schemas.openxmlformats.org/officeDocument/2006/relationships/slide" Target="/ppt/slides/slide1.xml" Id="R07870323feab413f" /><Relationship Type="http://schemas.openxmlformats.org/officeDocument/2006/relationships/slide" Target="/ppt/slides/slide2.xml" Id="Rf7bf5a95f1244c3b" /><Relationship Type="http://schemas.openxmlformats.org/officeDocument/2006/relationships/slide" Target="/ppt/slides/slide3.xml" Id="R5aa32b375e494818" /><Relationship Type="http://schemas.openxmlformats.org/officeDocument/2006/relationships/slide" Target="/ppt/slides/slide4.xml" Id="Rbf5ee5530aef4ae1" /><Relationship Type="http://schemas.openxmlformats.org/officeDocument/2006/relationships/slide" Target="/ppt/slides/slide5.xml" Id="Rfbde1d64384f4a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cbc222358a4f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6e79cd3c3345da" /><Relationship Type="http://schemas.openxmlformats.org/officeDocument/2006/relationships/notesMaster" Target="/ppt/notesMasters/notesMaster1.xml" Id="R07d592e6a88144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0a9e5fbf2a47ac" /><Relationship Type="http://schemas.openxmlformats.org/officeDocument/2006/relationships/notesMaster" Target="/ppt/notesMasters/notesMaster1.xml" Id="Rfa6bd5652ead4c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1e916b365d491c" /><Relationship Type="http://schemas.openxmlformats.org/officeDocument/2006/relationships/notesMaster" Target="/ppt/notesMasters/notesMaster1.xml" Id="Rfaa1c89150b548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97e5c5cdc746ac" /><Relationship Type="http://schemas.openxmlformats.org/officeDocument/2006/relationships/notesMaster" Target="/ppt/notesMasters/notesMaster1.xml" Id="R2f7b6ba5570d40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da7bda8f64423f" /><Relationship Type="http://schemas.openxmlformats.org/officeDocument/2006/relationships/notesMaster" Target="/ppt/notesMasters/notesMaster1.xml" Id="Rceca3924d8f544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백엔드와 신한 Delivery 프로젝트를 담당한 남윤재입니다. 오늘은 배송 조회, 매칭, 취소 흐름을 중심으로 저희 프로젝트의 REST API를 설명하겠습니다. 핵심 성과는 세 가지입니다. 첫째, HTML 화면과 JSON API의 책임을 분리했습니다. 둘째, 매칭 대기 상태를 fetch가 5초마다 조회해 화면에 자동 반영했습니다. 셋째, 취소 API에는 트랜잭션과 DB 락, 멱등 처리를 적용해 중복 요청에서도 정산 일관성을 지켰습니다. fetch와 HATEOAS도 다루지만 발표의 중심은 실제 REST API 설계와 코드입니다.</a:t>
            </a:r>
          </a:p>
          <a:p xmlns:a="http://schemas.openxmlformats.org/drawingml/2006/main">
            <a:r>
              <a:t/>
            </a:r>
          </a:p>
          <a:p xmlns:a="http://schemas.openxmlformats.org/drawingml/2006/main">
            <a:r>
              <a:t>[Sources]</a:t>
            </a:r>
          </a:p>
          <a:p xmlns:a="http://schemas.openxmlformats.org/drawingml/2006/main">
            <a:r>
              <a:t>- docs/presentation/개발자-발표-PPT-표준-템플릿-가이드.md</a:t>
            </a:r>
          </a:p>
          <a:p xmlns:a="http://schemas.openxmlformats.org/drawingml/2006/main">
            <a:r>
              <a:t>- src/main/java/com/example/shinhandelivery/delivery/controller/DeliveryController.java</a:t>
            </a:r>
          </a:p>
          <a:p xmlns:a="http://schemas.openxmlformats.org/drawingml/2006/main">
            <a:r>
              <a:t>- src/main/resources/templates/matching-wait.html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프로젝트는 기존 시스템을 REST API로 전환한 사례가 아니라 처음부터 새로 만든 프로젝트입니다. 그래서 Before를 과거의 잘못된 구현이라고 표현하지 않고, REST API를 적용하지 않았다면 생길 수 있었던 설계 과제로 정의했습니다. 첫 번째 과제는 화면과 데이터 로직이 한 Controller에 섞이는 것이었습니다. 이를 HTML을 반환하는 Controller와 JSON을 반환하는 RestController로 분리했습니다. 두 번째는 매칭 상태 확인을 위한 화면 새로고침 문제였습니다. fetch의 5초 GET 폴링으로 해결했습니다. 세 번째는 Entity 노출과 예외 응답 불일치 위험입니다. DTO와 GlobalExceptionHandler를 사용해 외부 계약과 상태 코드를 표준화했습니다. 즉, 신규 프로젝트의 장점을 살려 문제가 생긴 뒤 고친 것이 아니라 설계 단계에서 예방했습니다.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src/main/java/com/example/shinhandelivery/delivery/controller/DeliveryWebController.java</a:t>
            </a:r>
          </a:p>
          <a:p xmlns:a="http://schemas.openxmlformats.org/drawingml/2006/main">
            <a:r>
              <a:t>- src/main/java/com/example/shinhandelivery/delivery/controller/DeliveryController.java</a:t>
            </a:r>
          </a:p>
          <a:p xmlns:a="http://schemas.openxmlformats.org/drawingml/2006/main">
            <a:r>
              <a:t>- src/main/java/com/example/shinhandelivery/common/exception/GlobalExceptionHandler.java</a:t>
            </a:r>
          </a:p>
          <a:p xmlns:a="http://schemas.openxmlformats.org/drawingml/2006/main">
            <a:r>
              <a:t>- src/main/resources/templates/matching-wait.html:218-342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흐름을 실제 코드로 보겠습니다. 사용자는 먼저 Thymeleaf 매칭 대기 화면을 받습니다. 화면의 JavaScript는 배송 ID를 포함한 GET 요청과 JWT를 REST Controller로 보냅니다. Controller는 HTTP 요청과 인증 정보를 받고 Service를 호출합니다. Service는 배송, 매칭, 차량을 조회하고 고객 본인이나 배정 배송원인지 검사합니다. Repository는 JPA를 통해 MariaDB에 접근합니다. 최종 응답은 Entity가 아니라 DeliveryDetailResponse DTO이며 JSON으로 직렬화됩니다. 화면은 이 JSON을 5초마다 받아 status가 MATCHED이면 완료 화면으로 이동합니다. 클라이언트와 서버 양쪽에 no-store를 적용해 과거 상태가 캐시되지 않게 했습니다. fetch는 REST 자체가 아니라 브라우저가 REST API를 호출하는 수단이라는 점도 중요합니다.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src/main/java/com/example/shinhandelivery/delivery/controller/DeliveryController.java:102-114</a:t>
            </a:r>
          </a:p>
          <a:p xmlns:a="http://schemas.openxmlformats.org/drawingml/2006/main">
            <a:r>
              <a:t>- src/main/java/com/example/shinhandelivery/delivery/service/DeliveryService.java:155-172</a:t>
            </a:r>
          </a:p>
          <a:p xmlns:a="http://schemas.openxmlformats.org/drawingml/2006/main">
            <a:r>
              <a:t>- src/main/java/com/example/shinhandelivery/delivery/dto/response/DeliveryDetailResponse.java</a:t>
            </a:r>
          </a:p>
          <a:p xmlns:a="http://schemas.openxmlformats.org/drawingml/2006/main">
            <a:r>
              <a:t>- src/main/resources/templates/matching-wait.html:252-292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구현은 배송 취소 API입니다. 먼저 GET cancellation-preview는 서버 상태를 바꾸지 않고 예상 수수료와 환불액만 조회합니다. 사용자가 동의하면 POST cancel이 실제 취소를 수행합니다. 문제는 버튼 중복 클릭이나 네트워크 재시도로 같은 POST가 반복될 수 있다는 점입니다. 취소는 단순 삭제가 아니라 고객 환불, 배송원 보상, 매칭 취소, 차량 상태 복구를 함께 처리하므로 일부만 성공하면 정산 불일치가 발생합니다. 그래서 Service 전체를 트랜잭션으로 묶고, Repository에서는 비관적 쓰기 락으로 배송 행을 조회합니다. 이미 고객 요청으로 취소된 배송이면 다시 정산하지 않고 기존 결과를 반환합니다. 또한 환불과 보상에는 배송 ID 기반 멱등성 키를 사용합니다. 현재 단계에서 취소할 수 없으면 InvalidDeliveryTransitionException이 발생하고 GlobalExceptionHandler가 409 Conflict로 변환합니다. 이 사례는 REST API의 품질이 URI 설계에서 끝나는 것이 아니라는 점을 보여줍니다.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src/main/java/com/example/shinhandelivery/delivery/controller/DeliveryController.java:191-207</a:t>
            </a:r>
          </a:p>
          <a:p xmlns:a="http://schemas.openxmlformats.org/drawingml/2006/main">
            <a:r>
              <a:t>- src/main/java/com/example/shinhandelivery/delivery/service/DeliveryCancellationService.java:43-149</a:t>
            </a:r>
          </a:p>
          <a:p xmlns:a="http://schemas.openxmlformats.org/drawingml/2006/main">
            <a:r>
              <a:t>- src/main/java/com/example/shinhandelivery/delivery/repository/DeliveryRequestRepository.java:19-22</a:t>
            </a:r>
          </a:p>
          <a:p xmlns:a="http://schemas.openxmlformats.org/drawingml/2006/main">
            <a:r>
              <a:t>- src/main/java/com/example/shinhandelivery/common/exception/ErrorCode.java:33-40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회고입니다. Keep은 계층별 책임 분리, DTO와 공통 에러 계약, 그리고 트랜잭션과 멱등성으로 API 안전성을 확보한 점입니다. Problem은 현재 프론트엔드가 API 경로를 직접 조합하고, 매칭 확인을 위해 5초마다 요청한다는 점입니다. 지금처럼 Thymeleaf와 API가 같은 저장소에 있고 경로가 단순한 규모에서는 구현 복잡도를 낮추는 합리적인 선택입니다. 그래서 HATEOAS는 현재 구현이라고 말하면 안 됩니다. 향후 모바일 앱이나 외부 클라이언트가 늘어난다면 Try로 검토할 수 있습니다. 서버가 응답의 links에 현재 상태에서 가능한 cancel이나 proof-photo 같은 행동을 제공하면 클라이언트의 URL 하드코딩과 상태 판단을 줄일 수 있습니다. 또한 실시간 알림은 WebSocket으로 받고 정확한 현재 상태는 GET API로 확인하는 조합도 발전 방향입니다. 결론적으로 REST API는 JSON 반환 기능이 아니라 화면과 비즈니스 로직 사이의 명확하고 안전한 계약입니다.</a:t>
            </a:r>
          </a:p>
          <a:p xmlns:a="http://schemas.openxmlformats.org/drawingml/2006/main">
            <a:r>
              <a:t/>
            </a:r>
          </a:p>
          <a:p xmlns:a="http://schemas.openxmlformats.org/drawingml/2006/main">
            <a:r>
              <a:t>[Sources]</a:t>
            </a:r>
          </a:p>
          <a:p xmlns:a="http://schemas.openxmlformats.org/drawingml/2006/main">
            <a:r>
              <a:t>- src/main/resources/templates/matching-wait.html:259-341</a:t>
            </a:r>
          </a:p>
          <a:p xmlns:a="http://schemas.openxmlformats.org/drawingml/2006/main">
            <a:r>
              <a:t>- build.gradle:24-51</a:t>
            </a:r>
          </a:p>
          <a:p xmlns:a="http://schemas.openxmlformats.org/drawingml/2006/main">
            <a:r>
              <a:t>- docs/architecture/REST-API-설계-규격-가이드.md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7c78404b5e4b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7e127a51a940e0" /><Relationship Type="http://schemas.openxmlformats.org/officeDocument/2006/relationships/slideLayout" Target="/ppt/slideLayouts/slideLayout1.xml" Id="R3dba6aa8650940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ba6aa8650940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5921d9b7544742" /><Relationship Type="http://schemas.openxmlformats.org/officeDocument/2006/relationships/notesSlide" Target="/ppt/notesSlides/notesSlide1.xml" Id="R7236b4ea667742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0d69bf8b0b433f" /><Relationship Type="http://schemas.openxmlformats.org/officeDocument/2006/relationships/notesSlide" Target="/ppt/notesSlides/notesSlide2.xml" Id="Rea21d365dff24c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79f5af395343ac" /><Relationship Type="http://schemas.openxmlformats.org/officeDocument/2006/relationships/notesSlide" Target="/ppt/notesSlides/notesSlide3.xml" Id="R3d160161687d42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19b07e712b4917" /><Relationship Type="http://schemas.openxmlformats.org/officeDocument/2006/relationships/notesSlide" Target="/ppt/notesSlides/notesSlide4.xml" Id="R9f0cad88949343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d2ce8c94ad4f8b" /><Relationship Type="http://schemas.openxmlformats.org/officeDocument/2006/relationships/notesSlide" Target="/ppt/notesSlides/notesSlide5.xml" Id="Rbc1fc59465ff442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84246AF-11F6-4FDE-93BB-7597761B0801}"/>
              </a:ext>
            </a:extLst>
          </p:cNvPr>
          <p:cNvSpPr>
            <a:spLocks xmlns:a="http://schemas.openxmlformats.org/drawingml/2006/main" noGrp="1"/>
          </p:cNvSpPr>
          <p:nvPr/>
        </p:nvSpPr>
        <p:spPr>
          <a:xfrm xmlns:a="http://schemas.openxmlformats.org/drawingml/2006/main">
            <a:off x="647700" y="55245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REST API 기술 성과 발표</a:t>
            </a:r>
          </a:p>
        </p:txBody>
      </p:sp>
      <p:sp>
        <p:nvSpPr>
          <p:cNvPr id="2" name="">
            <a:extLst xmlns:a="http://schemas.openxmlformats.org/drawingml/2006/main">
              <a:ext uri="{FF2B5EF4-FFF2-40B4-BE49-F238E27FC236}">
                <a16:creationId xmlns:a16="http://schemas.microsoft.com/office/drawing/2014/main" id="{8E95D5DF-5347-409C-975F-C52EE3693522}"/>
              </a:ext>
            </a:extLst>
          </p:cNvPr>
          <p:cNvSpPr>
            <a:spLocks xmlns:a="http://schemas.openxmlformats.org/drawingml/2006/main" noGrp="1"/>
          </p:cNvSpPr>
          <p:nvPr/>
        </p:nvSpPr>
        <p:spPr>
          <a:xfrm xmlns:a="http://schemas.openxmlformats.org/drawingml/2006/main">
            <a:off x="647700" y="1381125"/>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825" b="1">
                <a:solidFill>
                  <a:srgbClr val="101114"/>
                </a:solidFill>
              </a:defRPr>
            </a:pPr>
            <a:r>
              <a:rPr sz="3825" b="1">
                <a:solidFill>
                  <a:srgbClr val="101114"/>
                </a:solidFill>
              </a:rPr>
              <a:t>배송 상태를 연결하고,</a:t>
            </a:r>
          </a:p>
          <a:p xmlns:a="http://schemas.openxmlformats.org/drawingml/2006/main">
            <a:pPr algn="l">
              <a:defRPr sz="3825" b="1">
                <a:solidFill>
                  <a:srgbClr val="101114"/>
                </a:solidFill>
              </a:defRPr>
            </a:pPr>
            <a:r>
              <a:rPr sz="3825" b="1">
                <a:solidFill>
                  <a:srgbClr val="101114"/>
                </a:solidFill>
              </a:rPr>
              <a:t>취소 정산을 안전하게 만든 API</a:t>
            </a:r>
          </a:p>
        </p:txBody>
      </p:sp>
      <p:sp>
        <p:nvSpPr>
          <p:cNvPr id="3" name="">
            <a:extLst xmlns:a="http://schemas.openxmlformats.org/drawingml/2006/main">
              <a:ext uri="{FF2B5EF4-FFF2-40B4-BE49-F238E27FC236}">
                <a16:creationId xmlns:a16="http://schemas.microsoft.com/office/drawing/2014/main" id="{B9F1C1DD-6C62-4994-B17D-290B0137563C}"/>
              </a:ext>
            </a:extLst>
          </p:cNvPr>
          <p:cNvSpPr>
            <a:spLocks xmlns:a="http://schemas.openxmlformats.org/drawingml/2006/main" noGrp="1"/>
          </p:cNvSpPr>
          <p:nvPr/>
        </p:nvSpPr>
        <p:spPr>
          <a:xfrm xmlns:a="http://schemas.openxmlformats.org/drawingml/2006/main">
            <a:off x="685800" y="30480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16771"/>
                </a:solidFill>
              </a:defRPr>
            </a:pPr>
            <a:r>
              <a:rPr sz="1575" b="0">
                <a:solidFill>
                  <a:srgbClr val="616771"/>
                </a:solidFill>
              </a:rPr>
              <a:t>남윤재  /  백엔드 &amp; 신한 Delivery</a:t>
            </a:r>
          </a:p>
        </p:txBody>
      </p:sp>
      <p:sp>
        <p:nvSpPr>
          <p:cNvPr id="4" name="">
            <a:extLst xmlns:a="http://schemas.openxmlformats.org/drawingml/2006/main">
              <a:ext uri="{FF2B5EF4-FFF2-40B4-BE49-F238E27FC236}">
                <a16:creationId xmlns:a16="http://schemas.microsoft.com/office/drawing/2014/main" id="{6B0EA157-0711-4CA6-B733-08D92041729E}"/>
              </a:ext>
            </a:extLst>
          </p:cNvPr>
          <p:cNvSpPr>
            <a:spLocks xmlns:a="http://schemas.openxmlformats.org/drawingml/2006/main" noGrp="1"/>
          </p:cNvSpPr>
          <p:nvPr/>
        </p:nvSpPr>
        <p:spPr>
          <a:xfrm xmlns:a="http://schemas.openxmlformats.org/drawingml/2006/main">
            <a:off x="685800" y="3667125"/>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114"/>
                </a:solidFill>
              </a:defRPr>
            </a:pPr>
            <a:r>
              <a:rPr sz="1650" b="0">
                <a:solidFill>
                  <a:srgbClr val="101114"/>
                </a:solidFill>
              </a:rPr>
              <a:t>배송 조회·매칭·취소 흐름을 일관된 HTTP 계약으로 제공하고</a:t>
            </a:r>
          </a:p>
          <a:p xmlns:a="http://schemas.openxmlformats.org/drawingml/2006/main">
            <a:pPr algn="l">
              <a:defRPr sz="1650" b="0">
                <a:solidFill>
                  <a:srgbClr val="101114"/>
                </a:solidFill>
              </a:defRPr>
            </a:pPr>
            <a:r>
              <a:rPr sz="1650" b="0">
                <a:solidFill>
                  <a:srgbClr val="101114"/>
                </a:solidFill>
              </a:rPr>
              <a:t>중복·동시 요청에서도 안전한 상태 변경을 보장했습니다.</a:t>
            </a:r>
          </a:p>
        </p:txBody>
      </p:sp>
      <p:sp>
        <p:nvSpPr>
          <p:cNvPr id="5" name="">
            <a:extLst xmlns:a="http://schemas.openxmlformats.org/drawingml/2006/main">
              <a:ext uri="{FF2B5EF4-FFF2-40B4-BE49-F238E27FC236}">
                <a16:creationId xmlns:a16="http://schemas.microsoft.com/office/drawing/2014/main" id="{917837C8-75BB-4F13-AD67-B2CDD643F831}"/>
              </a:ext>
            </a:extLst>
          </p:cNvPr>
          <p:cNvSpPr>
            <a:spLocks xmlns:a="http://schemas.openxmlformats.org/drawingml/2006/main" noGrp="1"/>
          </p:cNvSpPr>
          <p:nvPr/>
        </p:nvSpPr>
        <p:spPr>
          <a:xfrm xmlns:a="http://schemas.openxmlformats.org/drawingml/2006/main">
            <a:off x="8572500" y="666750"/>
            <a:ext cx="2667000" cy="5095875"/>
          </a:xfrm>
          <a:prstGeom xmlns:a="http://schemas.openxmlformats.org/drawingml/2006/main" prst="rect">
            <a:avLst/>
          </a:prstGeom>
          <a:solidFill xmlns:a="http://schemas.openxmlformats.org/drawingml/2006/main">
            <a:srgbClr val="DDF3F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D4BE20-5B77-4571-AFA7-531F4A343B90}"/>
              </a:ext>
            </a:extLst>
          </p:cNvPr>
          <p:cNvSpPr>
            <a:spLocks xmlns:a="http://schemas.openxmlformats.org/drawingml/2006/main" noGrp="1"/>
          </p:cNvSpPr>
          <p:nvPr/>
        </p:nvSpPr>
        <p:spPr>
          <a:xfrm xmlns:a="http://schemas.openxmlformats.org/drawingml/2006/main">
            <a:off x="8858250" y="109537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01</a:t>
            </a:r>
          </a:p>
        </p:txBody>
      </p:sp>
      <p:sp>
        <p:nvSpPr>
          <p:cNvPr id="7" name="">
            <a:extLst xmlns:a="http://schemas.openxmlformats.org/drawingml/2006/main">
              <a:ext uri="{FF2B5EF4-FFF2-40B4-BE49-F238E27FC236}">
                <a16:creationId xmlns:a16="http://schemas.microsoft.com/office/drawing/2014/main" id="{CAA9802B-060E-4075-8EEC-CE9FDD5B09BE}"/>
              </a:ext>
            </a:extLst>
          </p:cNvPr>
          <p:cNvSpPr>
            <a:spLocks xmlns:a="http://schemas.openxmlformats.org/drawingml/2006/main" noGrp="1"/>
          </p:cNvSpPr>
          <p:nvPr/>
        </p:nvSpPr>
        <p:spPr>
          <a:xfrm xmlns:a="http://schemas.openxmlformats.org/drawingml/2006/main">
            <a:off x="8858250" y="145732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114"/>
                </a:solidFill>
              </a:defRPr>
            </a:pPr>
            <a:r>
              <a:rPr sz="1800" b="1">
                <a:solidFill>
                  <a:srgbClr val="101114"/>
                </a:solidFill>
              </a:rPr>
              <a:t>책임 분리</a:t>
            </a:r>
          </a:p>
        </p:txBody>
      </p:sp>
      <p:sp>
        <p:nvSpPr>
          <p:cNvPr id="8" name="">
            <a:extLst xmlns:a="http://schemas.openxmlformats.org/drawingml/2006/main">
              <a:ext uri="{FF2B5EF4-FFF2-40B4-BE49-F238E27FC236}">
                <a16:creationId xmlns:a16="http://schemas.microsoft.com/office/drawing/2014/main" id="{1F7D5D3E-6C0C-4454-91E5-76C0A5A02671}"/>
              </a:ext>
            </a:extLst>
          </p:cNvPr>
          <p:cNvSpPr>
            <a:spLocks xmlns:a="http://schemas.openxmlformats.org/drawingml/2006/main" noGrp="1"/>
          </p:cNvSpPr>
          <p:nvPr/>
        </p:nvSpPr>
        <p:spPr>
          <a:xfrm xmlns:a="http://schemas.openxmlformats.org/drawingml/2006/main">
            <a:off x="8858250" y="1876425"/>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32238"/>
                </a:solidFill>
              </a:defRPr>
            </a:pPr>
            <a:r>
              <a:rPr sz="1200" b="0">
                <a:solidFill>
                  <a:srgbClr val="132238"/>
                </a:solidFill>
              </a:rPr>
              <a:t>HTML Controller → REST Controller</a:t>
            </a:r>
          </a:p>
        </p:txBody>
      </p:sp>
      <p:sp>
        <p:nvSpPr>
          <p:cNvPr id="9" name="">
            <a:extLst xmlns:a="http://schemas.openxmlformats.org/drawingml/2006/main">
              <a:ext uri="{FF2B5EF4-FFF2-40B4-BE49-F238E27FC236}">
                <a16:creationId xmlns:a16="http://schemas.microsoft.com/office/drawing/2014/main" id="{268C09FB-711A-457A-B9C7-3CD207E40F72}"/>
              </a:ext>
            </a:extLst>
          </p:cNvPr>
          <p:cNvSpPr>
            <a:spLocks xmlns:a="http://schemas.openxmlformats.org/drawingml/2006/main" noGrp="1"/>
          </p:cNvSpPr>
          <p:nvPr/>
        </p:nvSpPr>
        <p:spPr>
          <a:xfrm xmlns:a="http://schemas.openxmlformats.org/drawingml/2006/main">
            <a:off x="8858250" y="2419350"/>
            <a:ext cx="2095500" cy="9525"/>
          </a:xfrm>
          <a:prstGeom xmlns:a="http://schemas.openxmlformats.org/drawingml/2006/main" prst="rect">
            <a:avLst/>
          </a:prstGeom>
          <a:solidFill xmlns:a="http://schemas.openxmlformats.org/drawingml/2006/main">
            <a:srgbClr val="BBC1C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D5675AD-7D42-45E7-AB07-0362823B20C9}"/>
              </a:ext>
            </a:extLst>
          </p:cNvPr>
          <p:cNvSpPr>
            <a:spLocks xmlns:a="http://schemas.openxmlformats.org/drawingml/2006/main" noGrp="1"/>
          </p:cNvSpPr>
          <p:nvPr/>
        </p:nvSpPr>
        <p:spPr>
          <a:xfrm xmlns:a="http://schemas.openxmlformats.org/drawingml/2006/main">
            <a:off x="8858250" y="2571750"/>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02</a:t>
            </a:r>
          </a:p>
        </p:txBody>
      </p:sp>
      <p:sp>
        <p:nvSpPr>
          <p:cNvPr id="11" name="">
            <a:extLst xmlns:a="http://schemas.openxmlformats.org/drawingml/2006/main">
              <a:ext uri="{FF2B5EF4-FFF2-40B4-BE49-F238E27FC236}">
                <a16:creationId xmlns:a16="http://schemas.microsoft.com/office/drawing/2014/main" id="{0DCD0A83-5360-4F1C-9076-528E75F2EB91}"/>
              </a:ext>
            </a:extLst>
          </p:cNvPr>
          <p:cNvSpPr>
            <a:spLocks xmlns:a="http://schemas.openxmlformats.org/drawingml/2006/main" noGrp="1"/>
          </p:cNvSpPr>
          <p:nvPr/>
        </p:nvSpPr>
        <p:spPr>
          <a:xfrm xmlns:a="http://schemas.openxmlformats.org/drawingml/2006/main">
            <a:off x="8858250" y="29337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114"/>
                </a:solidFill>
              </a:defRPr>
            </a:pPr>
            <a:r>
              <a:rPr sz="1800" b="1">
                <a:solidFill>
                  <a:srgbClr val="101114"/>
                </a:solidFill>
              </a:rPr>
              <a:t>상태 자동 반영</a:t>
            </a:r>
          </a:p>
        </p:txBody>
      </p:sp>
      <p:sp>
        <p:nvSpPr>
          <p:cNvPr id="12" name="">
            <a:extLst xmlns:a="http://schemas.openxmlformats.org/drawingml/2006/main">
              <a:ext uri="{FF2B5EF4-FFF2-40B4-BE49-F238E27FC236}">
                <a16:creationId xmlns:a16="http://schemas.microsoft.com/office/drawing/2014/main" id="{0A6AE12C-B304-4AB4-B035-9C9ACA8E0D49}"/>
              </a:ext>
            </a:extLst>
          </p:cNvPr>
          <p:cNvSpPr>
            <a:spLocks xmlns:a="http://schemas.openxmlformats.org/drawingml/2006/main" noGrp="1"/>
          </p:cNvSpPr>
          <p:nvPr/>
        </p:nvSpPr>
        <p:spPr>
          <a:xfrm xmlns:a="http://schemas.openxmlformats.org/drawingml/2006/main">
            <a:off x="8858250" y="33528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32238"/>
                </a:solidFill>
              </a:defRPr>
            </a:pPr>
            <a:r>
              <a:rPr sz="1200" b="0">
                <a:solidFill>
                  <a:srgbClr val="132238"/>
                </a:solidFill>
              </a:rPr>
              <a:t>수동 새로고침 → 5초 GET 폴링</a:t>
            </a:r>
          </a:p>
        </p:txBody>
      </p:sp>
      <p:sp>
        <p:nvSpPr>
          <p:cNvPr id="13" name="">
            <a:extLst xmlns:a="http://schemas.openxmlformats.org/drawingml/2006/main">
              <a:ext uri="{FF2B5EF4-FFF2-40B4-BE49-F238E27FC236}">
                <a16:creationId xmlns:a16="http://schemas.microsoft.com/office/drawing/2014/main" id="{B7CE677B-53AD-484D-9138-BFD55ADF2123}"/>
              </a:ext>
            </a:extLst>
          </p:cNvPr>
          <p:cNvSpPr>
            <a:spLocks xmlns:a="http://schemas.openxmlformats.org/drawingml/2006/main" noGrp="1"/>
          </p:cNvSpPr>
          <p:nvPr/>
        </p:nvSpPr>
        <p:spPr>
          <a:xfrm xmlns:a="http://schemas.openxmlformats.org/drawingml/2006/main">
            <a:off x="8858250" y="3895725"/>
            <a:ext cx="2095500" cy="9525"/>
          </a:xfrm>
          <a:prstGeom xmlns:a="http://schemas.openxmlformats.org/drawingml/2006/main" prst="rect">
            <a:avLst/>
          </a:prstGeom>
          <a:solidFill xmlns:a="http://schemas.openxmlformats.org/drawingml/2006/main">
            <a:srgbClr val="BBC1C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CB1C0AB-6ED1-41B0-96E7-D714514B0DF2}"/>
              </a:ext>
            </a:extLst>
          </p:cNvPr>
          <p:cNvSpPr>
            <a:spLocks xmlns:a="http://schemas.openxmlformats.org/drawingml/2006/main" noGrp="1"/>
          </p:cNvSpPr>
          <p:nvPr/>
        </p:nvSpPr>
        <p:spPr>
          <a:xfrm xmlns:a="http://schemas.openxmlformats.org/drawingml/2006/main">
            <a:off x="8858250" y="4048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03</a:t>
            </a:r>
          </a:p>
        </p:txBody>
      </p:sp>
      <p:sp>
        <p:nvSpPr>
          <p:cNvPr id="15" name="">
            <a:extLst xmlns:a="http://schemas.openxmlformats.org/drawingml/2006/main">
              <a:ext uri="{FF2B5EF4-FFF2-40B4-BE49-F238E27FC236}">
                <a16:creationId xmlns:a16="http://schemas.microsoft.com/office/drawing/2014/main" id="{F3562D61-2D92-42F9-B21C-6ABEF2123017}"/>
              </a:ext>
            </a:extLst>
          </p:cNvPr>
          <p:cNvSpPr>
            <a:spLocks xmlns:a="http://schemas.openxmlformats.org/drawingml/2006/main" noGrp="1"/>
          </p:cNvSpPr>
          <p:nvPr/>
        </p:nvSpPr>
        <p:spPr>
          <a:xfrm xmlns:a="http://schemas.openxmlformats.org/drawingml/2006/main">
            <a:off x="8858250" y="44100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114"/>
                </a:solidFill>
              </a:defRPr>
            </a:pPr>
            <a:r>
              <a:rPr sz="1800" b="1">
                <a:solidFill>
                  <a:srgbClr val="101114"/>
                </a:solidFill>
              </a:rPr>
              <a:t>정산 일관성</a:t>
            </a:r>
          </a:p>
        </p:txBody>
      </p:sp>
      <p:sp>
        <p:nvSpPr>
          <p:cNvPr id="16" name="">
            <a:extLst xmlns:a="http://schemas.openxmlformats.org/drawingml/2006/main">
              <a:ext uri="{FF2B5EF4-FFF2-40B4-BE49-F238E27FC236}">
                <a16:creationId xmlns:a16="http://schemas.microsoft.com/office/drawing/2014/main" id="{FF016DB4-5370-4EB7-96F7-90E31BAC9345}"/>
              </a:ext>
            </a:extLst>
          </p:cNvPr>
          <p:cNvSpPr>
            <a:spLocks xmlns:a="http://schemas.openxmlformats.org/drawingml/2006/main" noGrp="1"/>
          </p:cNvSpPr>
          <p:nvPr/>
        </p:nvSpPr>
        <p:spPr>
          <a:xfrm xmlns:a="http://schemas.openxmlformats.org/drawingml/2006/main">
            <a:off x="8858250" y="4829175"/>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32238"/>
                </a:solidFill>
              </a:defRPr>
            </a:pPr>
            <a:r>
              <a:rPr sz="1200" b="0">
                <a:solidFill>
                  <a:srgbClr val="132238"/>
                </a:solidFill>
              </a:rPr>
              <a:t>중복 위험 → 트랜잭션·락·멱등</a:t>
            </a:r>
          </a:p>
        </p:txBody>
      </p:sp>
      <p:sp>
        <p:nvSpPr>
          <p:cNvPr id="17" name="">
            <a:extLst xmlns:a="http://schemas.openxmlformats.org/drawingml/2006/main">
              <a:ext uri="{FF2B5EF4-FFF2-40B4-BE49-F238E27FC236}">
                <a16:creationId xmlns:a16="http://schemas.microsoft.com/office/drawing/2014/main" id="{92C1CB98-8AC1-4B21-A195-C4B859B6A81C}"/>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발표자 남윤재 · 약 10분</a:t>
            </a:r>
          </a:p>
        </p:txBody>
      </p:sp>
    </p:spTree>
    <p:extLst>
      <p:ext uri="{BB962C8B-B14F-4D97-AF65-F5344CB8AC3E}">
        <p14:creationId xmlns:p14="http://schemas.microsoft.com/office/powerpoint/2010/main" val="19148069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7C77E5D-0BD2-4808-A3D7-C6A56704C6DB}"/>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282A0156-74CA-4E2E-B29E-31FDBB5071A8}"/>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추진 배경 &amp; 주요 목표</a:t>
            </a:r>
          </a:p>
        </p:txBody>
      </p:sp>
      <p:sp>
        <p:nvSpPr>
          <p:cNvPr id="3" name="">
            <a:extLst xmlns:a="http://schemas.openxmlformats.org/drawingml/2006/main">
              <a:ext uri="{FF2B5EF4-FFF2-40B4-BE49-F238E27FC236}">
                <a16:creationId xmlns:a16="http://schemas.microsoft.com/office/drawing/2014/main" id="{664AD01E-D8B7-4BF4-83CD-ED44EDD4BE19}"/>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02</a:t>
            </a:r>
          </a:p>
        </p:txBody>
      </p:sp>
      <p:sp>
        <p:nvSpPr>
          <p:cNvPr id="4" name="">
            <a:extLst xmlns:a="http://schemas.openxmlformats.org/drawingml/2006/main">
              <a:ext uri="{FF2B5EF4-FFF2-40B4-BE49-F238E27FC236}">
                <a16:creationId xmlns:a16="http://schemas.microsoft.com/office/drawing/2014/main" id="{1981CE12-B8EE-4532-B8A5-6AB925C38A03}"/>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1D2465-D0C4-48DD-9835-F2DA391EBF6F}"/>
              </a:ext>
            </a:extLst>
          </p:cNvPr>
          <p:cNvSpPr>
            <a:spLocks xmlns:a="http://schemas.openxmlformats.org/drawingml/2006/main" noGrp="1"/>
          </p:cNvSpPr>
          <p:nvPr/>
        </p:nvSpPr>
        <p:spPr>
          <a:xfrm xmlns:a="http://schemas.openxmlformats.org/drawingml/2006/main">
            <a:off x="628650" y="142875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16771"/>
                </a:solidFill>
              </a:defRPr>
            </a:pPr>
            <a:r>
              <a:rPr sz="1350" b="0">
                <a:solidFill>
                  <a:srgbClr val="616771"/>
                </a:solidFill>
              </a:rPr>
              <a:t>신규 프로젝트이므로 ‘과거 장애’가 아니라 구현 전 설계 과제와 적용 결과를 비교했습니다.</a:t>
            </a:r>
          </a:p>
        </p:txBody>
      </p:sp>
      <p:sp>
        <p:nvSpPr>
          <p:cNvPr id="6" name="">
            <a:extLst xmlns:a="http://schemas.openxmlformats.org/drawingml/2006/main">
              <a:ext uri="{FF2B5EF4-FFF2-40B4-BE49-F238E27FC236}">
                <a16:creationId xmlns:a16="http://schemas.microsoft.com/office/drawing/2014/main" id="{0BB6A309-D830-484E-B418-A6890CAA6F87}"/>
              </a:ext>
            </a:extLst>
          </p:cNvPr>
          <p:cNvSpPr>
            <a:spLocks xmlns:a="http://schemas.openxmlformats.org/drawingml/2006/main" noGrp="1"/>
          </p:cNvSpPr>
          <p:nvPr/>
        </p:nvSpPr>
        <p:spPr>
          <a:xfrm xmlns:a="http://schemas.openxmlformats.org/drawingml/2006/main">
            <a:off x="609600" y="1885950"/>
            <a:ext cx="1571625" cy="438150"/>
          </a:xfrm>
          <a:prstGeom xmlns:a="http://schemas.openxmlformats.org/drawingml/2006/main" prst="rect">
            <a:avLst/>
          </a:prstGeom>
          <a:solidFill xmlns:a="http://schemas.openxmlformats.org/drawingml/2006/main">
            <a:srgbClr val="F0F2F4"/>
          </a:solidFill>
          <a:ln xmlns:a="http://schemas.openxmlformats.org/drawingml/2006/main" w="9525">
            <a:solidFill>
              <a:srgbClr val="BBC1C9"/>
            </a:solidFill>
            <a:prstDash val="solid"/>
          </a:ln>
        </p:spPr>
      </p:sp>
      <p:sp>
        <p:nvSpPr>
          <p:cNvPr id="7" name="">
            <a:extLst xmlns:a="http://schemas.openxmlformats.org/drawingml/2006/main">
              <a:ext uri="{FF2B5EF4-FFF2-40B4-BE49-F238E27FC236}">
                <a16:creationId xmlns:a16="http://schemas.microsoft.com/office/drawing/2014/main" id="{95A55706-B0B6-4CD9-AC51-46D4B64047E0}"/>
              </a:ext>
            </a:extLst>
          </p:cNvPr>
          <p:cNvSpPr>
            <a:spLocks xmlns:a="http://schemas.openxmlformats.org/drawingml/2006/main" noGrp="1"/>
          </p:cNvSpPr>
          <p:nvPr/>
        </p:nvSpPr>
        <p:spPr>
          <a:xfrm xmlns:a="http://schemas.openxmlformats.org/drawingml/2006/main">
            <a:off x="723900" y="2009775"/>
            <a:ext cx="1343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구분</a:t>
            </a:r>
          </a:p>
        </p:txBody>
      </p:sp>
      <p:sp>
        <p:nvSpPr>
          <p:cNvPr id="8" name="">
            <a:extLst xmlns:a="http://schemas.openxmlformats.org/drawingml/2006/main">
              <a:ext uri="{FF2B5EF4-FFF2-40B4-BE49-F238E27FC236}">
                <a16:creationId xmlns:a16="http://schemas.microsoft.com/office/drawing/2014/main" id="{E7DD7F6F-F4EF-4A81-BD75-BC681D989B82}"/>
              </a:ext>
            </a:extLst>
          </p:cNvPr>
          <p:cNvSpPr>
            <a:spLocks xmlns:a="http://schemas.openxmlformats.org/drawingml/2006/main" noGrp="1"/>
          </p:cNvSpPr>
          <p:nvPr/>
        </p:nvSpPr>
        <p:spPr>
          <a:xfrm xmlns:a="http://schemas.openxmlformats.org/drawingml/2006/main">
            <a:off x="2238375" y="1885950"/>
            <a:ext cx="4429125" cy="438150"/>
          </a:xfrm>
          <a:prstGeom xmlns:a="http://schemas.openxmlformats.org/drawingml/2006/main" prst="rect">
            <a:avLst/>
          </a:prstGeom>
          <a:solidFill xmlns:a="http://schemas.openxmlformats.org/drawingml/2006/main">
            <a:srgbClr val="F0F2F4"/>
          </a:solidFill>
          <a:ln xmlns:a="http://schemas.openxmlformats.org/drawingml/2006/main" w="9525">
            <a:solidFill>
              <a:srgbClr val="BBC1C9"/>
            </a:solidFill>
            <a:prstDash val="solid"/>
          </a:ln>
        </p:spPr>
      </p:sp>
      <p:sp>
        <p:nvSpPr>
          <p:cNvPr id="9" name="">
            <a:extLst xmlns:a="http://schemas.openxmlformats.org/drawingml/2006/main">
              <a:ext uri="{FF2B5EF4-FFF2-40B4-BE49-F238E27FC236}">
                <a16:creationId xmlns:a16="http://schemas.microsoft.com/office/drawing/2014/main" id="{D2E8E42D-6A34-4C1E-B383-A5CE0706C2CD}"/>
              </a:ext>
            </a:extLst>
          </p:cNvPr>
          <p:cNvSpPr>
            <a:spLocks xmlns:a="http://schemas.openxmlformats.org/drawingml/2006/main" noGrp="1"/>
          </p:cNvSpPr>
          <p:nvPr/>
        </p:nvSpPr>
        <p:spPr>
          <a:xfrm xmlns:a="http://schemas.openxmlformats.org/drawingml/2006/main">
            <a:off x="2352675" y="2009775"/>
            <a:ext cx="42005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구현 전 설계 과제 (Before)</a:t>
            </a:r>
          </a:p>
        </p:txBody>
      </p:sp>
      <p:sp>
        <p:nvSpPr>
          <p:cNvPr id="10" name="">
            <a:extLst xmlns:a="http://schemas.openxmlformats.org/drawingml/2006/main">
              <a:ext uri="{FF2B5EF4-FFF2-40B4-BE49-F238E27FC236}">
                <a16:creationId xmlns:a16="http://schemas.microsoft.com/office/drawing/2014/main" id="{671C3796-3D46-4383-91BD-0002D62B101B}"/>
              </a:ext>
            </a:extLst>
          </p:cNvPr>
          <p:cNvSpPr>
            <a:spLocks xmlns:a="http://schemas.openxmlformats.org/drawingml/2006/main" noGrp="1"/>
          </p:cNvSpPr>
          <p:nvPr/>
        </p:nvSpPr>
        <p:spPr>
          <a:xfrm xmlns:a="http://schemas.openxmlformats.org/drawingml/2006/main">
            <a:off x="6762750" y="1885950"/>
            <a:ext cx="4819650" cy="438150"/>
          </a:xfrm>
          <a:prstGeom xmlns:a="http://schemas.openxmlformats.org/drawingml/2006/main" prst="rect">
            <a:avLst/>
          </a:prstGeom>
          <a:solidFill xmlns:a="http://schemas.openxmlformats.org/drawingml/2006/main">
            <a:srgbClr val="DDF3FD"/>
          </a:solidFill>
          <a:ln xmlns:a="http://schemas.openxmlformats.org/drawingml/2006/main" w="9525">
            <a:solidFill>
              <a:srgbClr val="BBC1C9"/>
            </a:solidFill>
            <a:prstDash val="solid"/>
          </a:ln>
        </p:spPr>
      </p:sp>
      <p:sp>
        <p:nvSpPr>
          <p:cNvPr id="11" name="">
            <a:extLst xmlns:a="http://schemas.openxmlformats.org/drawingml/2006/main">
              <a:ext uri="{FF2B5EF4-FFF2-40B4-BE49-F238E27FC236}">
                <a16:creationId xmlns:a16="http://schemas.microsoft.com/office/drawing/2014/main" id="{801687EF-B832-4436-B698-CC073EDD77E0}"/>
              </a:ext>
            </a:extLst>
          </p:cNvPr>
          <p:cNvSpPr>
            <a:spLocks xmlns:a="http://schemas.openxmlformats.org/drawingml/2006/main" noGrp="1"/>
          </p:cNvSpPr>
          <p:nvPr/>
        </p:nvSpPr>
        <p:spPr>
          <a:xfrm xmlns:a="http://schemas.openxmlformats.org/drawingml/2006/main">
            <a:off x="6877050" y="2009775"/>
            <a:ext cx="459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32238"/>
                </a:solidFill>
              </a:defRPr>
            </a:pPr>
            <a:r>
              <a:rPr sz="1275" b="1">
                <a:solidFill>
                  <a:srgbClr val="132238"/>
                </a:solidFill>
              </a:rPr>
              <a:t>REST API 적용 결과 (After)</a:t>
            </a:r>
          </a:p>
        </p:txBody>
      </p:sp>
      <p:sp>
        <p:nvSpPr>
          <p:cNvPr id="12" name="">
            <a:extLst xmlns:a="http://schemas.openxmlformats.org/drawingml/2006/main">
              <a:ext uri="{FF2B5EF4-FFF2-40B4-BE49-F238E27FC236}">
                <a16:creationId xmlns:a16="http://schemas.microsoft.com/office/drawing/2014/main" id="{E43C335E-EF8F-4710-B943-402E46CA8002}"/>
              </a:ext>
            </a:extLst>
          </p:cNvPr>
          <p:cNvSpPr>
            <a:spLocks xmlns:a="http://schemas.openxmlformats.org/drawingml/2006/main" noGrp="1"/>
          </p:cNvSpPr>
          <p:nvPr/>
        </p:nvSpPr>
        <p:spPr>
          <a:xfrm xmlns:a="http://schemas.openxmlformats.org/drawingml/2006/main">
            <a:off x="609600" y="2324100"/>
            <a:ext cx="15716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3" name="">
            <a:extLst xmlns:a="http://schemas.openxmlformats.org/drawingml/2006/main">
              <a:ext uri="{FF2B5EF4-FFF2-40B4-BE49-F238E27FC236}">
                <a16:creationId xmlns:a16="http://schemas.microsoft.com/office/drawing/2014/main" id="{B654A60B-9A47-424F-9BC4-A7AFDEDCB95C}"/>
              </a:ext>
            </a:extLst>
          </p:cNvPr>
          <p:cNvSpPr>
            <a:spLocks xmlns:a="http://schemas.openxmlformats.org/drawingml/2006/main" noGrp="1"/>
          </p:cNvSpPr>
          <p:nvPr/>
        </p:nvSpPr>
        <p:spPr>
          <a:xfrm xmlns:a="http://schemas.openxmlformats.org/drawingml/2006/main">
            <a:off x="742950" y="24955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114"/>
                </a:solidFill>
              </a:defRPr>
            </a:pPr>
            <a:r>
              <a:rPr sz="1350" b="1">
                <a:solidFill>
                  <a:srgbClr val="101114"/>
                </a:solidFill>
              </a:rPr>
              <a:t>구조·역할</a:t>
            </a:r>
          </a:p>
        </p:txBody>
      </p:sp>
      <p:sp>
        <p:nvSpPr>
          <p:cNvPr id="14" name="">
            <a:extLst xmlns:a="http://schemas.openxmlformats.org/drawingml/2006/main">
              <a:ext uri="{FF2B5EF4-FFF2-40B4-BE49-F238E27FC236}">
                <a16:creationId xmlns:a16="http://schemas.microsoft.com/office/drawing/2014/main" id="{062D5B04-E083-4DE3-AE69-A3953E9C06CC}"/>
              </a:ext>
            </a:extLst>
          </p:cNvPr>
          <p:cNvSpPr>
            <a:spLocks xmlns:a="http://schemas.openxmlformats.org/drawingml/2006/main" noGrp="1"/>
          </p:cNvSpPr>
          <p:nvPr/>
        </p:nvSpPr>
        <p:spPr>
          <a:xfrm xmlns:a="http://schemas.openxmlformats.org/drawingml/2006/main">
            <a:off x="2238375" y="2324100"/>
            <a:ext cx="44291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5" name="">
            <a:extLst xmlns:a="http://schemas.openxmlformats.org/drawingml/2006/main">
              <a:ext uri="{FF2B5EF4-FFF2-40B4-BE49-F238E27FC236}">
                <a16:creationId xmlns:a16="http://schemas.microsoft.com/office/drawing/2014/main" id="{CF5ADBB6-73E6-4E2C-802C-D594439E364F}"/>
              </a:ext>
            </a:extLst>
          </p:cNvPr>
          <p:cNvSpPr>
            <a:spLocks xmlns:a="http://schemas.openxmlformats.org/drawingml/2006/main" noGrp="1"/>
          </p:cNvSpPr>
          <p:nvPr/>
        </p:nvSpPr>
        <p:spPr>
          <a:xfrm xmlns:a="http://schemas.openxmlformats.org/drawingml/2006/main">
            <a:off x="2371725" y="2495550"/>
            <a:ext cx="4162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01114"/>
                </a:solidFill>
              </a:defRPr>
            </a:pPr>
            <a:r>
              <a:rPr sz="1275" b="0">
                <a:solidFill>
                  <a:srgbClr val="101114"/>
                </a:solidFill>
              </a:rPr>
              <a:t>화면 반환과 데이터·비즈니스 처리가</a:t>
            </a:r>
          </a:p>
          <a:p xmlns:a="http://schemas.openxmlformats.org/drawingml/2006/main">
            <a:pPr algn="l">
              <a:defRPr sz="1275" b="0">
                <a:solidFill>
                  <a:srgbClr val="101114"/>
                </a:solidFill>
              </a:defRPr>
            </a:pPr>
            <a:r>
              <a:rPr sz="1275" b="0">
                <a:solidFill>
                  <a:srgbClr val="101114"/>
                </a:solidFill>
              </a:rPr>
              <a:t>한 Controller에 섞일 가능성</a:t>
            </a:r>
          </a:p>
        </p:txBody>
      </p:sp>
      <p:sp>
        <p:nvSpPr>
          <p:cNvPr id="16" name="">
            <a:extLst xmlns:a="http://schemas.openxmlformats.org/drawingml/2006/main">
              <a:ext uri="{FF2B5EF4-FFF2-40B4-BE49-F238E27FC236}">
                <a16:creationId xmlns:a16="http://schemas.microsoft.com/office/drawing/2014/main" id="{BA0DEF16-8A44-4CDE-BE15-5E65664E9151}"/>
              </a:ext>
            </a:extLst>
          </p:cNvPr>
          <p:cNvSpPr>
            <a:spLocks xmlns:a="http://schemas.openxmlformats.org/drawingml/2006/main" noGrp="1"/>
          </p:cNvSpPr>
          <p:nvPr/>
        </p:nvSpPr>
        <p:spPr>
          <a:xfrm xmlns:a="http://schemas.openxmlformats.org/drawingml/2006/main">
            <a:off x="6762750" y="2324100"/>
            <a:ext cx="48196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7" name="">
            <a:extLst xmlns:a="http://schemas.openxmlformats.org/drawingml/2006/main">
              <a:ext uri="{FF2B5EF4-FFF2-40B4-BE49-F238E27FC236}">
                <a16:creationId xmlns:a16="http://schemas.microsoft.com/office/drawing/2014/main" id="{A4C39D9F-6944-41D9-8F8E-E1A35A35F425}"/>
              </a:ext>
            </a:extLst>
          </p:cNvPr>
          <p:cNvSpPr>
            <a:spLocks xmlns:a="http://schemas.openxmlformats.org/drawingml/2006/main" noGrp="1"/>
          </p:cNvSpPr>
          <p:nvPr/>
        </p:nvSpPr>
        <p:spPr>
          <a:xfrm xmlns:a="http://schemas.openxmlformats.org/drawingml/2006/main">
            <a:off x="6896100" y="2495550"/>
            <a:ext cx="4552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32238"/>
                </a:solidFill>
              </a:defRPr>
            </a:pPr>
            <a:r>
              <a:rPr sz="1275" b="0">
                <a:solidFill>
                  <a:srgbClr val="132238"/>
                </a:solidFill>
              </a:rPr>
              <a:t>@Controller는 HTML, @RestController는 JSON</a:t>
            </a:r>
          </a:p>
          <a:p xmlns:a="http://schemas.openxmlformats.org/drawingml/2006/main">
            <a:pPr algn="l">
              <a:defRPr sz="1275" b="0">
                <a:solidFill>
                  <a:srgbClr val="132238"/>
                </a:solidFill>
              </a:defRPr>
            </a:pPr>
            <a:r>
              <a:rPr sz="1275" b="0">
                <a:solidFill>
                  <a:srgbClr val="132238"/>
                </a:solidFill>
              </a:rPr>
              <a:t>Controller → Service → Repository로 책임 분리</a:t>
            </a:r>
          </a:p>
        </p:txBody>
      </p:sp>
      <p:sp>
        <p:nvSpPr>
          <p:cNvPr id="18" name="">
            <a:extLst xmlns:a="http://schemas.openxmlformats.org/drawingml/2006/main">
              <a:ext uri="{FF2B5EF4-FFF2-40B4-BE49-F238E27FC236}">
                <a16:creationId xmlns:a16="http://schemas.microsoft.com/office/drawing/2014/main" id="{F7DB72C5-8589-4792-8A4A-07AC7B447F51}"/>
              </a:ext>
            </a:extLst>
          </p:cNvPr>
          <p:cNvSpPr>
            <a:spLocks xmlns:a="http://schemas.openxmlformats.org/drawingml/2006/main" noGrp="1"/>
          </p:cNvSpPr>
          <p:nvPr/>
        </p:nvSpPr>
        <p:spPr>
          <a:xfrm xmlns:a="http://schemas.openxmlformats.org/drawingml/2006/main">
            <a:off x="609600" y="3390900"/>
            <a:ext cx="15716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9" name="">
            <a:extLst xmlns:a="http://schemas.openxmlformats.org/drawingml/2006/main">
              <a:ext uri="{FF2B5EF4-FFF2-40B4-BE49-F238E27FC236}">
                <a16:creationId xmlns:a16="http://schemas.microsoft.com/office/drawing/2014/main" id="{61844FE1-4327-46BB-AC3A-4346F4561E3C}"/>
              </a:ext>
            </a:extLst>
          </p:cNvPr>
          <p:cNvSpPr>
            <a:spLocks xmlns:a="http://schemas.openxmlformats.org/drawingml/2006/main" noGrp="1"/>
          </p:cNvSpPr>
          <p:nvPr/>
        </p:nvSpPr>
        <p:spPr>
          <a:xfrm xmlns:a="http://schemas.openxmlformats.org/drawingml/2006/main">
            <a:off x="742950" y="35623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114"/>
                </a:solidFill>
              </a:defRPr>
            </a:pPr>
            <a:r>
              <a:rPr sz="1350" b="1">
                <a:solidFill>
                  <a:srgbClr val="101114"/>
                </a:solidFill>
              </a:rPr>
              <a:t>사용자 경험</a:t>
            </a:r>
          </a:p>
        </p:txBody>
      </p:sp>
      <p:sp>
        <p:nvSpPr>
          <p:cNvPr id="20" name="">
            <a:extLst xmlns:a="http://schemas.openxmlformats.org/drawingml/2006/main">
              <a:ext uri="{FF2B5EF4-FFF2-40B4-BE49-F238E27FC236}">
                <a16:creationId xmlns:a16="http://schemas.microsoft.com/office/drawing/2014/main" id="{1D096A7C-A065-4797-9B81-E55DBDF9BDEC}"/>
              </a:ext>
            </a:extLst>
          </p:cNvPr>
          <p:cNvSpPr>
            <a:spLocks xmlns:a="http://schemas.openxmlformats.org/drawingml/2006/main" noGrp="1"/>
          </p:cNvSpPr>
          <p:nvPr/>
        </p:nvSpPr>
        <p:spPr>
          <a:xfrm xmlns:a="http://schemas.openxmlformats.org/drawingml/2006/main">
            <a:off x="2238375" y="3390900"/>
            <a:ext cx="44291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1" name="">
            <a:extLst xmlns:a="http://schemas.openxmlformats.org/drawingml/2006/main">
              <a:ext uri="{FF2B5EF4-FFF2-40B4-BE49-F238E27FC236}">
                <a16:creationId xmlns:a16="http://schemas.microsoft.com/office/drawing/2014/main" id="{FB6923E7-8B90-4C7B-9D21-633D5CBEA39F}"/>
              </a:ext>
            </a:extLst>
          </p:cNvPr>
          <p:cNvSpPr>
            <a:spLocks xmlns:a="http://schemas.openxmlformats.org/drawingml/2006/main" noGrp="1"/>
          </p:cNvSpPr>
          <p:nvPr/>
        </p:nvSpPr>
        <p:spPr>
          <a:xfrm xmlns:a="http://schemas.openxmlformats.org/drawingml/2006/main">
            <a:off x="2371725" y="3562350"/>
            <a:ext cx="4162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01114"/>
                </a:solidFill>
              </a:defRPr>
            </a:pPr>
            <a:r>
              <a:rPr sz="1275" b="0">
                <a:solidFill>
                  <a:srgbClr val="101114"/>
                </a:solidFill>
              </a:rPr>
              <a:t>매칭 여부를 확인하려면 사용자가</a:t>
            </a:r>
          </a:p>
          <a:p xmlns:a="http://schemas.openxmlformats.org/drawingml/2006/main">
            <a:pPr algn="l">
              <a:defRPr sz="1275" b="0">
                <a:solidFill>
                  <a:srgbClr val="101114"/>
                </a:solidFill>
              </a:defRPr>
            </a:pPr>
            <a:r>
              <a:rPr sz="1275" b="0">
                <a:solidFill>
                  <a:srgbClr val="101114"/>
                </a:solidFill>
              </a:rPr>
              <a:t>전체 화면을 다시 요청해야 할 가능성</a:t>
            </a:r>
          </a:p>
        </p:txBody>
      </p:sp>
      <p:sp>
        <p:nvSpPr>
          <p:cNvPr id="22" name="">
            <a:extLst xmlns:a="http://schemas.openxmlformats.org/drawingml/2006/main">
              <a:ext uri="{FF2B5EF4-FFF2-40B4-BE49-F238E27FC236}">
                <a16:creationId xmlns:a16="http://schemas.microsoft.com/office/drawing/2014/main" id="{87977E7D-FAE0-4B52-91A6-774F8B771D3B}"/>
              </a:ext>
            </a:extLst>
          </p:cNvPr>
          <p:cNvSpPr>
            <a:spLocks xmlns:a="http://schemas.openxmlformats.org/drawingml/2006/main" noGrp="1"/>
          </p:cNvSpPr>
          <p:nvPr/>
        </p:nvSpPr>
        <p:spPr>
          <a:xfrm xmlns:a="http://schemas.openxmlformats.org/drawingml/2006/main">
            <a:off x="6762750" y="3390900"/>
            <a:ext cx="48196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3" name="">
            <a:extLst xmlns:a="http://schemas.openxmlformats.org/drawingml/2006/main">
              <a:ext uri="{FF2B5EF4-FFF2-40B4-BE49-F238E27FC236}">
                <a16:creationId xmlns:a16="http://schemas.microsoft.com/office/drawing/2014/main" id="{BBC2B1E2-66F6-4417-928E-4003FB594F06}"/>
              </a:ext>
            </a:extLst>
          </p:cNvPr>
          <p:cNvSpPr>
            <a:spLocks xmlns:a="http://schemas.openxmlformats.org/drawingml/2006/main" noGrp="1"/>
          </p:cNvSpPr>
          <p:nvPr/>
        </p:nvSpPr>
        <p:spPr>
          <a:xfrm xmlns:a="http://schemas.openxmlformats.org/drawingml/2006/main">
            <a:off x="6896100" y="3562350"/>
            <a:ext cx="4552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32238"/>
                </a:solidFill>
              </a:defRPr>
            </a:pPr>
            <a:r>
              <a:rPr sz="1275" b="0">
                <a:solidFill>
                  <a:srgbClr val="132238"/>
                </a:solidFill>
              </a:rPr>
              <a:t>fetch가 GET API를 5초마다 호출</a:t>
            </a:r>
          </a:p>
          <a:p xmlns:a="http://schemas.openxmlformats.org/drawingml/2006/main">
            <a:pPr algn="l">
              <a:defRPr sz="1275" b="0">
                <a:solidFill>
                  <a:srgbClr val="132238"/>
                </a:solidFill>
              </a:defRPr>
            </a:pPr>
            <a:r>
              <a:rPr sz="1275" b="0">
                <a:solidFill>
                  <a:srgbClr val="132238"/>
                </a:solidFill>
              </a:rPr>
              <a:t>MATCHED 응답 시 완료 화면으로 자동 이동</a:t>
            </a:r>
          </a:p>
        </p:txBody>
      </p:sp>
      <p:sp>
        <p:nvSpPr>
          <p:cNvPr id="24" name="">
            <a:extLst xmlns:a="http://schemas.openxmlformats.org/drawingml/2006/main">
              <a:ext uri="{FF2B5EF4-FFF2-40B4-BE49-F238E27FC236}">
                <a16:creationId xmlns:a16="http://schemas.microsoft.com/office/drawing/2014/main" id="{5AA70BA7-0C94-4AFD-9C10-5FAC44E87C10}"/>
              </a:ext>
            </a:extLst>
          </p:cNvPr>
          <p:cNvSpPr>
            <a:spLocks xmlns:a="http://schemas.openxmlformats.org/drawingml/2006/main" noGrp="1"/>
          </p:cNvSpPr>
          <p:nvPr/>
        </p:nvSpPr>
        <p:spPr>
          <a:xfrm xmlns:a="http://schemas.openxmlformats.org/drawingml/2006/main">
            <a:off x="609600" y="4457700"/>
            <a:ext cx="15716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5" name="">
            <a:extLst xmlns:a="http://schemas.openxmlformats.org/drawingml/2006/main">
              <a:ext uri="{FF2B5EF4-FFF2-40B4-BE49-F238E27FC236}">
                <a16:creationId xmlns:a16="http://schemas.microsoft.com/office/drawing/2014/main" id="{5FF09542-794B-4C29-9AD9-F6F88ACBBEDA}"/>
              </a:ext>
            </a:extLst>
          </p:cNvPr>
          <p:cNvSpPr>
            <a:spLocks xmlns:a="http://schemas.openxmlformats.org/drawingml/2006/main" noGrp="1"/>
          </p:cNvSpPr>
          <p:nvPr/>
        </p:nvSpPr>
        <p:spPr>
          <a:xfrm xmlns:a="http://schemas.openxmlformats.org/drawingml/2006/main">
            <a:off x="742950" y="46291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114"/>
                </a:solidFill>
              </a:defRPr>
            </a:pPr>
            <a:r>
              <a:rPr sz="1350" b="1">
                <a:solidFill>
                  <a:srgbClr val="101114"/>
                </a:solidFill>
              </a:rPr>
              <a:t>리스크·품질</a:t>
            </a:r>
          </a:p>
        </p:txBody>
      </p:sp>
      <p:sp>
        <p:nvSpPr>
          <p:cNvPr id="26" name="">
            <a:extLst xmlns:a="http://schemas.openxmlformats.org/drawingml/2006/main">
              <a:ext uri="{FF2B5EF4-FFF2-40B4-BE49-F238E27FC236}">
                <a16:creationId xmlns:a16="http://schemas.microsoft.com/office/drawing/2014/main" id="{F7AADE9B-E76A-4591-BEE1-15537FE41B4C}"/>
              </a:ext>
            </a:extLst>
          </p:cNvPr>
          <p:cNvSpPr>
            <a:spLocks xmlns:a="http://schemas.openxmlformats.org/drawingml/2006/main" noGrp="1"/>
          </p:cNvSpPr>
          <p:nvPr/>
        </p:nvSpPr>
        <p:spPr>
          <a:xfrm xmlns:a="http://schemas.openxmlformats.org/drawingml/2006/main">
            <a:off x="2238375" y="4457700"/>
            <a:ext cx="44291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7" name="">
            <a:extLst xmlns:a="http://schemas.openxmlformats.org/drawingml/2006/main">
              <a:ext uri="{FF2B5EF4-FFF2-40B4-BE49-F238E27FC236}">
                <a16:creationId xmlns:a16="http://schemas.microsoft.com/office/drawing/2014/main" id="{2C3BD026-EE81-4B19-B209-62820BBC6E4C}"/>
              </a:ext>
            </a:extLst>
          </p:cNvPr>
          <p:cNvSpPr>
            <a:spLocks xmlns:a="http://schemas.openxmlformats.org/drawingml/2006/main" noGrp="1"/>
          </p:cNvSpPr>
          <p:nvPr/>
        </p:nvSpPr>
        <p:spPr>
          <a:xfrm xmlns:a="http://schemas.openxmlformats.org/drawingml/2006/main">
            <a:off x="2371725" y="4629150"/>
            <a:ext cx="4162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01114"/>
                </a:solidFill>
              </a:defRPr>
            </a:pPr>
            <a:r>
              <a:rPr sz="1275" b="0">
                <a:solidFill>
                  <a:srgbClr val="101114"/>
                </a:solidFill>
              </a:rPr>
              <a:t>Entity 직접 노출과 Controller별</a:t>
            </a:r>
          </a:p>
          <a:p xmlns:a="http://schemas.openxmlformats.org/drawingml/2006/main">
            <a:pPr algn="l">
              <a:defRPr sz="1275" b="0">
                <a:solidFill>
                  <a:srgbClr val="101114"/>
                </a:solidFill>
              </a:defRPr>
            </a:pPr>
            <a:r>
              <a:rPr sz="1275" b="0">
                <a:solidFill>
                  <a:srgbClr val="101114"/>
                </a:solidFill>
              </a:rPr>
              <a:t>예외 응답 불일치 위험</a:t>
            </a:r>
          </a:p>
        </p:txBody>
      </p:sp>
      <p:sp>
        <p:nvSpPr>
          <p:cNvPr id="28" name="">
            <a:extLst xmlns:a="http://schemas.openxmlformats.org/drawingml/2006/main">
              <a:ext uri="{FF2B5EF4-FFF2-40B4-BE49-F238E27FC236}">
                <a16:creationId xmlns:a16="http://schemas.microsoft.com/office/drawing/2014/main" id="{93CD7FC3-101E-4301-B511-51B08E3EDDF2}"/>
              </a:ext>
            </a:extLst>
          </p:cNvPr>
          <p:cNvSpPr>
            <a:spLocks xmlns:a="http://schemas.openxmlformats.org/drawingml/2006/main" noGrp="1"/>
          </p:cNvSpPr>
          <p:nvPr/>
        </p:nvSpPr>
        <p:spPr>
          <a:xfrm xmlns:a="http://schemas.openxmlformats.org/drawingml/2006/main">
            <a:off x="6762750" y="4457700"/>
            <a:ext cx="48196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9" name="">
            <a:extLst xmlns:a="http://schemas.openxmlformats.org/drawingml/2006/main">
              <a:ext uri="{FF2B5EF4-FFF2-40B4-BE49-F238E27FC236}">
                <a16:creationId xmlns:a16="http://schemas.microsoft.com/office/drawing/2014/main" id="{06A136FD-FB5F-4FC5-8198-6C72432DA0F2}"/>
              </a:ext>
            </a:extLst>
          </p:cNvPr>
          <p:cNvSpPr>
            <a:spLocks xmlns:a="http://schemas.openxmlformats.org/drawingml/2006/main" noGrp="1"/>
          </p:cNvSpPr>
          <p:nvPr/>
        </p:nvSpPr>
        <p:spPr>
          <a:xfrm xmlns:a="http://schemas.openxmlformats.org/drawingml/2006/main">
            <a:off x="6896100" y="4629150"/>
            <a:ext cx="4552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32238"/>
                </a:solidFill>
              </a:defRPr>
            </a:pPr>
            <a:r>
              <a:rPr sz="1275" b="0">
                <a:solidFill>
                  <a:srgbClr val="132238"/>
                </a:solidFill>
              </a:rPr>
              <a:t>응답 DTO와 GlobalExceptionHandler 적용</a:t>
            </a:r>
          </a:p>
          <a:p xmlns:a="http://schemas.openxmlformats.org/drawingml/2006/main">
            <a:pPr algn="l">
              <a:defRPr sz="1275" b="0">
                <a:solidFill>
                  <a:srgbClr val="132238"/>
                </a:solidFill>
              </a:defRPr>
            </a:pPr>
            <a:r>
              <a:rPr sz="1275" b="0">
                <a:solidFill>
                  <a:srgbClr val="132238"/>
                </a:solidFill>
              </a:rPr>
              <a:t>401·403·404·409를 의미에 맞게 반환</a:t>
            </a:r>
          </a:p>
        </p:txBody>
      </p:sp>
      <p:sp>
        <p:nvSpPr>
          <p:cNvPr id="30" name="">
            <a:extLst xmlns:a="http://schemas.openxmlformats.org/drawingml/2006/main">
              <a:ext uri="{FF2B5EF4-FFF2-40B4-BE49-F238E27FC236}">
                <a16:creationId xmlns:a16="http://schemas.microsoft.com/office/drawing/2014/main" id="{F1D35FF2-FADD-45FA-AA1B-A1B3894CF9D0}"/>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132238"/>
          </a:solidFill>
          <a:ln xmlns:a="http://schemas.openxmlformats.org/drawingml/2006/main" w="9525">
            <a:solidFill>
              <a:srgbClr val="132238"/>
            </a:solidFill>
            <a:prstDash val="solid"/>
          </a:ln>
        </p:spPr>
      </p:sp>
      <p:sp>
        <p:nvSpPr>
          <p:cNvPr id="31" name="">
            <a:extLst xmlns:a="http://schemas.openxmlformats.org/drawingml/2006/main">
              <a:ext uri="{FF2B5EF4-FFF2-40B4-BE49-F238E27FC236}">
                <a16:creationId xmlns:a16="http://schemas.microsoft.com/office/drawing/2014/main" id="{ACC2B9A5-90ED-4CE9-8967-BE8AE12B863B}"/>
              </a:ext>
            </a:extLst>
          </p:cNvPr>
          <p:cNvSpPr>
            <a:spLocks xmlns:a="http://schemas.openxmlformats.org/drawingml/2006/main" noGrp="1"/>
          </p:cNvSpPr>
          <p:nvPr/>
        </p:nvSpPr>
        <p:spPr>
          <a:xfrm xmlns:a="http://schemas.openxmlformats.org/drawingml/2006/main">
            <a:off x="838200" y="58674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핵심 가치  |  화면 새로고침 없이 최신 상태를 제공하면서 계층 책임과 API 계약을 명확하게 유지</a:t>
            </a:r>
          </a:p>
        </p:txBody>
      </p:sp>
      <p:sp>
        <p:nvSpPr>
          <p:cNvPr id="32" name="">
            <a:extLst xmlns:a="http://schemas.openxmlformats.org/drawingml/2006/main">
              <a:ext uri="{FF2B5EF4-FFF2-40B4-BE49-F238E27FC236}">
                <a16:creationId xmlns:a16="http://schemas.microsoft.com/office/drawing/2014/main" id="{D8E1065C-4BFA-4D2C-AA3A-DE9D93F3ED6A}"/>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프로젝트 실제 코드 기반 · 표준 5-Slide</a:t>
            </a:r>
          </a:p>
        </p:txBody>
      </p:sp>
    </p:spTree>
    <p:extLst>
      <p:ext uri="{BB962C8B-B14F-4D97-AF65-F5344CB8AC3E}">
        <p14:creationId xmlns:p14="http://schemas.microsoft.com/office/powerpoint/2010/main" val="16988838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F61604B-B552-4DAE-8494-AED98D2247C0}"/>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812FB71D-DDF7-429D-9C32-3C443149C60A}"/>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시스템 구조 &amp; REST API 설계 아키텍처</a:t>
            </a:r>
          </a:p>
        </p:txBody>
      </p:sp>
      <p:sp>
        <p:nvSpPr>
          <p:cNvPr id="3" name="">
            <a:extLst xmlns:a="http://schemas.openxmlformats.org/drawingml/2006/main">
              <a:ext uri="{FF2B5EF4-FFF2-40B4-BE49-F238E27FC236}">
                <a16:creationId xmlns:a16="http://schemas.microsoft.com/office/drawing/2014/main" id="{0C12E771-A825-42CE-AB52-05E557C1E627}"/>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03</a:t>
            </a:r>
          </a:p>
        </p:txBody>
      </p:sp>
      <p:sp>
        <p:nvSpPr>
          <p:cNvPr id="4" name="">
            <a:extLst xmlns:a="http://schemas.openxmlformats.org/drawingml/2006/main">
              <a:ext uri="{FF2B5EF4-FFF2-40B4-BE49-F238E27FC236}">
                <a16:creationId xmlns:a16="http://schemas.microsoft.com/office/drawing/2014/main" id="{17237850-526F-4A94-ADF0-3E2CF64E0EE8}"/>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0D3F0D-EC5A-47B0-8AC9-79AAD9118991}"/>
              </a:ext>
            </a:extLst>
          </p:cNvPr>
          <p:cNvSpPr>
            <a:spLocks xmlns:a="http://schemas.openxmlformats.org/drawingml/2006/main" noGrp="1"/>
          </p:cNvSpPr>
          <p:nvPr/>
        </p:nvSpPr>
        <p:spPr>
          <a:xfrm xmlns:a="http://schemas.openxmlformats.org/drawingml/2006/main">
            <a:off x="704850" y="1666875"/>
            <a:ext cx="1714500" cy="876300"/>
          </a:xfrm>
          <a:prstGeom xmlns:a="http://schemas.openxmlformats.org/drawingml/2006/main" prst="roundRect">
            <a:avLst>
              <a:gd name="adj" fmla="val 13043"/>
            </a:avLst>
          </a:prstGeom>
          <a:solidFill xmlns:a="http://schemas.openxmlformats.org/drawingml/2006/main">
            <a:srgbClr val="DDF3FD"/>
          </a:solidFill>
          <a:ln xmlns:a="http://schemas.openxmlformats.org/drawingml/2006/main" w="9525">
            <a:solidFill>
              <a:srgbClr val="BBC1C9"/>
            </a:solidFill>
            <a:prstDash val="solid"/>
          </a:ln>
        </p:spPr>
      </p:sp>
      <p:sp>
        <p:nvSpPr>
          <p:cNvPr id="6" name="">
            <a:extLst xmlns:a="http://schemas.openxmlformats.org/drawingml/2006/main">
              <a:ext uri="{FF2B5EF4-FFF2-40B4-BE49-F238E27FC236}">
                <a16:creationId xmlns:a16="http://schemas.microsoft.com/office/drawing/2014/main" id="{1B848EC6-79FC-4130-BC43-103E045B7335}"/>
              </a:ext>
            </a:extLst>
          </p:cNvPr>
          <p:cNvSpPr>
            <a:spLocks xmlns:a="http://schemas.openxmlformats.org/drawingml/2006/main" noGrp="1"/>
          </p:cNvSpPr>
          <p:nvPr/>
        </p:nvSpPr>
        <p:spPr>
          <a:xfrm xmlns:a="http://schemas.openxmlformats.org/drawingml/2006/main">
            <a:off x="800100"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Thymeleaf 화면</a:t>
            </a:r>
          </a:p>
        </p:txBody>
      </p:sp>
      <p:sp>
        <p:nvSpPr>
          <p:cNvPr id="7" name="">
            <a:extLst xmlns:a="http://schemas.openxmlformats.org/drawingml/2006/main">
              <a:ext uri="{FF2B5EF4-FFF2-40B4-BE49-F238E27FC236}">
                <a16:creationId xmlns:a16="http://schemas.microsoft.com/office/drawing/2014/main" id="{A2B6F0BE-5E69-4ED3-9A0B-853B627838E0}"/>
              </a:ext>
            </a:extLst>
          </p:cNvPr>
          <p:cNvSpPr>
            <a:spLocks xmlns:a="http://schemas.openxmlformats.org/drawingml/2006/main" noGrp="1"/>
          </p:cNvSpPr>
          <p:nvPr/>
        </p:nvSpPr>
        <p:spPr>
          <a:xfrm xmlns:a="http://schemas.openxmlformats.org/drawingml/2006/main">
            <a:off x="800100"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matching-wait.html</a:t>
            </a:r>
          </a:p>
        </p:txBody>
      </p:sp>
      <p:sp>
        <p:nvSpPr>
          <p:cNvPr id="8" name="">
            <a:extLst xmlns:a="http://schemas.openxmlformats.org/drawingml/2006/main">
              <a:ext uri="{FF2B5EF4-FFF2-40B4-BE49-F238E27FC236}">
                <a16:creationId xmlns:a16="http://schemas.microsoft.com/office/drawing/2014/main" id="{6E476282-08B2-4D3A-8B10-40A17118E4A6}"/>
              </a:ext>
            </a:extLst>
          </p:cNvPr>
          <p:cNvSpPr>
            <a:spLocks xmlns:a="http://schemas.openxmlformats.org/drawingml/2006/main" noGrp="1"/>
          </p:cNvSpPr>
          <p:nvPr/>
        </p:nvSpPr>
        <p:spPr>
          <a:xfrm xmlns:a="http://schemas.openxmlformats.org/drawingml/2006/main">
            <a:off x="2486025" y="1943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0">
                <a:solidFill>
                  <a:srgbClr val="3D8DFF"/>
                </a:solidFill>
              </a:defRPr>
            </a:pPr>
            <a:r>
              <a:rPr sz="2025" b="0">
                <a:solidFill>
                  <a:srgbClr val="3D8DFF"/>
                </a:solidFill>
              </a:rPr>
              <a:t>→</a:t>
            </a:r>
          </a:p>
        </p:txBody>
      </p:sp>
      <p:sp>
        <p:nvSpPr>
          <p:cNvPr id="9" name="">
            <a:extLst xmlns:a="http://schemas.openxmlformats.org/drawingml/2006/main">
              <a:ext uri="{FF2B5EF4-FFF2-40B4-BE49-F238E27FC236}">
                <a16:creationId xmlns:a16="http://schemas.microsoft.com/office/drawing/2014/main" id="{2AD01A68-D842-428A-A1A6-3B4D04BC0D6E}"/>
              </a:ext>
            </a:extLst>
          </p:cNvPr>
          <p:cNvSpPr>
            <a:spLocks xmlns:a="http://schemas.openxmlformats.org/drawingml/2006/main" noGrp="1"/>
          </p:cNvSpPr>
          <p:nvPr/>
        </p:nvSpPr>
        <p:spPr>
          <a:xfrm xmlns:a="http://schemas.openxmlformats.org/drawingml/2006/main">
            <a:off x="3095625" y="1666875"/>
            <a:ext cx="1714500" cy="876300"/>
          </a:xfrm>
          <a:prstGeom xmlns:a="http://schemas.openxmlformats.org/drawingml/2006/main" prst="roundRect">
            <a:avLst>
              <a:gd name="adj" fmla="val 13043"/>
            </a:avLst>
          </a:prstGeom>
          <a:solidFill xmlns:a="http://schemas.openxmlformats.org/drawingml/2006/main">
            <a:srgbClr val="F0F2F4"/>
          </a:solidFill>
          <a:ln xmlns:a="http://schemas.openxmlformats.org/drawingml/2006/main" w="9525">
            <a:solidFill>
              <a:srgbClr val="BBC1C9"/>
            </a:solidFill>
            <a:prstDash val="solid"/>
          </a:ln>
        </p:spPr>
      </p:sp>
      <p:sp>
        <p:nvSpPr>
          <p:cNvPr id="10" name="">
            <a:extLst xmlns:a="http://schemas.openxmlformats.org/drawingml/2006/main">
              <a:ext uri="{FF2B5EF4-FFF2-40B4-BE49-F238E27FC236}">
                <a16:creationId xmlns:a16="http://schemas.microsoft.com/office/drawing/2014/main" id="{C0A99A13-44A9-4A33-B72A-3FCBCD44DD7C}"/>
              </a:ext>
            </a:extLst>
          </p:cNvPr>
          <p:cNvSpPr>
            <a:spLocks xmlns:a="http://schemas.openxmlformats.org/drawingml/2006/main" noGrp="1"/>
          </p:cNvSpPr>
          <p:nvPr/>
        </p:nvSpPr>
        <p:spPr>
          <a:xfrm xmlns:a="http://schemas.openxmlformats.org/drawingml/2006/main">
            <a:off x="3190875"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REST Controller</a:t>
            </a:r>
          </a:p>
        </p:txBody>
      </p:sp>
      <p:sp>
        <p:nvSpPr>
          <p:cNvPr id="11" name="">
            <a:extLst xmlns:a="http://schemas.openxmlformats.org/drawingml/2006/main">
              <a:ext uri="{FF2B5EF4-FFF2-40B4-BE49-F238E27FC236}">
                <a16:creationId xmlns:a16="http://schemas.microsoft.com/office/drawing/2014/main" id="{FC59C3AB-EB53-4F49-A4B7-269CEB06E936}"/>
              </a:ext>
            </a:extLst>
          </p:cNvPr>
          <p:cNvSpPr>
            <a:spLocks xmlns:a="http://schemas.openxmlformats.org/drawingml/2006/main" noGrp="1"/>
          </p:cNvSpPr>
          <p:nvPr/>
        </p:nvSpPr>
        <p:spPr>
          <a:xfrm xmlns:a="http://schemas.openxmlformats.org/drawingml/2006/main">
            <a:off x="3190875"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HTTP·인증·DTO</a:t>
            </a:r>
          </a:p>
        </p:txBody>
      </p:sp>
      <p:sp>
        <p:nvSpPr>
          <p:cNvPr id="12" name="">
            <a:extLst xmlns:a="http://schemas.openxmlformats.org/drawingml/2006/main">
              <a:ext uri="{FF2B5EF4-FFF2-40B4-BE49-F238E27FC236}">
                <a16:creationId xmlns:a16="http://schemas.microsoft.com/office/drawing/2014/main" id="{B498D7D9-91A2-41B6-BB9A-973B5CFC96D4}"/>
              </a:ext>
            </a:extLst>
          </p:cNvPr>
          <p:cNvSpPr>
            <a:spLocks xmlns:a="http://schemas.openxmlformats.org/drawingml/2006/main" noGrp="1"/>
          </p:cNvSpPr>
          <p:nvPr/>
        </p:nvSpPr>
        <p:spPr>
          <a:xfrm xmlns:a="http://schemas.openxmlformats.org/drawingml/2006/main">
            <a:off x="4876800" y="1943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0">
                <a:solidFill>
                  <a:srgbClr val="3D8DFF"/>
                </a:solidFill>
              </a:defRPr>
            </a:pPr>
            <a:r>
              <a:rPr sz="2025" b="0">
                <a:solidFill>
                  <a:srgbClr val="3D8DFF"/>
                </a:solidFill>
              </a:rPr>
              <a:t>→</a:t>
            </a:r>
          </a:p>
        </p:txBody>
      </p:sp>
      <p:sp>
        <p:nvSpPr>
          <p:cNvPr id="13" name="">
            <a:extLst xmlns:a="http://schemas.openxmlformats.org/drawingml/2006/main">
              <a:ext uri="{FF2B5EF4-FFF2-40B4-BE49-F238E27FC236}">
                <a16:creationId xmlns:a16="http://schemas.microsoft.com/office/drawing/2014/main" id="{2ECA0AC8-5942-4CB8-8D8D-32FEE31C0BCC}"/>
              </a:ext>
            </a:extLst>
          </p:cNvPr>
          <p:cNvSpPr>
            <a:spLocks xmlns:a="http://schemas.openxmlformats.org/drawingml/2006/main" noGrp="1"/>
          </p:cNvSpPr>
          <p:nvPr/>
        </p:nvSpPr>
        <p:spPr>
          <a:xfrm xmlns:a="http://schemas.openxmlformats.org/drawingml/2006/main">
            <a:off x="5486400" y="1666875"/>
            <a:ext cx="1714500" cy="876300"/>
          </a:xfrm>
          <a:prstGeom xmlns:a="http://schemas.openxmlformats.org/drawingml/2006/main" prst="roundRect">
            <a:avLst>
              <a:gd name="adj" fmla="val 13043"/>
            </a:avLst>
          </a:prstGeom>
          <a:solidFill xmlns:a="http://schemas.openxmlformats.org/drawingml/2006/main">
            <a:srgbClr val="F0F2F4"/>
          </a:solidFill>
          <a:ln xmlns:a="http://schemas.openxmlformats.org/drawingml/2006/main" w="9525">
            <a:solidFill>
              <a:srgbClr val="BBC1C9"/>
            </a:solidFill>
            <a:prstDash val="solid"/>
          </a:ln>
        </p:spPr>
      </p:sp>
      <p:sp>
        <p:nvSpPr>
          <p:cNvPr id="14" name="">
            <a:extLst xmlns:a="http://schemas.openxmlformats.org/drawingml/2006/main">
              <a:ext uri="{FF2B5EF4-FFF2-40B4-BE49-F238E27FC236}">
                <a16:creationId xmlns:a16="http://schemas.microsoft.com/office/drawing/2014/main" id="{873DB32E-9560-45DA-AF1B-57EB6FE13FE8}"/>
              </a:ext>
            </a:extLst>
          </p:cNvPr>
          <p:cNvSpPr>
            <a:spLocks xmlns:a="http://schemas.openxmlformats.org/drawingml/2006/main" noGrp="1"/>
          </p:cNvSpPr>
          <p:nvPr/>
        </p:nvSpPr>
        <p:spPr>
          <a:xfrm xmlns:a="http://schemas.openxmlformats.org/drawingml/2006/main">
            <a:off x="5581650"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Service</a:t>
            </a:r>
          </a:p>
        </p:txBody>
      </p:sp>
      <p:sp>
        <p:nvSpPr>
          <p:cNvPr id="15" name="">
            <a:extLst xmlns:a="http://schemas.openxmlformats.org/drawingml/2006/main">
              <a:ext uri="{FF2B5EF4-FFF2-40B4-BE49-F238E27FC236}">
                <a16:creationId xmlns:a16="http://schemas.microsoft.com/office/drawing/2014/main" id="{2489A189-6A27-4F65-8632-9B6098ACA12E}"/>
              </a:ext>
            </a:extLst>
          </p:cNvPr>
          <p:cNvSpPr>
            <a:spLocks xmlns:a="http://schemas.openxmlformats.org/drawingml/2006/main" noGrp="1"/>
          </p:cNvSpPr>
          <p:nvPr/>
        </p:nvSpPr>
        <p:spPr>
          <a:xfrm xmlns:a="http://schemas.openxmlformats.org/drawingml/2006/main">
            <a:off x="5581650"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비즈니스 규칙</a:t>
            </a:r>
          </a:p>
        </p:txBody>
      </p:sp>
      <p:sp>
        <p:nvSpPr>
          <p:cNvPr id="16" name="">
            <a:extLst xmlns:a="http://schemas.openxmlformats.org/drawingml/2006/main">
              <a:ext uri="{FF2B5EF4-FFF2-40B4-BE49-F238E27FC236}">
                <a16:creationId xmlns:a16="http://schemas.microsoft.com/office/drawing/2014/main" id="{5CF193C9-F7AE-4FE3-B204-4E7CADCE4081}"/>
              </a:ext>
            </a:extLst>
          </p:cNvPr>
          <p:cNvSpPr>
            <a:spLocks xmlns:a="http://schemas.openxmlformats.org/drawingml/2006/main" noGrp="1"/>
          </p:cNvSpPr>
          <p:nvPr/>
        </p:nvSpPr>
        <p:spPr>
          <a:xfrm xmlns:a="http://schemas.openxmlformats.org/drawingml/2006/main">
            <a:off x="7267575" y="1943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0">
                <a:solidFill>
                  <a:srgbClr val="3D8DFF"/>
                </a:solidFill>
              </a:defRPr>
            </a:pPr>
            <a:r>
              <a:rPr sz="2025" b="0">
                <a:solidFill>
                  <a:srgbClr val="3D8DFF"/>
                </a:solidFill>
              </a:rPr>
              <a:t>→</a:t>
            </a:r>
          </a:p>
        </p:txBody>
      </p:sp>
      <p:sp>
        <p:nvSpPr>
          <p:cNvPr id="17" name="">
            <a:extLst xmlns:a="http://schemas.openxmlformats.org/drawingml/2006/main">
              <a:ext uri="{FF2B5EF4-FFF2-40B4-BE49-F238E27FC236}">
                <a16:creationId xmlns:a16="http://schemas.microsoft.com/office/drawing/2014/main" id="{97F4A82F-7BA6-4B89-A96A-BC25E0FDBE1D}"/>
              </a:ext>
            </a:extLst>
          </p:cNvPr>
          <p:cNvSpPr>
            <a:spLocks xmlns:a="http://schemas.openxmlformats.org/drawingml/2006/main" noGrp="1"/>
          </p:cNvSpPr>
          <p:nvPr/>
        </p:nvSpPr>
        <p:spPr>
          <a:xfrm xmlns:a="http://schemas.openxmlformats.org/drawingml/2006/main">
            <a:off x="7877175" y="1666875"/>
            <a:ext cx="1714500" cy="876300"/>
          </a:xfrm>
          <a:prstGeom xmlns:a="http://schemas.openxmlformats.org/drawingml/2006/main" prst="roundRect">
            <a:avLst>
              <a:gd name="adj" fmla="val 13043"/>
            </a:avLst>
          </a:prstGeom>
          <a:solidFill xmlns:a="http://schemas.openxmlformats.org/drawingml/2006/main">
            <a:srgbClr val="F0F2F4"/>
          </a:solidFill>
          <a:ln xmlns:a="http://schemas.openxmlformats.org/drawingml/2006/main" w="9525">
            <a:solidFill>
              <a:srgbClr val="BBC1C9"/>
            </a:solidFill>
            <a:prstDash val="solid"/>
          </a:ln>
        </p:spPr>
      </p:sp>
      <p:sp>
        <p:nvSpPr>
          <p:cNvPr id="18" name="">
            <a:extLst xmlns:a="http://schemas.openxmlformats.org/drawingml/2006/main">
              <a:ext uri="{FF2B5EF4-FFF2-40B4-BE49-F238E27FC236}">
                <a16:creationId xmlns:a16="http://schemas.microsoft.com/office/drawing/2014/main" id="{A44393EF-D766-4C5E-9ED0-43F91891B82C}"/>
              </a:ext>
            </a:extLst>
          </p:cNvPr>
          <p:cNvSpPr>
            <a:spLocks xmlns:a="http://schemas.openxmlformats.org/drawingml/2006/main" noGrp="1"/>
          </p:cNvSpPr>
          <p:nvPr/>
        </p:nvSpPr>
        <p:spPr>
          <a:xfrm xmlns:a="http://schemas.openxmlformats.org/drawingml/2006/main">
            <a:off x="7972425"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Repository</a:t>
            </a:r>
          </a:p>
        </p:txBody>
      </p:sp>
      <p:sp>
        <p:nvSpPr>
          <p:cNvPr id="19" name="">
            <a:extLst xmlns:a="http://schemas.openxmlformats.org/drawingml/2006/main">
              <a:ext uri="{FF2B5EF4-FFF2-40B4-BE49-F238E27FC236}">
                <a16:creationId xmlns:a16="http://schemas.microsoft.com/office/drawing/2014/main" id="{888B820C-A3A3-4BB6-AEE1-6473B626DC97}"/>
              </a:ext>
            </a:extLst>
          </p:cNvPr>
          <p:cNvSpPr>
            <a:spLocks xmlns:a="http://schemas.openxmlformats.org/drawingml/2006/main" noGrp="1"/>
          </p:cNvSpPr>
          <p:nvPr/>
        </p:nvSpPr>
        <p:spPr>
          <a:xfrm xmlns:a="http://schemas.openxmlformats.org/drawingml/2006/main">
            <a:off x="7972425"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JPA·DB 접근</a:t>
            </a:r>
          </a:p>
        </p:txBody>
      </p:sp>
      <p:sp>
        <p:nvSpPr>
          <p:cNvPr id="20" name="">
            <a:extLst xmlns:a="http://schemas.openxmlformats.org/drawingml/2006/main">
              <a:ext uri="{FF2B5EF4-FFF2-40B4-BE49-F238E27FC236}">
                <a16:creationId xmlns:a16="http://schemas.microsoft.com/office/drawing/2014/main" id="{6E0B36AE-7040-4D40-8BB7-C4CDB579D38F}"/>
              </a:ext>
            </a:extLst>
          </p:cNvPr>
          <p:cNvSpPr>
            <a:spLocks xmlns:a="http://schemas.openxmlformats.org/drawingml/2006/main" noGrp="1"/>
          </p:cNvSpPr>
          <p:nvPr/>
        </p:nvSpPr>
        <p:spPr>
          <a:xfrm xmlns:a="http://schemas.openxmlformats.org/drawingml/2006/main">
            <a:off x="9658350" y="1943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0">
                <a:solidFill>
                  <a:srgbClr val="3D8DFF"/>
                </a:solidFill>
              </a:defRPr>
            </a:pPr>
            <a:r>
              <a:rPr sz="2025" b="0">
                <a:solidFill>
                  <a:srgbClr val="3D8DFF"/>
                </a:solidFill>
              </a:rPr>
              <a:t>→</a:t>
            </a:r>
          </a:p>
        </p:txBody>
      </p:sp>
      <p:sp>
        <p:nvSpPr>
          <p:cNvPr id="21" name="">
            <a:extLst xmlns:a="http://schemas.openxmlformats.org/drawingml/2006/main">
              <a:ext uri="{FF2B5EF4-FFF2-40B4-BE49-F238E27FC236}">
                <a16:creationId xmlns:a16="http://schemas.microsoft.com/office/drawing/2014/main" id="{0DEB21BC-E30D-4DBC-B21F-7B34D987ECE8}"/>
              </a:ext>
            </a:extLst>
          </p:cNvPr>
          <p:cNvSpPr>
            <a:spLocks xmlns:a="http://schemas.openxmlformats.org/drawingml/2006/main" noGrp="1"/>
          </p:cNvSpPr>
          <p:nvPr/>
        </p:nvSpPr>
        <p:spPr>
          <a:xfrm xmlns:a="http://schemas.openxmlformats.org/drawingml/2006/main">
            <a:off x="10267950" y="1666875"/>
            <a:ext cx="1714500" cy="876300"/>
          </a:xfrm>
          <a:prstGeom xmlns:a="http://schemas.openxmlformats.org/drawingml/2006/main" prst="roundRect">
            <a:avLst>
              <a:gd name="adj" fmla="val 13043"/>
            </a:avLst>
          </a:prstGeom>
          <a:solidFill xmlns:a="http://schemas.openxmlformats.org/drawingml/2006/main">
            <a:srgbClr val="DDF3FD"/>
          </a:solidFill>
          <a:ln xmlns:a="http://schemas.openxmlformats.org/drawingml/2006/main" w="9525">
            <a:solidFill>
              <a:srgbClr val="BBC1C9"/>
            </a:solidFill>
            <a:prstDash val="solid"/>
          </a:ln>
        </p:spPr>
      </p:sp>
      <p:sp>
        <p:nvSpPr>
          <p:cNvPr id="22" name="">
            <a:extLst xmlns:a="http://schemas.openxmlformats.org/drawingml/2006/main">
              <a:ext uri="{FF2B5EF4-FFF2-40B4-BE49-F238E27FC236}">
                <a16:creationId xmlns:a16="http://schemas.microsoft.com/office/drawing/2014/main" id="{0E1CA655-8CFD-4450-AC94-9D961C85C798}"/>
              </a:ext>
            </a:extLst>
          </p:cNvPr>
          <p:cNvSpPr>
            <a:spLocks xmlns:a="http://schemas.openxmlformats.org/drawingml/2006/main" noGrp="1"/>
          </p:cNvSpPr>
          <p:nvPr/>
        </p:nvSpPr>
        <p:spPr>
          <a:xfrm xmlns:a="http://schemas.openxmlformats.org/drawingml/2006/main">
            <a:off x="10363200"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MariaDB</a:t>
            </a:r>
          </a:p>
        </p:txBody>
      </p:sp>
      <p:sp>
        <p:nvSpPr>
          <p:cNvPr id="23" name="">
            <a:extLst xmlns:a="http://schemas.openxmlformats.org/drawingml/2006/main">
              <a:ext uri="{FF2B5EF4-FFF2-40B4-BE49-F238E27FC236}">
                <a16:creationId xmlns:a16="http://schemas.microsoft.com/office/drawing/2014/main" id="{76C94FF9-C487-4780-9B96-0B448A30DA50}"/>
              </a:ext>
            </a:extLst>
          </p:cNvPr>
          <p:cNvSpPr>
            <a:spLocks xmlns:a="http://schemas.openxmlformats.org/drawingml/2006/main" noGrp="1"/>
          </p:cNvSpPr>
          <p:nvPr/>
        </p:nvSpPr>
        <p:spPr>
          <a:xfrm xmlns:a="http://schemas.openxmlformats.org/drawingml/2006/main">
            <a:off x="10363200"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배송·매칭</a:t>
            </a:r>
          </a:p>
        </p:txBody>
      </p:sp>
      <p:sp>
        <p:nvSpPr>
          <p:cNvPr id="24" name="">
            <a:extLst xmlns:a="http://schemas.openxmlformats.org/drawingml/2006/main">
              <a:ext uri="{FF2B5EF4-FFF2-40B4-BE49-F238E27FC236}">
                <a16:creationId xmlns:a16="http://schemas.microsoft.com/office/drawing/2014/main" id="{5173ED0F-A049-4965-90E6-F0E34695F1AF}"/>
              </a:ext>
            </a:extLst>
          </p:cNvPr>
          <p:cNvSpPr>
            <a:spLocks xmlns:a="http://schemas.openxmlformats.org/drawingml/2006/main" noGrp="1"/>
          </p:cNvSpPr>
          <p:nvPr/>
        </p:nvSpPr>
        <p:spPr>
          <a:xfrm xmlns:a="http://schemas.openxmlformats.org/drawingml/2006/main">
            <a:off x="1352550" y="2809875"/>
            <a:ext cx="948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3D8DFF"/>
                </a:solidFill>
              </a:defRPr>
            </a:pPr>
            <a:r>
              <a:rPr sz="1425" b="1">
                <a:solidFill>
                  <a:srgbClr val="3D8DFF"/>
                </a:solidFill>
              </a:rPr>
              <a:t>GET /api/v1/delivery-requests/{id}   ·   Authorization: Bearer JWT   ·   200 OK + JSON</a:t>
            </a:r>
          </a:p>
        </p:txBody>
      </p:sp>
      <p:sp>
        <p:nvSpPr>
          <p:cNvPr id="25" name="">
            <a:extLst xmlns:a="http://schemas.openxmlformats.org/drawingml/2006/main">
              <a:ext uri="{FF2B5EF4-FFF2-40B4-BE49-F238E27FC236}">
                <a16:creationId xmlns:a16="http://schemas.microsoft.com/office/drawing/2014/main" id="{24EBE17D-95C3-4380-A2F4-613E081DE8E0}"/>
              </a:ext>
            </a:extLst>
          </p:cNvPr>
          <p:cNvSpPr>
            <a:spLocks xmlns:a="http://schemas.openxmlformats.org/drawingml/2006/main" noGrp="1"/>
          </p:cNvSpPr>
          <p:nvPr/>
        </p:nvSpPr>
        <p:spPr>
          <a:xfrm xmlns:a="http://schemas.openxmlformats.org/drawingml/2006/main">
            <a:off x="609600" y="3333750"/>
            <a:ext cx="5381625" cy="2076450"/>
          </a:xfrm>
          <a:prstGeom xmlns:a="http://schemas.openxmlformats.org/drawingml/2006/main" prst="roundRect">
            <a:avLst>
              <a:gd name="adj" fmla="val 5505"/>
            </a:avLst>
          </a:prstGeom>
          <a:solidFill xmlns:a="http://schemas.openxmlformats.org/drawingml/2006/main">
            <a:srgbClr val="111827"/>
          </a:solidFill>
          <a:ln xmlns:a="http://schemas.openxmlformats.org/drawingml/2006/main" w="9525">
            <a:solidFill>
              <a:srgbClr val="111827"/>
            </a:solidFill>
            <a:prstDash val="solid"/>
          </a:ln>
        </p:spPr>
      </p:sp>
      <p:sp>
        <p:nvSpPr>
          <p:cNvPr id="26" name="">
            <a:extLst xmlns:a="http://schemas.openxmlformats.org/drawingml/2006/main">
              <a:ext uri="{FF2B5EF4-FFF2-40B4-BE49-F238E27FC236}">
                <a16:creationId xmlns:a16="http://schemas.microsoft.com/office/drawing/2014/main" id="{1B483753-35AA-4143-A9D7-A825B5C6539D}"/>
              </a:ext>
            </a:extLst>
          </p:cNvPr>
          <p:cNvSpPr>
            <a:spLocks xmlns:a="http://schemas.openxmlformats.org/drawingml/2006/main" noGrp="1"/>
          </p:cNvSpPr>
          <p:nvPr/>
        </p:nvSpPr>
        <p:spPr>
          <a:xfrm xmlns:a="http://schemas.openxmlformats.org/drawingml/2006/main">
            <a:off x="800100" y="3495675"/>
            <a:ext cx="5000625"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E8EFF8"/>
                </a:solidFill>
              </a:defRPr>
            </a:pPr>
            <a:r>
              <a:rPr sz="1125" b="0">
                <a:solidFill>
                  <a:srgbClr val="E8EFF8"/>
                </a:solidFill>
              </a:rPr>
              <a:t>@GetMapping("/{deliveryRequestId}")</a:t>
            </a:r>
          </a:p>
          <a:p xmlns:a="http://schemas.openxmlformats.org/drawingml/2006/main">
            <a:pPr algn="l">
              <a:defRPr sz="1125" b="0">
                <a:solidFill>
                  <a:srgbClr val="E8EFF8"/>
                </a:solidFill>
              </a:defRPr>
            </a:pPr>
            <a:r>
              <a:rPr sz="1125" b="0">
                <a:solidFill>
                  <a:srgbClr val="E8EFF8"/>
                </a:solidFill>
              </a:rPr>
              <a:t>public ResponseEntity&lt;DeliveryDetailResponse&gt; getDeliveryRequest(...) {</a:t>
            </a:r>
          </a:p>
          <a:p xmlns:a="http://schemas.openxmlformats.org/drawingml/2006/main">
            <a:pPr algn="l">
              <a:defRPr sz="1125" b="0">
                <a:solidFill>
                  <a:srgbClr val="E8EFF8"/>
                </a:solidFill>
              </a:defRPr>
            </a:pPr>
            <a:r>
              <a:rPr sz="1125" b="0">
                <a:solidFill>
                  <a:srgbClr val="E8EFF8"/>
                </a:solidFill>
              </a:rPr>
              <a:t>  return ResponseEntity.ok().cacheControl(CacheControl.noStore())</a:t>
            </a:r>
          </a:p>
          <a:p xmlns:a="http://schemas.openxmlformats.org/drawingml/2006/main">
            <a:pPr algn="l">
              <a:defRPr sz="1125" b="0">
                <a:solidFill>
                  <a:srgbClr val="E8EFF8"/>
                </a:solidFill>
              </a:defRPr>
            </a:pPr>
            <a:r>
              <a:rPr sz="1125" b="0">
                <a:solidFill>
                  <a:srgbClr val="E8EFF8"/>
                </a:solidFill>
              </a:rPr>
              <a:t>      .body(deliveryService.getDeliveryRequestDetail(callerId, deliveryRequestId));</a:t>
            </a:r>
          </a:p>
          <a:p xmlns:a="http://schemas.openxmlformats.org/drawingml/2006/main">
            <a:pPr algn="l">
              <a:defRPr sz="1125" b="0">
                <a:solidFill>
                  <a:srgbClr val="E8EFF8"/>
                </a:solidFill>
              </a:defRPr>
            </a:pPr>
            <a:r>
              <a:rPr sz="1125" b="0">
                <a:solidFill>
                  <a:srgbClr val="E8EFF8"/>
                </a:solidFill>
              </a:rPr>
              <a:t>}</a:t>
            </a:r>
          </a:p>
        </p:txBody>
      </p:sp>
      <p:sp>
        <p:nvSpPr>
          <p:cNvPr id="27" name="">
            <a:extLst xmlns:a="http://schemas.openxmlformats.org/drawingml/2006/main">
              <a:ext uri="{FF2B5EF4-FFF2-40B4-BE49-F238E27FC236}">
                <a16:creationId xmlns:a16="http://schemas.microsoft.com/office/drawing/2014/main" id="{64A7163F-DEC7-4927-9BE8-99791DF21082}"/>
              </a:ext>
            </a:extLst>
          </p:cNvPr>
          <p:cNvSpPr>
            <a:spLocks xmlns:a="http://schemas.openxmlformats.org/drawingml/2006/main" noGrp="1"/>
          </p:cNvSpPr>
          <p:nvPr/>
        </p:nvSpPr>
        <p:spPr>
          <a:xfrm xmlns:a="http://schemas.openxmlformats.org/drawingml/2006/main">
            <a:off x="6200775" y="3333750"/>
            <a:ext cx="5381625" cy="2076450"/>
          </a:xfrm>
          <a:prstGeom xmlns:a="http://schemas.openxmlformats.org/drawingml/2006/main" prst="roundRect">
            <a:avLst>
              <a:gd name="adj" fmla="val 5505"/>
            </a:avLst>
          </a:prstGeom>
          <a:solidFill xmlns:a="http://schemas.openxmlformats.org/drawingml/2006/main">
            <a:srgbClr val="111827"/>
          </a:solidFill>
          <a:ln xmlns:a="http://schemas.openxmlformats.org/drawingml/2006/main" w="9525">
            <a:solidFill>
              <a:srgbClr val="111827"/>
            </a:solidFill>
            <a:prstDash val="solid"/>
          </a:ln>
        </p:spPr>
      </p:sp>
      <p:sp>
        <p:nvSpPr>
          <p:cNvPr id="28" name="">
            <a:extLst xmlns:a="http://schemas.openxmlformats.org/drawingml/2006/main">
              <a:ext uri="{FF2B5EF4-FFF2-40B4-BE49-F238E27FC236}">
                <a16:creationId xmlns:a16="http://schemas.microsoft.com/office/drawing/2014/main" id="{30E6D43A-94C0-4149-905C-A5FEA7B896D7}"/>
              </a:ext>
            </a:extLst>
          </p:cNvPr>
          <p:cNvSpPr>
            <a:spLocks xmlns:a="http://schemas.openxmlformats.org/drawingml/2006/main" noGrp="1"/>
          </p:cNvSpPr>
          <p:nvPr/>
        </p:nvSpPr>
        <p:spPr>
          <a:xfrm xmlns:a="http://schemas.openxmlformats.org/drawingml/2006/main">
            <a:off x="6391275" y="3495675"/>
            <a:ext cx="5000625"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E8EFF8"/>
                </a:solidFill>
              </a:defRPr>
            </a:pPr>
            <a:r>
              <a:rPr sz="1125" b="0">
                <a:solidFill>
                  <a:srgbClr val="E8EFF8"/>
                </a:solidFill>
              </a:rPr>
              <a:t>const response = await fetch(</a:t>
            </a:r>
          </a:p>
          <a:p xmlns:a="http://schemas.openxmlformats.org/drawingml/2006/main">
            <a:pPr algn="l">
              <a:defRPr sz="1125" b="0">
                <a:solidFill>
                  <a:srgbClr val="E8EFF8"/>
                </a:solidFill>
              </a:defRPr>
            </a:pPr>
            <a:r>
              <a:rPr sz="1125" b="0">
                <a:solidFill>
                  <a:srgbClr val="E8EFF8"/>
                </a:solidFill>
              </a:rPr>
              <a:t>  `/api/v1/delivery-requests/${deliveryId}`,</a:t>
            </a:r>
          </a:p>
          <a:p xmlns:a="http://schemas.openxmlformats.org/drawingml/2006/main">
            <a:pPr algn="l">
              <a:defRPr sz="1125" b="0">
                <a:solidFill>
                  <a:srgbClr val="E8EFF8"/>
                </a:solidFill>
              </a:defRPr>
            </a:pPr>
            <a:r>
              <a:rPr sz="1125" b="0">
                <a:solidFill>
                  <a:srgbClr val="E8EFF8"/>
                </a:solidFill>
              </a:rPr>
              <a:t>  { headers: { Authorization: header }, cache: 'no-store' }</a:t>
            </a:r>
          </a:p>
          <a:p xmlns:a="http://schemas.openxmlformats.org/drawingml/2006/main">
            <a:pPr algn="l">
              <a:defRPr sz="1125" b="0">
                <a:solidFill>
                  <a:srgbClr val="E8EFF8"/>
                </a:solidFill>
              </a:defRPr>
            </a:pPr>
            <a:r>
              <a:rPr sz="1125" b="0">
                <a:solidFill>
                  <a:srgbClr val="E8EFF8"/>
                </a:solidFill>
              </a:rPr>
              <a:t>);</a:t>
            </a:r>
          </a:p>
          <a:p xmlns:a="http://schemas.openxmlformats.org/drawingml/2006/main">
            <a:pPr algn="l">
              <a:defRPr sz="1125" b="0">
                <a:solidFill>
                  <a:srgbClr val="E8EFF8"/>
                </a:solidFill>
              </a:defRPr>
            </a:pPr>
            <a:r>
              <a:rPr sz="1125" b="0">
                <a:solidFill>
                  <a:srgbClr val="E8EFF8"/>
                </a:solidFill>
              </a:rPr>
              <a:t>const detail = await response.json();</a:t>
            </a:r>
          </a:p>
        </p:txBody>
      </p:sp>
      <p:sp>
        <p:nvSpPr>
          <p:cNvPr id="29" name="">
            <a:extLst xmlns:a="http://schemas.openxmlformats.org/drawingml/2006/main">
              <a:ext uri="{FF2B5EF4-FFF2-40B4-BE49-F238E27FC236}">
                <a16:creationId xmlns:a16="http://schemas.microsoft.com/office/drawing/2014/main" id="{E58603F2-74AF-4C1A-83AB-76B36C91162A}"/>
              </a:ext>
            </a:extLst>
          </p:cNvPr>
          <p:cNvSpPr>
            <a:spLocks xmlns:a="http://schemas.openxmlformats.org/drawingml/2006/main" noGrp="1"/>
          </p:cNvSpPr>
          <p:nvPr/>
        </p:nvSpPr>
        <p:spPr>
          <a:xfrm xmlns:a="http://schemas.openxmlformats.org/drawingml/2006/main">
            <a:off x="609600" y="56578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① 단방향 의존성</a:t>
            </a:r>
          </a:p>
        </p:txBody>
      </p:sp>
      <p:sp>
        <p:nvSpPr>
          <p:cNvPr id="30" name="">
            <a:extLst xmlns:a="http://schemas.openxmlformats.org/drawingml/2006/main">
              <a:ext uri="{FF2B5EF4-FFF2-40B4-BE49-F238E27FC236}">
                <a16:creationId xmlns:a16="http://schemas.microsoft.com/office/drawing/2014/main" id="{E4B26407-2D4F-4D6E-AAE2-8B6C4677FDE7}"/>
              </a:ext>
            </a:extLst>
          </p:cNvPr>
          <p:cNvSpPr>
            <a:spLocks xmlns:a="http://schemas.openxmlformats.org/drawingml/2006/main" noGrp="1"/>
          </p:cNvSpPr>
          <p:nvPr/>
        </p:nvSpPr>
        <p:spPr>
          <a:xfrm xmlns:a="http://schemas.openxmlformats.org/drawingml/2006/main">
            <a:off x="609600" y="59531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Controller → Service → Repository</a:t>
            </a:r>
          </a:p>
        </p:txBody>
      </p:sp>
      <p:sp>
        <p:nvSpPr>
          <p:cNvPr id="31" name="">
            <a:extLst xmlns:a="http://schemas.openxmlformats.org/drawingml/2006/main">
              <a:ext uri="{FF2B5EF4-FFF2-40B4-BE49-F238E27FC236}">
                <a16:creationId xmlns:a16="http://schemas.microsoft.com/office/drawing/2014/main" id="{6D472F4D-1693-4C6C-8218-639C4A57A723}"/>
              </a:ext>
            </a:extLst>
          </p:cNvPr>
          <p:cNvSpPr>
            <a:spLocks xmlns:a="http://schemas.openxmlformats.org/drawingml/2006/main" noGrp="1"/>
          </p:cNvSpPr>
          <p:nvPr/>
        </p:nvSpPr>
        <p:spPr>
          <a:xfrm xmlns:a="http://schemas.openxmlformats.org/drawingml/2006/main">
            <a:off x="4267200" y="56578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② API 계약 분리</a:t>
            </a:r>
          </a:p>
        </p:txBody>
      </p:sp>
      <p:sp>
        <p:nvSpPr>
          <p:cNvPr id="32" name="">
            <a:extLst xmlns:a="http://schemas.openxmlformats.org/drawingml/2006/main">
              <a:ext uri="{FF2B5EF4-FFF2-40B4-BE49-F238E27FC236}">
                <a16:creationId xmlns:a16="http://schemas.microsoft.com/office/drawing/2014/main" id="{70098F66-EA76-4F73-9A8D-09ADE839EC18}"/>
              </a:ext>
            </a:extLst>
          </p:cNvPr>
          <p:cNvSpPr>
            <a:spLocks xmlns:a="http://schemas.openxmlformats.org/drawingml/2006/main" noGrp="1"/>
          </p:cNvSpPr>
          <p:nvPr/>
        </p:nvSpPr>
        <p:spPr>
          <a:xfrm xmlns:a="http://schemas.openxmlformats.org/drawingml/2006/main">
            <a:off x="4267200" y="59531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Entity 대신 DeliveryDetailResponse</a:t>
            </a:r>
          </a:p>
        </p:txBody>
      </p:sp>
      <p:sp>
        <p:nvSpPr>
          <p:cNvPr id="33" name="">
            <a:extLst xmlns:a="http://schemas.openxmlformats.org/drawingml/2006/main">
              <a:ext uri="{FF2B5EF4-FFF2-40B4-BE49-F238E27FC236}">
                <a16:creationId xmlns:a16="http://schemas.microsoft.com/office/drawing/2014/main" id="{81AB358B-29E2-4C82-8800-CEA67C67C04B}"/>
              </a:ext>
            </a:extLst>
          </p:cNvPr>
          <p:cNvSpPr>
            <a:spLocks xmlns:a="http://schemas.openxmlformats.org/drawingml/2006/main" noGrp="1"/>
          </p:cNvSpPr>
          <p:nvPr/>
        </p:nvSpPr>
        <p:spPr>
          <a:xfrm xmlns:a="http://schemas.openxmlformats.org/drawingml/2006/main">
            <a:off x="7924800" y="56578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③ 상태·보안</a:t>
            </a:r>
          </a:p>
        </p:txBody>
      </p:sp>
      <p:sp>
        <p:nvSpPr>
          <p:cNvPr id="34" name="">
            <a:extLst xmlns:a="http://schemas.openxmlformats.org/drawingml/2006/main">
              <a:ext uri="{FF2B5EF4-FFF2-40B4-BE49-F238E27FC236}">
                <a16:creationId xmlns:a16="http://schemas.microsoft.com/office/drawing/2014/main" id="{86E1383C-1C93-4CC2-B605-4786A9E800A0}"/>
              </a:ext>
            </a:extLst>
          </p:cNvPr>
          <p:cNvSpPr>
            <a:spLocks xmlns:a="http://schemas.openxmlformats.org/drawingml/2006/main" noGrp="1"/>
          </p:cNvSpPr>
          <p:nvPr/>
        </p:nvSpPr>
        <p:spPr>
          <a:xfrm xmlns:a="http://schemas.openxmlformats.org/drawingml/2006/main">
            <a:off x="7924800" y="59531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JWT 권한 확인 + no-store + 상태 코드</a:t>
            </a:r>
          </a:p>
        </p:txBody>
      </p:sp>
      <p:sp>
        <p:nvSpPr>
          <p:cNvPr id="35" name="">
            <a:extLst xmlns:a="http://schemas.openxmlformats.org/drawingml/2006/main">
              <a:ext uri="{FF2B5EF4-FFF2-40B4-BE49-F238E27FC236}">
                <a16:creationId xmlns:a16="http://schemas.microsoft.com/office/drawing/2014/main" id="{95EC5669-F045-4D7C-B914-B11D952CC67E}"/>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프로젝트 실제 코드 기반 · 표준 5-Slide</a:t>
            </a:r>
          </a:p>
        </p:txBody>
      </p:sp>
    </p:spTree>
    <p:extLst>
      <p:ext uri="{BB962C8B-B14F-4D97-AF65-F5344CB8AC3E}">
        <p14:creationId xmlns:p14="http://schemas.microsoft.com/office/powerpoint/2010/main" val="7316957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0AF858D-D855-4619-ACCA-2CEAC8EBD17E}"/>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5BF3B890-59FB-4DF7-91F4-13D235D466AD}"/>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핵심 기술 구현 — 취소 API의 정산 불일치 방지</a:t>
            </a:r>
          </a:p>
        </p:txBody>
      </p:sp>
      <p:sp>
        <p:nvSpPr>
          <p:cNvPr id="3" name="">
            <a:extLst xmlns:a="http://schemas.openxmlformats.org/drawingml/2006/main">
              <a:ext uri="{FF2B5EF4-FFF2-40B4-BE49-F238E27FC236}">
                <a16:creationId xmlns:a16="http://schemas.microsoft.com/office/drawing/2014/main" id="{AB03D139-2465-447E-A332-C32B1926D9AC}"/>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04</a:t>
            </a:r>
          </a:p>
        </p:txBody>
      </p:sp>
      <p:sp>
        <p:nvSpPr>
          <p:cNvPr id="4" name="">
            <a:extLst xmlns:a="http://schemas.openxmlformats.org/drawingml/2006/main">
              <a:ext uri="{FF2B5EF4-FFF2-40B4-BE49-F238E27FC236}">
                <a16:creationId xmlns:a16="http://schemas.microsoft.com/office/drawing/2014/main" id="{4049AB5F-6C5A-4D81-8D86-88AD6C08E175}"/>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A87923-E7D8-4464-B8D4-F1F160403FC1}"/>
              </a:ext>
            </a:extLst>
          </p:cNvPr>
          <p:cNvSpPr>
            <a:spLocks xmlns:a="http://schemas.openxmlformats.org/drawingml/2006/main" noGrp="1"/>
          </p:cNvSpPr>
          <p:nvPr/>
        </p:nvSpPr>
        <p:spPr>
          <a:xfrm xmlns:a="http://schemas.openxmlformats.org/drawingml/2006/main">
            <a:off x="628650" y="14382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3D8DFF"/>
                </a:solidFill>
              </a:defRPr>
            </a:pPr>
            <a:r>
              <a:rPr sz="1425" b="1">
                <a:solidFill>
                  <a:srgbClr val="3D8DFF"/>
                </a:solidFill>
              </a:rPr>
              <a:t>GET /{id}/cancellation-preview</a:t>
            </a:r>
          </a:p>
        </p:txBody>
      </p:sp>
      <p:sp>
        <p:nvSpPr>
          <p:cNvPr id="6" name="">
            <a:extLst xmlns:a="http://schemas.openxmlformats.org/drawingml/2006/main">
              <a:ext uri="{FF2B5EF4-FFF2-40B4-BE49-F238E27FC236}">
                <a16:creationId xmlns:a16="http://schemas.microsoft.com/office/drawing/2014/main" id="{1592749F-7D26-4425-86A9-D70AB24F56A7}"/>
              </a:ext>
            </a:extLst>
          </p:cNvPr>
          <p:cNvSpPr>
            <a:spLocks xmlns:a="http://schemas.openxmlformats.org/drawingml/2006/main" noGrp="1"/>
          </p:cNvSpPr>
          <p:nvPr/>
        </p:nvSpPr>
        <p:spPr>
          <a:xfrm xmlns:a="http://schemas.openxmlformats.org/drawingml/2006/main">
            <a:off x="628650" y="17145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16771"/>
                </a:solidFill>
              </a:defRPr>
            </a:pPr>
            <a:r>
              <a:rPr sz="1125" b="0">
                <a:solidFill>
                  <a:srgbClr val="616771"/>
                </a:solidFill>
              </a:rPr>
              <a:t>예상 수수료·환불 조회</a:t>
            </a:r>
          </a:p>
        </p:txBody>
      </p:sp>
      <p:sp>
        <p:nvSpPr>
          <p:cNvPr id="7" name="">
            <a:extLst xmlns:a="http://schemas.openxmlformats.org/drawingml/2006/main">
              <a:ext uri="{FF2B5EF4-FFF2-40B4-BE49-F238E27FC236}">
                <a16:creationId xmlns:a16="http://schemas.microsoft.com/office/drawing/2014/main" id="{4FE2E13A-B968-41C6-B18D-23148F9C8FA4}"/>
              </a:ext>
            </a:extLst>
          </p:cNvPr>
          <p:cNvSpPr>
            <a:spLocks xmlns:a="http://schemas.openxmlformats.org/drawingml/2006/main" noGrp="1"/>
          </p:cNvSpPr>
          <p:nvPr/>
        </p:nvSpPr>
        <p:spPr>
          <a:xfrm xmlns:a="http://schemas.openxmlformats.org/drawingml/2006/main">
            <a:off x="5048250" y="14382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D46B16"/>
                </a:solidFill>
              </a:defRPr>
            </a:pPr>
            <a:r>
              <a:rPr sz="1425" b="1">
                <a:solidFill>
                  <a:srgbClr val="D46B16"/>
                </a:solidFill>
              </a:rPr>
              <a:t>POST /{id}/cancel</a:t>
            </a:r>
          </a:p>
        </p:txBody>
      </p:sp>
      <p:sp>
        <p:nvSpPr>
          <p:cNvPr id="8" name="">
            <a:extLst xmlns:a="http://schemas.openxmlformats.org/drawingml/2006/main">
              <a:ext uri="{FF2B5EF4-FFF2-40B4-BE49-F238E27FC236}">
                <a16:creationId xmlns:a16="http://schemas.microsoft.com/office/drawing/2014/main" id="{287F92B6-2E5B-470F-B3D3-5706553FF6FF}"/>
              </a:ext>
            </a:extLst>
          </p:cNvPr>
          <p:cNvSpPr>
            <a:spLocks xmlns:a="http://schemas.openxmlformats.org/drawingml/2006/main" noGrp="1"/>
          </p:cNvSpPr>
          <p:nvPr/>
        </p:nvSpPr>
        <p:spPr>
          <a:xfrm xmlns:a="http://schemas.openxmlformats.org/drawingml/2006/main">
            <a:off x="5048250" y="1714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16771"/>
                </a:solidFill>
              </a:defRPr>
            </a:pPr>
            <a:r>
              <a:rPr sz="1125" b="0">
                <a:solidFill>
                  <a:srgbClr val="616771"/>
                </a:solidFill>
              </a:rPr>
              <a:t>취소·환불·보상 실행</a:t>
            </a:r>
          </a:p>
        </p:txBody>
      </p:sp>
      <p:sp>
        <p:nvSpPr>
          <p:cNvPr id="9" name="">
            <a:extLst xmlns:a="http://schemas.openxmlformats.org/drawingml/2006/main">
              <a:ext uri="{FF2B5EF4-FFF2-40B4-BE49-F238E27FC236}">
                <a16:creationId xmlns:a16="http://schemas.microsoft.com/office/drawing/2014/main" id="{F52ACC15-FD21-48A4-B495-37E351C95154}"/>
              </a:ext>
            </a:extLst>
          </p:cNvPr>
          <p:cNvSpPr>
            <a:spLocks xmlns:a="http://schemas.openxmlformats.org/drawingml/2006/main" noGrp="1"/>
          </p:cNvSpPr>
          <p:nvPr/>
        </p:nvSpPr>
        <p:spPr>
          <a:xfrm xmlns:a="http://schemas.openxmlformats.org/drawingml/2006/main">
            <a:off x="8858250" y="14382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BE3B3B"/>
                </a:solidFill>
              </a:defRPr>
            </a:pPr>
            <a:r>
              <a:rPr sz="1425" b="1">
                <a:solidFill>
                  <a:srgbClr val="BE3B3B"/>
                </a:solidFill>
              </a:rPr>
              <a:t>409 Conflict</a:t>
            </a:r>
          </a:p>
        </p:txBody>
      </p:sp>
      <p:sp>
        <p:nvSpPr>
          <p:cNvPr id="10" name="">
            <a:extLst xmlns:a="http://schemas.openxmlformats.org/drawingml/2006/main">
              <a:ext uri="{FF2B5EF4-FFF2-40B4-BE49-F238E27FC236}">
                <a16:creationId xmlns:a16="http://schemas.microsoft.com/office/drawing/2014/main" id="{A3F55085-50E2-414E-926D-EBB820E2EE5F}"/>
              </a:ext>
            </a:extLst>
          </p:cNvPr>
          <p:cNvSpPr>
            <a:spLocks xmlns:a="http://schemas.openxmlformats.org/drawingml/2006/main" noGrp="1"/>
          </p:cNvSpPr>
          <p:nvPr/>
        </p:nvSpPr>
        <p:spPr>
          <a:xfrm xmlns:a="http://schemas.openxmlformats.org/drawingml/2006/main">
            <a:off x="8858250" y="1714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16771"/>
                </a:solidFill>
              </a:defRPr>
            </a:pPr>
            <a:r>
              <a:rPr sz="1125" b="0">
                <a:solidFill>
                  <a:srgbClr val="616771"/>
                </a:solidFill>
              </a:rPr>
              <a:t>허용되지 않은 상태 전이</a:t>
            </a:r>
          </a:p>
        </p:txBody>
      </p:sp>
      <p:sp>
        <p:nvSpPr>
          <p:cNvPr id="11" name="">
            <a:extLst xmlns:a="http://schemas.openxmlformats.org/drawingml/2006/main">
              <a:ext uri="{FF2B5EF4-FFF2-40B4-BE49-F238E27FC236}">
                <a16:creationId xmlns:a16="http://schemas.microsoft.com/office/drawing/2014/main" id="{8E76691F-C8F1-40D2-8CB8-8C2DD3F0A626}"/>
              </a:ext>
            </a:extLst>
          </p:cNvPr>
          <p:cNvSpPr>
            <a:spLocks xmlns:a="http://schemas.openxmlformats.org/drawingml/2006/main" noGrp="1"/>
          </p:cNvSpPr>
          <p:nvPr/>
        </p:nvSpPr>
        <p:spPr>
          <a:xfrm xmlns:a="http://schemas.openxmlformats.org/drawingml/2006/main">
            <a:off x="609600" y="2219325"/>
            <a:ext cx="5219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2" name="">
            <a:extLst xmlns:a="http://schemas.openxmlformats.org/drawingml/2006/main">
              <a:ext uri="{FF2B5EF4-FFF2-40B4-BE49-F238E27FC236}">
                <a16:creationId xmlns:a16="http://schemas.microsoft.com/office/drawing/2014/main" id="{314BE289-2D88-4B66-93D8-875485016E62}"/>
              </a:ext>
            </a:extLst>
          </p:cNvPr>
          <p:cNvSpPr>
            <a:spLocks xmlns:a="http://schemas.openxmlformats.org/drawingml/2006/main" noGrp="1"/>
          </p:cNvSpPr>
          <p:nvPr/>
        </p:nvSpPr>
        <p:spPr>
          <a:xfrm xmlns:a="http://schemas.openxmlformats.org/drawingml/2006/main">
            <a:off x="762000" y="23622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BE3B3B"/>
                </a:solidFill>
              </a:defRPr>
            </a:pPr>
            <a:r>
              <a:rPr sz="1950" b="1">
                <a:solidFill>
                  <a:srgbClr val="BE3B3B"/>
                </a:solidFill>
              </a:rPr>
              <a:t>P</a:t>
            </a:r>
          </a:p>
        </p:txBody>
      </p:sp>
      <p:sp>
        <p:nvSpPr>
          <p:cNvPr id="13" name="">
            <a:extLst xmlns:a="http://schemas.openxmlformats.org/drawingml/2006/main">
              <a:ext uri="{FF2B5EF4-FFF2-40B4-BE49-F238E27FC236}">
                <a16:creationId xmlns:a16="http://schemas.microsoft.com/office/drawing/2014/main" id="{9BFF1B4D-9C39-49CB-99A4-6A1597B9E0A8}"/>
              </a:ext>
            </a:extLst>
          </p:cNvPr>
          <p:cNvSpPr>
            <a:spLocks xmlns:a="http://schemas.openxmlformats.org/drawingml/2006/main" noGrp="1"/>
          </p:cNvSpPr>
          <p:nvPr/>
        </p:nvSpPr>
        <p:spPr>
          <a:xfrm xmlns:a="http://schemas.openxmlformats.org/drawingml/2006/main">
            <a:off x="1295400" y="23431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Problem</a:t>
            </a:r>
          </a:p>
        </p:txBody>
      </p:sp>
      <p:sp>
        <p:nvSpPr>
          <p:cNvPr id="14" name="">
            <a:extLst xmlns:a="http://schemas.openxmlformats.org/drawingml/2006/main">
              <a:ext uri="{FF2B5EF4-FFF2-40B4-BE49-F238E27FC236}">
                <a16:creationId xmlns:a16="http://schemas.microsoft.com/office/drawing/2014/main" id="{CE580F4D-B887-4993-BF29-2A0C361B121F}"/>
              </a:ext>
            </a:extLst>
          </p:cNvPr>
          <p:cNvSpPr>
            <a:spLocks xmlns:a="http://schemas.openxmlformats.org/drawingml/2006/main" noGrp="1"/>
          </p:cNvSpPr>
          <p:nvPr/>
        </p:nvSpPr>
        <p:spPr>
          <a:xfrm xmlns:a="http://schemas.openxmlformats.org/drawingml/2006/main">
            <a:off x="2571750" y="2314575"/>
            <a:ext cx="309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중복 클릭·네트워크 재시도로</a:t>
            </a:r>
          </a:p>
          <a:p xmlns:a="http://schemas.openxmlformats.org/drawingml/2006/main">
            <a:pPr algn="l">
              <a:defRPr sz="1125" b="0">
                <a:solidFill>
                  <a:srgbClr val="101114"/>
                </a:solidFill>
              </a:defRPr>
            </a:pPr>
            <a:r>
              <a:rPr sz="1125" b="0">
                <a:solidFill>
                  <a:srgbClr val="101114"/>
                </a:solidFill>
              </a:rPr>
              <a:t>같은 취소 POST가 반복될 수 있음</a:t>
            </a:r>
          </a:p>
        </p:txBody>
      </p:sp>
      <p:sp>
        <p:nvSpPr>
          <p:cNvPr id="15" name="">
            <a:extLst xmlns:a="http://schemas.openxmlformats.org/drawingml/2006/main">
              <a:ext uri="{FF2B5EF4-FFF2-40B4-BE49-F238E27FC236}">
                <a16:creationId xmlns:a16="http://schemas.microsoft.com/office/drawing/2014/main" id="{EB5C5309-E715-4435-AEE3-E42E51C540C6}"/>
              </a:ext>
            </a:extLst>
          </p:cNvPr>
          <p:cNvSpPr>
            <a:spLocks xmlns:a="http://schemas.openxmlformats.org/drawingml/2006/main" noGrp="1"/>
          </p:cNvSpPr>
          <p:nvPr/>
        </p:nvSpPr>
        <p:spPr>
          <a:xfrm xmlns:a="http://schemas.openxmlformats.org/drawingml/2006/main">
            <a:off x="609600" y="2962275"/>
            <a:ext cx="5219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6" name="">
            <a:extLst xmlns:a="http://schemas.openxmlformats.org/drawingml/2006/main">
              <a:ext uri="{FF2B5EF4-FFF2-40B4-BE49-F238E27FC236}">
                <a16:creationId xmlns:a16="http://schemas.microsoft.com/office/drawing/2014/main" id="{A57FC1C9-2190-4AFA-85F2-9B06680D5FD5}"/>
              </a:ext>
            </a:extLst>
          </p:cNvPr>
          <p:cNvSpPr>
            <a:spLocks xmlns:a="http://schemas.openxmlformats.org/drawingml/2006/main" noGrp="1"/>
          </p:cNvSpPr>
          <p:nvPr/>
        </p:nvSpPr>
        <p:spPr>
          <a:xfrm xmlns:a="http://schemas.openxmlformats.org/drawingml/2006/main">
            <a:off x="762000" y="31051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D46B16"/>
                </a:solidFill>
              </a:defRPr>
            </a:pPr>
            <a:r>
              <a:rPr sz="1950" b="1">
                <a:solidFill>
                  <a:srgbClr val="D46B16"/>
                </a:solidFill>
              </a:rPr>
              <a:t>R</a:t>
            </a:r>
          </a:p>
        </p:txBody>
      </p:sp>
      <p:sp>
        <p:nvSpPr>
          <p:cNvPr id="17" name="">
            <a:extLst xmlns:a="http://schemas.openxmlformats.org/drawingml/2006/main">
              <a:ext uri="{FF2B5EF4-FFF2-40B4-BE49-F238E27FC236}">
                <a16:creationId xmlns:a16="http://schemas.microsoft.com/office/drawing/2014/main" id="{1A592E46-C72D-43E5-AD41-F39079158827}"/>
              </a:ext>
            </a:extLst>
          </p:cNvPr>
          <p:cNvSpPr>
            <a:spLocks xmlns:a="http://schemas.openxmlformats.org/drawingml/2006/main" noGrp="1"/>
          </p:cNvSpPr>
          <p:nvPr/>
        </p:nvSpPr>
        <p:spPr>
          <a:xfrm xmlns:a="http://schemas.openxmlformats.org/drawingml/2006/main">
            <a:off x="1295400" y="30861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Root Cause</a:t>
            </a:r>
          </a:p>
        </p:txBody>
      </p:sp>
      <p:sp>
        <p:nvSpPr>
          <p:cNvPr id="18" name="">
            <a:extLst xmlns:a="http://schemas.openxmlformats.org/drawingml/2006/main">
              <a:ext uri="{FF2B5EF4-FFF2-40B4-BE49-F238E27FC236}">
                <a16:creationId xmlns:a16="http://schemas.microsoft.com/office/drawing/2014/main" id="{7AE64135-523D-4141-90D5-734B632ECE85}"/>
              </a:ext>
            </a:extLst>
          </p:cNvPr>
          <p:cNvSpPr>
            <a:spLocks xmlns:a="http://schemas.openxmlformats.org/drawingml/2006/main" noGrp="1"/>
          </p:cNvSpPr>
          <p:nvPr/>
        </p:nvSpPr>
        <p:spPr>
          <a:xfrm xmlns:a="http://schemas.openxmlformats.org/drawingml/2006/main">
            <a:off x="2571750" y="3057525"/>
            <a:ext cx="309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취소가 상태 변경뿐 아니라 환불·보상·</a:t>
            </a:r>
          </a:p>
          <a:p xmlns:a="http://schemas.openxmlformats.org/drawingml/2006/main">
            <a:pPr algn="l">
              <a:defRPr sz="1125" b="0">
                <a:solidFill>
                  <a:srgbClr val="101114"/>
                </a:solidFill>
              </a:defRPr>
            </a:pPr>
            <a:r>
              <a:rPr sz="1125" b="0">
                <a:solidFill>
                  <a:srgbClr val="101114"/>
                </a:solidFill>
              </a:rPr>
              <a:t>매칭 취소·차량 복구를 함께 수행</a:t>
            </a:r>
          </a:p>
        </p:txBody>
      </p:sp>
      <p:sp>
        <p:nvSpPr>
          <p:cNvPr id="19" name="">
            <a:extLst xmlns:a="http://schemas.openxmlformats.org/drawingml/2006/main">
              <a:ext uri="{FF2B5EF4-FFF2-40B4-BE49-F238E27FC236}">
                <a16:creationId xmlns:a16="http://schemas.microsoft.com/office/drawing/2014/main" id="{150FB480-DA75-4CC4-BFFB-1A6461DCD2B1}"/>
              </a:ext>
            </a:extLst>
          </p:cNvPr>
          <p:cNvSpPr>
            <a:spLocks xmlns:a="http://schemas.openxmlformats.org/drawingml/2006/main" noGrp="1"/>
          </p:cNvSpPr>
          <p:nvPr/>
        </p:nvSpPr>
        <p:spPr>
          <a:xfrm xmlns:a="http://schemas.openxmlformats.org/drawingml/2006/main">
            <a:off x="609600" y="3705225"/>
            <a:ext cx="5219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0" name="">
            <a:extLst xmlns:a="http://schemas.openxmlformats.org/drawingml/2006/main">
              <a:ext uri="{FF2B5EF4-FFF2-40B4-BE49-F238E27FC236}">
                <a16:creationId xmlns:a16="http://schemas.microsoft.com/office/drawing/2014/main" id="{688E79C6-7299-427B-BC79-930E49B7F1C3}"/>
              </a:ext>
            </a:extLst>
          </p:cNvPr>
          <p:cNvSpPr>
            <a:spLocks xmlns:a="http://schemas.openxmlformats.org/drawingml/2006/main" noGrp="1"/>
          </p:cNvSpPr>
          <p:nvPr/>
        </p:nvSpPr>
        <p:spPr>
          <a:xfrm xmlns:a="http://schemas.openxmlformats.org/drawingml/2006/main">
            <a:off x="762000" y="38481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3D8DFF"/>
                </a:solidFill>
              </a:defRPr>
            </a:pPr>
            <a:r>
              <a:rPr sz="1950" b="1">
                <a:solidFill>
                  <a:srgbClr val="3D8DFF"/>
                </a:solidFill>
              </a:rPr>
              <a:t>S</a:t>
            </a:r>
          </a:p>
        </p:txBody>
      </p:sp>
      <p:sp>
        <p:nvSpPr>
          <p:cNvPr id="21" name="">
            <a:extLst xmlns:a="http://schemas.openxmlformats.org/drawingml/2006/main">
              <a:ext uri="{FF2B5EF4-FFF2-40B4-BE49-F238E27FC236}">
                <a16:creationId xmlns:a16="http://schemas.microsoft.com/office/drawing/2014/main" id="{347C207D-6067-44AD-91A3-6ABA3C1FB4DF}"/>
              </a:ext>
            </a:extLst>
          </p:cNvPr>
          <p:cNvSpPr>
            <a:spLocks xmlns:a="http://schemas.openxmlformats.org/drawingml/2006/main" noGrp="1"/>
          </p:cNvSpPr>
          <p:nvPr/>
        </p:nvSpPr>
        <p:spPr>
          <a:xfrm xmlns:a="http://schemas.openxmlformats.org/drawingml/2006/main">
            <a:off x="1295400" y="38290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Solution</a:t>
            </a:r>
          </a:p>
        </p:txBody>
      </p:sp>
      <p:sp>
        <p:nvSpPr>
          <p:cNvPr id="22" name="">
            <a:extLst xmlns:a="http://schemas.openxmlformats.org/drawingml/2006/main">
              <a:ext uri="{FF2B5EF4-FFF2-40B4-BE49-F238E27FC236}">
                <a16:creationId xmlns:a16="http://schemas.microsoft.com/office/drawing/2014/main" id="{91997F23-9425-4F54-B990-0BDB4BAAD03B}"/>
              </a:ext>
            </a:extLst>
          </p:cNvPr>
          <p:cNvSpPr>
            <a:spLocks xmlns:a="http://schemas.openxmlformats.org/drawingml/2006/main" noGrp="1"/>
          </p:cNvSpPr>
          <p:nvPr/>
        </p:nvSpPr>
        <p:spPr>
          <a:xfrm xmlns:a="http://schemas.openxmlformats.org/drawingml/2006/main">
            <a:off x="2571750" y="3800475"/>
            <a:ext cx="309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@Transactional + 비관적 락 +</a:t>
            </a:r>
          </a:p>
          <a:p xmlns:a="http://schemas.openxmlformats.org/drawingml/2006/main">
            <a:pPr algn="l">
              <a:defRPr sz="1125" b="0">
                <a:solidFill>
                  <a:srgbClr val="101114"/>
                </a:solidFill>
              </a:defRPr>
            </a:pPr>
            <a:r>
              <a:rPr sz="1125" b="0">
                <a:solidFill>
                  <a:srgbClr val="101114"/>
                </a:solidFill>
              </a:rPr>
              <a:t>취소 완료 시 기존 결과 반환</a:t>
            </a:r>
          </a:p>
        </p:txBody>
      </p:sp>
      <p:sp>
        <p:nvSpPr>
          <p:cNvPr id="23" name="">
            <a:extLst xmlns:a="http://schemas.openxmlformats.org/drawingml/2006/main">
              <a:ext uri="{FF2B5EF4-FFF2-40B4-BE49-F238E27FC236}">
                <a16:creationId xmlns:a16="http://schemas.microsoft.com/office/drawing/2014/main" id="{331E9629-99DF-47B5-B758-19030B2A6F6B}"/>
              </a:ext>
            </a:extLst>
          </p:cNvPr>
          <p:cNvSpPr>
            <a:spLocks xmlns:a="http://schemas.openxmlformats.org/drawingml/2006/main" noGrp="1"/>
          </p:cNvSpPr>
          <p:nvPr/>
        </p:nvSpPr>
        <p:spPr>
          <a:xfrm xmlns:a="http://schemas.openxmlformats.org/drawingml/2006/main">
            <a:off x="609600" y="4448175"/>
            <a:ext cx="5219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4" name="">
            <a:extLst xmlns:a="http://schemas.openxmlformats.org/drawingml/2006/main">
              <a:ext uri="{FF2B5EF4-FFF2-40B4-BE49-F238E27FC236}">
                <a16:creationId xmlns:a16="http://schemas.microsoft.com/office/drawing/2014/main" id="{10BA2362-D462-4B48-99C3-FF40E89CA8F2}"/>
              </a:ext>
            </a:extLst>
          </p:cNvPr>
          <p:cNvSpPr>
            <a:spLocks xmlns:a="http://schemas.openxmlformats.org/drawingml/2006/main" noGrp="1"/>
          </p:cNvSpPr>
          <p:nvPr/>
        </p:nvSpPr>
        <p:spPr>
          <a:xfrm xmlns:a="http://schemas.openxmlformats.org/drawingml/2006/main">
            <a:off x="762000" y="45910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6845B"/>
                </a:solidFill>
              </a:defRPr>
            </a:pPr>
            <a:r>
              <a:rPr sz="1950" b="1">
                <a:solidFill>
                  <a:srgbClr val="16845B"/>
                </a:solidFill>
              </a:rPr>
              <a:t>I</a:t>
            </a:r>
          </a:p>
        </p:txBody>
      </p:sp>
      <p:sp>
        <p:nvSpPr>
          <p:cNvPr id="25" name="">
            <a:extLst xmlns:a="http://schemas.openxmlformats.org/drawingml/2006/main">
              <a:ext uri="{FF2B5EF4-FFF2-40B4-BE49-F238E27FC236}">
                <a16:creationId xmlns:a16="http://schemas.microsoft.com/office/drawing/2014/main" id="{8C037B08-0165-43DE-A40F-5CF5FFDE4B28}"/>
              </a:ext>
            </a:extLst>
          </p:cNvPr>
          <p:cNvSpPr>
            <a:spLocks xmlns:a="http://schemas.openxmlformats.org/drawingml/2006/main" noGrp="1"/>
          </p:cNvSpPr>
          <p:nvPr/>
        </p:nvSpPr>
        <p:spPr>
          <a:xfrm xmlns:a="http://schemas.openxmlformats.org/drawingml/2006/main">
            <a:off x="1295400" y="45720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Impact</a:t>
            </a:r>
          </a:p>
        </p:txBody>
      </p:sp>
      <p:sp>
        <p:nvSpPr>
          <p:cNvPr id="26" name="">
            <a:extLst xmlns:a="http://schemas.openxmlformats.org/drawingml/2006/main">
              <a:ext uri="{FF2B5EF4-FFF2-40B4-BE49-F238E27FC236}">
                <a16:creationId xmlns:a16="http://schemas.microsoft.com/office/drawing/2014/main" id="{A216E487-82E7-41E4-9ACC-6C567043B21D}"/>
              </a:ext>
            </a:extLst>
          </p:cNvPr>
          <p:cNvSpPr>
            <a:spLocks xmlns:a="http://schemas.openxmlformats.org/drawingml/2006/main" noGrp="1"/>
          </p:cNvSpPr>
          <p:nvPr/>
        </p:nvSpPr>
        <p:spPr>
          <a:xfrm xmlns:a="http://schemas.openxmlformats.org/drawingml/2006/main">
            <a:off x="2571750" y="4543425"/>
            <a:ext cx="309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중복 요청의 이중 정산 방지</a:t>
            </a:r>
          </a:p>
          <a:p xmlns:a="http://schemas.openxmlformats.org/drawingml/2006/main">
            <a:pPr algn="l">
              <a:defRPr sz="1125" b="0">
                <a:solidFill>
                  <a:srgbClr val="101114"/>
                </a:solidFill>
              </a:defRPr>
            </a:pPr>
            <a:r>
              <a:rPr sz="1125" b="0">
                <a:solidFill>
                  <a:srgbClr val="101114"/>
                </a:solidFill>
              </a:rPr>
              <a:t>부분 반영 없이 하나의 작업으로 처리</a:t>
            </a:r>
          </a:p>
        </p:txBody>
      </p:sp>
      <p:sp>
        <p:nvSpPr>
          <p:cNvPr id="27" name="">
            <a:extLst xmlns:a="http://schemas.openxmlformats.org/drawingml/2006/main">
              <a:ext uri="{FF2B5EF4-FFF2-40B4-BE49-F238E27FC236}">
                <a16:creationId xmlns:a16="http://schemas.microsoft.com/office/drawing/2014/main" id="{367D6D73-84DD-4198-9718-6986361E41BF}"/>
              </a:ext>
            </a:extLst>
          </p:cNvPr>
          <p:cNvSpPr>
            <a:spLocks xmlns:a="http://schemas.openxmlformats.org/drawingml/2006/main" noGrp="1"/>
          </p:cNvSpPr>
          <p:nvPr/>
        </p:nvSpPr>
        <p:spPr>
          <a:xfrm xmlns:a="http://schemas.openxmlformats.org/drawingml/2006/main">
            <a:off x="6191250" y="2219325"/>
            <a:ext cx="5391150" cy="2705100"/>
          </a:xfrm>
          <a:prstGeom xmlns:a="http://schemas.openxmlformats.org/drawingml/2006/main" prst="roundRect">
            <a:avLst>
              <a:gd name="adj" fmla="val 4225"/>
            </a:avLst>
          </a:prstGeom>
          <a:solidFill xmlns:a="http://schemas.openxmlformats.org/drawingml/2006/main">
            <a:srgbClr val="111827"/>
          </a:solidFill>
          <a:ln xmlns:a="http://schemas.openxmlformats.org/drawingml/2006/main" w="9525">
            <a:solidFill>
              <a:srgbClr val="111827"/>
            </a:solidFill>
            <a:prstDash val="solid"/>
          </a:ln>
        </p:spPr>
      </p:sp>
      <p:sp>
        <p:nvSpPr>
          <p:cNvPr id="28" name="">
            <a:extLst xmlns:a="http://schemas.openxmlformats.org/drawingml/2006/main">
              <a:ext uri="{FF2B5EF4-FFF2-40B4-BE49-F238E27FC236}">
                <a16:creationId xmlns:a16="http://schemas.microsoft.com/office/drawing/2014/main" id="{470B2905-F3AF-4983-A622-CAF0E5332696}"/>
              </a:ext>
            </a:extLst>
          </p:cNvPr>
          <p:cNvSpPr>
            <a:spLocks xmlns:a="http://schemas.openxmlformats.org/drawingml/2006/main" noGrp="1"/>
          </p:cNvSpPr>
          <p:nvPr/>
        </p:nvSpPr>
        <p:spPr>
          <a:xfrm xmlns:a="http://schemas.openxmlformats.org/drawingml/2006/main">
            <a:off x="6381750" y="2381250"/>
            <a:ext cx="50101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E8EFF8"/>
                </a:solidFill>
              </a:defRPr>
            </a:pPr>
            <a:r>
              <a:rPr sz="1125" b="0">
                <a:solidFill>
                  <a:srgbClr val="E8EFF8"/>
                </a:solidFill>
              </a:rPr>
              <a:t>@Transactional</a:t>
            </a:r>
          </a:p>
          <a:p xmlns:a="http://schemas.openxmlformats.org/drawingml/2006/main">
            <a:pPr algn="l">
              <a:defRPr sz="1125" b="0">
                <a:solidFill>
                  <a:srgbClr val="E8EFF8"/>
                </a:solidFill>
              </a:defRPr>
            </a:pPr>
            <a:r>
              <a:rPr sz="1125" b="0">
                <a:solidFill>
                  <a:srgbClr val="E8EFF8"/>
                </a:solidFill>
              </a:rPr>
              <a:t>public DeliveryCancellationResponse cancel(...) {</a:t>
            </a:r>
          </a:p>
          <a:p xmlns:a="http://schemas.openxmlformats.org/drawingml/2006/main">
            <a:pPr algn="l">
              <a:defRPr sz="1125" b="0">
                <a:solidFill>
                  <a:srgbClr val="E8EFF8"/>
                </a:solidFill>
              </a:defRPr>
            </a:pPr>
            <a:r>
              <a:rPr sz="1125" b="0">
                <a:solidFill>
                  <a:srgbClr val="E8EFF8"/>
                </a:solidFill>
              </a:rPr>
              <a:t>  DeliveryRequest delivery =</a:t>
            </a:r>
          </a:p>
          <a:p xmlns:a="http://schemas.openxmlformats.org/drawingml/2006/main">
            <a:pPr algn="l">
              <a:defRPr sz="1125" b="0">
                <a:solidFill>
                  <a:srgbClr val="E8EFF8"/>
                </a:solidFill>
              </a:defRPr>
            </a:pPr>
            <a:r>
              <a:rPr sz="1125" b="0">
                <a:solidFill>
                  <a:srgbClr val="E8EFF8"/>
                </a:solidFill>
              </a:rPr>
              <a:t>      findDeliveryRequestForUpdateOrThrow(id);</a:t>
            </a:r>
          </a:p>
          <a:p xmlns:a="http://schemas.openxmlformats.org/drawingml/2006/main">
            <a:pPr algn="l">
              <a:defRPr sz="1125" b="0">
                <a:solidFill>
                  <a:srgbClr val="E8EFF8"/>
                </a:solidFill>
              </a:defRPr>
            </a:pPr>
            <a:r>
              <a:rPr sz="1125" b="0">
                <a:solidFill>
                  <a:srgbClr val="E8EFF8"/>
                </a:solidFill>
              </a:rPr>
              <a:t>  if (delivery.getStatus() == CANCELLED)</a:t>
            </a:r>
          </a:p>
          <a:p xmlns:a="http://schemas.openxmlformats.org/drawingml/2006/main">
            <a:pPr algn="l">
              <a:defRPr sz="1125" b="0">
                <a:solidFill>
                  <a:srgbClr val="E8EFF8"/>
                </a:solidFill>
              </a:defRPr>
            </a:pPr>
            <a:r>
              <a:rPr sz="1125" b="0">
                <a:solidFill>
                  <a:srgbClr val="E8EFF8"/>
                </a:solidFill>
              </a:rPr>
              <a:t>    return DeliveryCancellationResponse.from(delivery);</a:t>
            </a:r>
          </a:p>
          <a:p xmlns:a="http://schemas.openxmlformats.org/drawingml/2006/main">
            <a:pPr algn="l">
              <a:defRPr sz="1125" b="0">
                <a:solidFill>
                  <a:srgbClr val="E8EFF8"/>
                </a:solidFill>
              </a:defRPr>
            </a:pPr>
            <a:r>
              <a:rPr sz="1125" b="0">
                <a:solidFill>
                  <a:srgbClr val="E8EFF8"/>
                </a:solidFill>
              </a:rPr>
              <a:t>  settlePoints(delivery, courierId, settlement);</a:t>
            </a:r>
          </a:p>
          <a:p xmlns:a="http://schemas.openxmlformats.org/drawingml/2006/main">
            <a:pPr algn="l">
              <a:defRPr sz="1125" b="0">
                <a:solidFill>
                  <a:srgbClr val="E8EFF8"/>
                </a:solidFill>
              </a:defRPr>
            </a:pPr>
            <a:r>
              <a:rPr sz="1125" b="0">
                <a:solidFill>
                  <a:srgbClr val="E8EFF8"/>
                </a:solidFill>
              </a:rPr>
              <a:t>}</a:t>
            </a:r>
          </a:p>
        </p:txBody>
      </p:sp>
      <p:sp>
        <p:nvSpPr>
          <p:cNvPr id="29" name="">
            <a:extLst xmlns:a="http://schemas.openxmlformats.org/drawingml/2006/main">
              <a:ext uri="{FF2B5EF4-FFF2-40B4-BE49-F238E27FC236}">
                <a16:creationId xmlns:a16="http://schemas.microsoft.com/office/drawing/2014/main" id="{3DF959FF-92EC-4D64-B7FF-F59460FAD165}"/>
              </a:ext>
            </a:extLst>
          </p:cNvPr>
          <p:cNvSpPr>
            <a:spLocks xmlns:a="http://schemas.openxmlformats.org/drawingml/2006/main" noGrp="1"/>
          </p:cNvSpPr>
          <p:nvPr/>
        </p:nvSpPr>
        <p:spPr>
          <a:xfrm xmlns:a="http://schemas.openxmlformats.org/drawingml/2006/main">
            <a:off x="6191250" y="5124450"/>
            <a:ext cx="5391150" cy="838200"/>
          </a:xfrm>
          <a:prstGeom xmlns:a="http://schemas.openxmlformats.org/drawingml/2006/main" prst="rect">
            <a:avLst/>
          </a:prstGeom>
          <a:solidFill xmlns:a="http://schemas.openxmlformats.org/drawingml/2006/main">
            <a:srgbClr val="DDF3F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9F7DC8F-FC80-40C1-891C-BBCC1E13BF29}"/>
              </a:ext>
            </a:extLst>
          </p:cNvPr>
          <p:cNvSpPr>
            <a:spLocks xmlns:a="http://schemas.openxmlformats.org/drawingml/2006/main" noGrp="1"/>
          </p:cNvSpPr>
          <p:nvPr/>
        </p:nvSpPr>
        <p:spPr>
          <a:xfrm xmlns:a="http://schemas.openxmlformats.org/drawingml/2006/main">
            <a:off x="6419850" y="5276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32238"/>
                </a:solidFill>
              </a:defRPr>
            </a:pPr>
            <a:r>
              <a:rPr sz="1275" b="1">
                <a:solidFill>
                  <a:srgbClr val="132238"/>
                </a:solidFill>
              </a:rPr>
              <a:t>Repository의 비관적 쓰기 락</a:t>
            </a:r>
          </a:p>
        </p:txBody>
      </p:sp>
      <p:sp>
        <p:nvSpPr>
          <p:cNvPr id="31" name="">
            <a:extLst xmlns:a="http://schemas.openxmlformats.org/drawingml/2006/main">
              <a:ext uri="{FF2B5EF4-FFF2-40B4-BE49-F238E27FC236}">
                <a16:creationId xmlns:a16="http://schemas.microsoft.com/office/drawing/2014/main" id="{6EF8BBA9-7EF1-4BFB-8E85-E136CDD9002E}"/>
              </a:ext>
            </a:extLst>
          </p:cNvPr>
          <p:cNvSpPr>
            <a:spLocks xmlns:a="http://schemas.openxmlformats.org/drawingml/2006/main" noGrp="1"/>
          </p:cNvSpPr>
          <p:nvPr/>
        </p:nvSpPr>
        <p:spPr>
          <a:xfrm xmlns:a="http://schemas.openxmlformats.org/drawingml/2006/main">
            <a:off x="6419850" y="556260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32238"/>
                </a:solidFill>
              </a:defRPr>
            </a:pPr>
            <a:r>
              <a:rPr sz="1200" b="0">
                <a:solidFill>
                  <a:srgbClr val="132238"/>
                </a:solidFill>
              </a:rPr>
              <a:t>@Lock(PESSIMISTIC_WRITE)  →  동일 배송의 동시 변경 차단</a:t>
            </a:r>
          </a:p>
        </p:txBody>
      </p:sp>
      <p:sp>
        <p:nvSpPr>
          <p:cNvPr id="32" name="">
            <a:extLst xmlns:a="http://schemas.openxmlformats.org/drawingml/2006/main">
              <a:ext uri="{FF2B5EF4-FFF2-40B4-BE49-F238E27FC236}">
                <a16:creationId xmlns:a16="http://schemas.microsoft.com/office/drawing/2014/main" id="{483A8603-232E-4B72-9F28-A02EC67057BD}"/>
              </a:ext>
            </a:extLst>
          </p:cNvPr>
          <p:cNvSpPr>
            <a:spLocks xmlns:a="http://schemas.openxmlformats.org/drawingml/2006/main" noGrp="1"/>
          </p:cNvSpPr>
          <p:nvPr/>
        </p:nvSpPr>
        <p:spPr>
          <a:xfrm xmlns:a="http://schemas.openxmlformats.org/drawingml/2006/main">
            <a:off x="952500" y="61436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1114"/>
                </a:solidFill>
              </a:defRPr>
            </a:pPr>
            <a:r>
              <a:rPr sz="1575" b="1">
                <a:solidFill>
                  <a:srgbClr val="101114"/>
                </a:solidFill>
              </a:rPr>
              <a:t>좋은 REST API는 URL뿐 아니라 중복·동시 요청에서도 같은 비즈니스 결과를 보장한다.</a:t>
            </a:r>
          </a:p>
        </p:txBody>
      </p:sp>
      <p:sp>
        <p:nvSpPr>
          <p:cNvPr id="33" name="">
            <a:extLst xmlns:a="http://schemas.openxmlformats.org/drawingml/2006/main">
              <a:ext uri="{FF2B5EF4-FFF2-40B4-BE49-F238E27FC236}">
                <a16:creationId xmlns:a16="http://schemas.microsoft.com/office/drawing/2014/main" id="{4D1BD269-4701-4798-A036-F8E059CB648D}"/>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프로젝트 실제 코드 기반 · 표준 5-Slide</a:t>
            </a:r>
          </a:p>
        </p:txBody>
      </p:sp>
    </p:spTree>
    <p:extLst>
      <p:ext uri="{BB962C8B-B14F-4D97-AF65-F5344CB8AC3E}">
        <p14:creationId xmlns:p14="http://schemas.microsoft.com/office/powerpoint/2010/main" val="8651540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4653623-8D1A-49AC-B436-61A7033B8C8C}"/>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B53B33B1-EDCD-4685-A893-F7A744C043DE}"/>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회고 &amp; 향후 발전 방향</a:t>
            </a:r>
          </a:p>
        </p:txBody>
      </p:sp>
      <p:sp>
        <p:nvSpPr>
          <p:cNvPr id="3" name="">
            <a:extLst xmlns:a="http://schemas.openxmlformats.org/drawingml/2006/main">
              <a:ext uri="{FF2B5EF4-FFF2-40B4-BE49-F238E27FC236}">
                <a16:creationId xmlns:a16="http://schemas.microsoft.com/office/drawing/2014/main" id="{D61810EA-4EE6-42DA-B35B-AACE1E32B66C}"/>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05</a:t>
            </a:r>
          </a:p>
        </p:txBody>
      </p:sp>
      <p:sp>
        <p:nvSpPr>
          <p:cNvPr id="4" name="">
            <a:extLst xmlns:a="http://schemas.openxmlformats.org/drawingml/2006/main">
              <a:ext uri="{FF2B5EF4-FFF2-40B4-BE49-F238E27FC236}">
                <a16:creationId xmlns:a16="http://schemas.microsoft.com/office/drawing/2014/main" id="{F459ED6E-AD8F-413D-9009-0DCC95F59258}"/>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B16D347-A35E-4C9C-8929-26541417F3A5}"/>
              </a:ext>
            </a:extLst>
          </p:cNvPr>
          <p:cNvSpPr>
            <a:spLocks xmlns:a="http://schemas.openxmlformats.org/drawingml/2006/main" noGrp="1"/>
          </p:cNvSpPr>
          <p:nvPr/>
        </p:nvSpPr>
        <p:spPr>
          <a:xfrm xmlns:a="http://schemas.openxmlformats.org/drawingml/2006/main">
            <a:off x="609600" y="1562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845B"/>
                </a:solidFill>
              </a:defRPr>
            </a:pPr>
            <a:r>
              <a:rPr sz="1800" b="1">
                <a:solidFill>
                  <a:srgbClr val="16845B"/>
                </a:solidFill>
              </a:rPr>
              <a:t>KEEP</a:t>
            </a:r>
          </a:p>
        </p:txBody>
      </p:sp>
      <p:sp>
        <p:nvSpPr>
          <p:cNvPr id="6" name="">
            <a:extLst xmlns:a="http://schemas.openxmlformats.org/drawingml/2006/main">
              <a:ext uri="{FF2B5EF4-FFF2-40B4-BE49-F238E27FC236}">
                <a16:creationId xmlns:a16="http://schemas.microsoft.com/office/drawing/2014/main" id="{61528D8C-1BA9-45BC-8253-FE2C2CA35D35}"/>
              </a:ext>
            </a:extLst>
          </p:cNvPr>
          <p:cNvSpPr>
            <a:spLocks xmlns:a="http://schemas.openxmlformats.org/drawingml/2006/main" noGrp="1"/>
          </p:cNvSpPr>
          <p:nvPr/>
        </p:nvSpPr>
        <p:spPr>
          <a:xfrm xmlns:a="http://schemas.openxmlformats.org/drawingml/2006/main">
            <a:off x="609600" y="1952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계속 유지할 것</a:t>
            </a:r>
          </a:p>
        </p:txBody>
      </p:sp>
      <p:sp>
        <p:nvSpPr>
          <p:cNvPr id="7" name="">
            <a:extLst xmlns:a="http://schemas.openxmlformats.org/drawingml/2006/main">
              <a:ext uri="{FF2B5EF4-FFF2-40B4-BE49-F238E27FC236}">
                <a16:creationId xmlns:a16="http://schemas.microsoft.com/office/drawing/2014/main" id="{43E82BC1-967D-4092-A251-B11A3B2409E2}"/>
              </a:ext>
            </a:extLst>
          </p:cNvPr>
          <p:cNvSpPr>
            <a:spLocks xmlns:a="http://schemas.openxmlformats.org/drawingml/2006/main" noGrp="1"/>
          </p:cNvSpPr>
          <p:nvPr/>
        </p:nvSpPr>
        <p:spPr>
          <a:xfrm xmlns:a="http://schemas.openxmlformats.org/drawingml/2006/main">
            <a:off x="609600" y="2352675"/>
            <a:ext cx="3143250" cy="195262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A129E0-D2F4-4DE1-B3F5-229E67801319}"/>
              </a:ext>
            </a:extLst>
          </p:cNvPr>
          <p:cNvSpPr>
            <a:spLocks xmlns:a="http://schemas.openxmlformats.org/drawingml/2006/main" noGrp="1"/>
          </p:cNvSpPr>
          <p:nvPr/>
        </p:nvSpPr>
        <p:spPr>
          <a:xfrm xmlns:a="http://schemas.openxmlformats.org/drawingml/2006/main">
            <a:off x="800100" y="259080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1114"/>
                </a:solidFill>
              </a:defRPr>
            </a:pPr>
            <a:r>
              <a:rPr sz="1350" b="0">
                <a:solidFill>
                  <a:srgbClr val="101114"/>
                </a:solidFill>
              </a:rPr>
              <a:t>• Controller·Service·Repository 책임 분리</a:t>
            </a:r>
          </a:p>
          <a:p xmlns:a="http://schemas.openxmlformats.org/drawingml/2006/main">
            <a:pPr algn="l">
              <a:defRPr sz="1350" b="0">
                <a:solidFill>
                  <a:srgbClr val="101114"/>
                </a:solidFill>
              </a:defRPr>
            </a:pPr>
            <a:r>
              <a:rPr sz="1350" b="0">
                <a:solidFill>
                  <a:srgbClr val="101114"/>
                </a:solidFill>
              </a:rPr>
              <a:t>• DTO와 공통 ErrorResponse 계약</a:t>
            </a:r>
          </a:p>
          <a:p xmlns:a="http://schemas.openxmlformats.org/drawingml/2006/main">
            <a:pPr algn="l">
              <a:defRPr sz="1350" b="0">
                <a:solidFill>
                  <a:srgbClr val="101114"/>
                </a:solidFill>
              </a:defRPr>
            </a:pPr>
            <a:r>
              <a:rPr sz="1350" b="0">
                <a:solidFill>
                  <a:srgbClr val="101114"/>
                </a:solidFill>
              </a:rPr>
              <a:t>• 트랜잭션·락·멱등성 기반 안전성</a:t>
            </a:r>
          </a:p>
        </p:txBody>
      </p:sp>
      <p:sp>
        <p:nvSpPr>
          <p:cNvPr id="9" name="">
            <a:extLst xmlns:a="http://schemas.openxmlformats.org/drawingml/2006/main">
              <a:ext uri="{FF2B5EF4-FFF2-40B4-BE49-F238E27FC236}">
                <a16:creationId xmlns:a16="http://schemas.microsoft.com/office/drawing/2014/main" id="{AD5E9CC2-8ECA-427A-8120-E786C7EA8AF8}"/>
              </a:ext>
            </a:extLst>
          </p:cNvPr>
          <p:cNvSpPr>
            <a:spLocks xmlns:a="http://schemas.openxmlformats.org/drawingml/2006/main" noGrp="1"/>
          </p:cNvSpPr>
          <p:nvPr/>
        </p:nvSpPr>
        <p:spPr>
          <a:xfrm xmlns:a="http://schemas.openxmlformats.org/drawingml/2006/main">
            <a:off x="4267200" y="1562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D46B16"/>
                </a:solidFill>
              </a:defRPr>
            </a:pPr>
            <a:r>
              <a:rPr sz="1800" b="1">
                <a:solidFill>
                  <a:srgbClr val="D46B16"/>
                </a:solidFill>
              </a:rPr>
              <a:t>PROBLEM</a:t>
            </a:r>
          </a:p>
        </p:txBody>
      </p:sp>
      <p:sp>
        <p:nvSpPr>
          <p:cNvPr id="10" name="">
            <a:extLst xmlns:a="http://schemas.openxmlformats.org/drawingml/2006/main">
              <a:ext uri="{FF2B5EF4-FFF2-40B4-BE49-F238E27FC236}">
                <a16:creationId xmlns:a16="http://schemas.microsoft.com/office/drawing/2014/main" id="{2EDBF175-9E88-49B5-AA81-19144DB17A31}"/>
              </a:ext>
            </a:extLst>
          </p:cNvPr>
          <p:cNvSpPr>
            <a:spLocks xmlns:a="http://schemas.openxmlformats.org/drawingml/2006/main" noGrp="1"/>
          </p:cNvSpPr>
          <p:nvPr/>
        </p:nvSpPr>
        <p:spPr>
          <a:xfrm xmlns:a="http://schemas.openxmlformats.org/drawingml/2006/main">
            <a:off x="4267200" y="1952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현재의 한계</a:t>
            </a:r>
          </a:p>
        </p:txBody>
      </p:sp>
      <p:sp>
        <p:nvSpPr>
          <p:cNvPr id="11" name="">
            <a:extLst xmlns:a="http://schemas.openxmlformats.org/drawingml/2006/main">
              <a:ext uri="{FF2B5EF4-FFF2-40B4-BE49-F238E27FC236}">
                <a16:creationId xmlns:a16="http://schemas.microsoft.com/office/drawing/2014/main" id="{1CCBAF3B-8C4C-44BC-88F8-343B31D924B7}"/>
              </a:ext>
            </a:extLst>
          </p:cNvPr>
          <p:cNvSpPr>
            <a:spLocks xmlns:a="http://schemas.openxmlformats.org/drawingml/2006/main" noGrp="1"/>
          </p:cNvSpPr>
          <p:nvPr/>
        </p:nvSpPr>
        <p:spPr>
          <a:xfrm xmlns:a="http://schemas.openxmlformats.org/drawingml/2006/main">
            <a:off x="4267200" y="2352675"/>
            <a:ext cx="3143250" cy="195262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5EBDD4-A6ED-4CF8-9C2A-FA7FBA635CE4}"/>
              </a:ext>
            </a:extLst>
          </p:cNvPr>
          <p:cNvSpPr>
            <a:spLocks xmlns:a="http://schemas.openxmlformats.org/drawingml/2006/main" noGrp="1"/>
          </p:cNvSpPr>
          <p:nvPr/>
        </p:nvSpPr>
        <p:spPr>
          <a:xfrm xmlns:a="http://schemas.openxmlformats.org/drawingml/2006/main">
            <a:off x="4457700" y="259080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1114"/>
                </a:solidFill>
              </a:defRPr>
            </a:pPr>
            <a:r>
              <a:rPr sz="1350" b="0">
                <a:solidFill>
                  <a:srgbClr val="101114"/>
                </a:solidFill>
              </a:rPr>
              <a:t>• 프론트가 API URL을 직접 조합</a:t>
            </a:r>
          </a:p>
          <a:p xmlns:a="http://schemas.openxmlformats.org/drawingml/2006/main">
            <a:pPr algn="l">
              <a:defRPr sz="1350" b="0">
                <a:solidFill>
                  <a:srgbClr val="101114"/>
                </a:solidFill>
              </a:defRPr>
            </a:pPr>
            <a:r>
              <a:rPr sz="1350" b="0">
                <a:solidFill>
                  <a:srgbClr val="101114"/>
                </a:solidFill>
              </a:rPr>
              <a:t>• 5초 폴링은 불필요한 요청 발생 가능</a:t>
            </a:r>
          </a:p>
          <a:p xmlns:a="http://schemas.openxmlformats.org/drawingml/2006/main">
            <a:pPr algn="l">
              <a:defRPr sz="1350" b="0">
                <a:solidFill>
                  <a:srgbClr val="101114"/>
                </a:solidFill>
              </a:defRPr>
            </a:pPr>
            <a:r>
              <a:rPr sz="1350" b="0">
                <a:solidFill>
                  <a:srgbClr val="101114"/>
                </a:solidFill>
              </a:rPr>
              <a:t>• 외부 클라이언트가 늘면 결합도 증가</a:t>
            </a:r>
          </a:p>
        </p:txBody>
      </p:sp>
      <p:sp>
        <p:nvSpPr>
          <p:cNvPr id="13" name="">
            <a:extLst xmlns:a="http://schemas.openxmlformats.org/drawingml/2006/main">
              <a:ext uri="{FF2B5EF4-FFF2-40B4-BE49-F238E27FC236}">
                <a16:creationId xmlns:a16="http://schemas.microsoft.com/office/drawing/2014/main" id="{BBF38D33-BE92-4380-9639-81366E793F27}"/>
              </a:ext>
            </a:extLst>
          </p:cNvPr>
          <p:cNvSpPr>
            <a:spLocks xmlns:a="http://schemas.openxmlformats.org/drawingml/2006/main" noGrp="1"/>
          </p:cNvSpPr>
          <p:nvPr/>
        </p:nvSpPr>
        <p:spPr>
          <a:xfrm xmlns:a="http://schemas.openxmlformats.org/drawingml/2006/main">
            <a:off x="7924800" y="1562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TRY</a:t>
            </a:r>
          </a:p>
        </p:txBody>
      </p:sp>
      <p:sp>
        <p:nvSpPr>
          <p:cNvPr id="14" name="">
            <a:extLst xmlns:a="http://schemas.openxmlformats.org/drawingml/2006/main">
              <a:ext uri="{FF2B5EF4-FFF2-40B4-BE49-F238E27FC236}">
                <a16:creationId xmlns:a16="http://schemas.microsoft.com/office/drawing/2014/main" id="{215B0CB1-EEF5-4546-BF19-C39C0DDD7389}"/>
              </a:ext>
            </a:extLst>
          </p:cNvPr>
          <p:cNvSpPr>
            <a:spLocks xmlns:a="http://schemas.openxmlformats.org/drawingml/2006/main" noGrp="1"/>
          </p:cNvSpPr>
          <p:nvPr/>
        </p:nvSpPr>
        <p:spPr>
          <a:xfrm xmlns:a="http://schemas.openxmlformats.org/drawingml/2006/main">
            <a:off x="7924800" y="1952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다음 확장</a:t>
            </a:r>
          </a:p>
        </p:txBody>
      </p:sp>
      <p:sp>
        <p:nvSpPr>
          <p:cNvPr id="15" name="">
            <a:extLst xmlns:a="http://schemas.openxmlformats.org/drawingml/2006/main">
              <a:ext uri="{FF2B5EF4-FFF2-40B4-BE49-F238E27FC236}">
                <a16:creationId xmlns:a16="http://schemas.microsoft.com/office/drawing/2014/main" id="{03265453-3CF7-4F7C-89F9-1161E3BE5676}"/>
              </a:ext>
            </a:extLst>
          </p:cNvPr>
          <p:cNvSpPr>
            <a:spLocks xmlns:a="http://schemas.openxmlformats.org/drawingml/2006/main" noGrp="1"/>
          </p:cNvSpPr>
          <p:nvPr/>
        </p:nvSpPr>
        <p:spPr>
          <a:xfrm xmlns:a="http://schemas.openxmlformats.org/drawingml/2006/main">
            <a:off x="7924800" y="2352675"/>
            <a:ext cx="3143250" cy="195262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7877B7C-64E3-4FB8-BC82-10D95A54DC42}"/>
              </a:ext>
            </a:extLst>
          </p:cNvPr>
          <p:cNvSpPr>
            <a:spLocks xmlns:a="http://schemas.openxmlformats.org/drawingml/2006/main" noGrp="1"/>
          </p:cNvSpPr>
          <p:nvPr/>
        </p:nvSpPr>
        <p:spPr>
          <a:xfrm xmlns:a="http://schemas.openxmlformats.org/drawingml/2006/main">
            <a:off x="8115300" y="259080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1114"/>
                </a:solidFill>
              </a:defRPr>
            </a:pPr>
            <a:r>
              <a:rPr sz="1350" b="0">
                <a:solidFill>
                  <a:srgbClr val="101114"/>
                </a:solidFill>
              </a:rPr>
              <a:t>• HATEOAS로 상태별 행동 링크 제공</a:t>
            </a:r>
          </a:p>
          <a:p xmlns:a="http://schemas.openxmlformats.org/drawingml/2006/main">
            <a:pPr algn="l">
              <a:defRPr sz="1350" b="0">
                <a:solidFill>
                  <a:srgbClr val="101114"/>
                </a:solidFill>
              </a:defRPr>
            </a:pPr>
            <a:r>
              <a:rPr sz="1350" b="0">
                <a:solidFill>
                  <a:srgbClr val="101114"/>
                </a:solidFill>
              </a:rPr>
              <a:t>• WebSocket 이벤트와 조회 API 병행</a:t>
            </a:r>
          </a:p>
          <a:p xmlns:a="http://schemas.openxmlformats.org/drawingml/2006/main">
            <a:pPr algn="l">
              <a:defRPr sz="1350" b="0">
                <a:solidFill>
                  <a:srgbClr val="101114"/>
                </a:solidFill>
              </a:defRPr>
            </a:pPr>
            <a:r>
              <a:rPr sz="1350" b="0">
                <a:solidFill>
                  <a:srgbClr val="101114"/>
                </a:solidFill>
              </a:rPr>
              <a:t>• 링크 관계·계약 테스트 추가</a:t>
            </a:r>
          </a:p>
        </p:txBody>
      </p:sp>
      <p:sp>
        <p:nvSpPr>
          <p:cNvPr id="17" name="">
            <a:extLst xmlns:a="http://schemas.openxmlformats.org/drawingml/2006/main">
              <a:ext uri="{FF2B5EF4-FFF2-40B4-BE49-F238E27FC236}">
                <a16:creationId xmlns:a16="http://schemas.microsoft.com/office/drawing/2014/main" id="{51613FE2-1FD3-4228-8A70-471F5158FE81}"/>
              </a:ext>
            </a:extLst>
          </p:cNvPr>
          <p:cNvSpPr>
            <a:spLocks xmlns:a="http://schemas.openxmlformats.org/drawingml/2006/main" noGrp="1"/>
          </p:cNvSpPr>
          <p:nvPr/>
        </p:nvSpPr>
        <p:spPr>
          <a:xfrm xmlns:a="http://schemas.openxmlformats.org/drawingml/2006/main">
            <a:off x="647700" y="46386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현재 JSON</a:t>
            </a:r>
          </a:p>
        </p:txBody>
      </p:sp>
      <p:sp>
        <p:nvSpPr>
          <p:cNvPr id="18" name="">
            <a:extLst xmlns:a="http://schemas.openxmlformats.org/drawingml/2006/main">
              <a:ext uri="{FF2B5EF4-FFF2-40B4-BE49-F238E27FC236}">
                <a16:creationId xmlns:a16="http://schemas.microsoft.com/office/drawing/2014/main" id="{A752011D-123A-4B0B-9493-A3C24D21AEAB}"/>
              </a:ext>
            </a:extLst>
          </p:cNvPr>
          <p:cNvSpPr>
            <a:spLocks xmlns:a="http://schemas.openxmlformats.org/drawingml/2006/main" noGrp="1"/>
          </p:cNvSpPr>
          <p:nvPr/>
        </p:nvSpPr>
        <p:spPr>
          <a:xfrm xmlns:a="http://schemas.openxmlformats.org/drawingml/2006/main">
            <a:off x="609600" y="4972050"/>
            <a:ext cx="4572000" cy="666750"/>
          </a:xfrm>
          <a:prstGeom xmlns:a="http://schemas.openxmlformats.org/drawingml/2006/main" prst="roundRect">
            <a:avLst>
              <a:gd name="adj" fmla="val 17143"/>
            </a:avLst>
          </a:prstGeom>
          <a:solidFill xmlns:a="http://schemas.openxmlformats.org/drawingml/2006/main">
            <a:srgbClr val="111827"/>
          </a:solidFill>
          <a:ln xmlns:a="http://schemas.openxmlformats.org/drawingml/2006/main" w="9525">
            <a:solidFill>
              <a:srgbClr val="111827"/>
            </a:solidFill>
            <a:prstDash val="solid"/>
          </a:ln>
        </p:spPr>
      </p:sp>
      <p:sp>
        <p:nvSpPr>
          <p:cNvPr id="19" name="">
            <a:extLst xmlns:a="http://schemas.openxmlformats.org/drawingml/2006/main">
              <a:ext uri="{FF2B5EF4-FFF2-40B4-BE49-F238E27FC236}">
                <a16:creationId xmlns:a16="http://schemas.microsoft.com/office/drawing/2014/main" id="{22F15EBA-1B57-48BF-8D86-97FBC3996F07}"/>
              </a:ext>
            </a:extLst>
          </p:cNvPr>
          <p:cNvSpPr>
            <a:spLocks xmlns:a="http://schemas.openxmlformats.org/drawingml/2006/main" noGrp="1"/>
          </p:cNvSpPr>
          <p:nvPr/>
        </p:nvSpPr>
        <p:spPr>
          <a:xfrm xmlns:a="http://schemas.openxmlformats.org/drawingml/2006/main">
            <a:off x="800100" y="5133975"/>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E8EFF8"/>
                </a:solidFill>
              </a:defRPr>
            </a:pPr>
            <a:r>
              <a:rPr sz="1125" b="0">
                <a:solidFill>
                  <a:srgbClr val="E8EFF8"/>
                </a:solidFill>
              </a:rPr>
              <a:t>{ "id": 123, "status": "REQUESTED" }</a:t>
            </a:r>
          </a:p>
        </p:txBody>
      </p:sp>
      <p:sp>
        <p:nvSpPr>
          <p:cNvPr id="20" name="">
            <a:extLst xmlns:a="http://schemas.openxmlformats.org/drawingml/2006/main">
              <a:ext uri="{FF2B5EF4-FFF2-40B4-BE49-F238E27FC236}">
                <a16:creationId xmlns:a16="http://schemas.microsoft.com/office/drawing/2014/main" id="{1BEB2BFA-BDDA-4EEA-AC9E-B665C8C806BC}"/>
              </a:ext>
            </a:extLst>
          </p:cNvPr>
          <p:cNvSpPr>
            <a:spLocks xmlns:a="http://schemas.openxmlformats.org/drawingml/2006/main" noGrp="1"/>
          </p:cNvSpPr>
          <p:nvPr/>
        </p:nvSpPr>
        <p:spPr>
          <a:xfrm xmlns:a="http://schemas.openxmlformats.org/drawingml/2006/main">
            <a:off x="6286500" y="46386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HATEOAS 확장 예시</a:t>
            </a:r>
          </a:p>
        </p:txBody>
      </p:sp>
      <p:sp>
        <p:nvSpPr>
          <p:cNvPr id="21" name="">
            <a:extLst xmlns:a="http://schemas.openxmlformats.org/drawingml/2006/main">
              <a:ext uri="{FF2B5EF4-FFF2-40B4-BE49-F238E27FC236}">
                <a16:creationId xmlns:a16="http://schemas.microsoft.com/office/drawing/2014/main" id="{127B101B-247F-47AA-ADC1-9DAAF882461A}"/>
              </a:ext>
            </a:extLst>
          </p:cNvPr>
          <p:cNvSpPr>
            <a:spLocks xmlns:a="http://schemas.openxmlformats.org/drawingml/2006/main" noGrp="1"/>
          </p:cNvSpPr>
          <p:nvPr/>
        </p:nvSpPr>
        <p:spPr>
          <a:xfrm xmlns:a="http://schemas.openxmlformats.org/drawingml/2006/main">
            <a:off x="6248400" y="4972050"/>
            <a:ext cx="5334000" cy="876300"/>
          </a:xfrm>
          <a:prstGeom xmlns:a="http://schemas.openxmlformats.org/drawingml/2006/main" prst="roundRect">
            <a:avLst>
              <a:gd name="adj" fmla="val 13043"/>
            </a:avLst>
          </a:prstGeom>
          <a:solidFill xmlns:a="http://schemas.openxmlformats.org/drawingml/2006/main">
            <a:srgbClr val="111827"/>
          </a:solidFill>
          <a:ln xmlns:a="http://schemas.openxmlformats.org/drawingml/2006/main" w="9525">
            <a:solidFill>
              <a:srgbClr val="111827"/>
            </a:solidFill>
            <a:prstDash val="solid"/>
          </a:ln>
        </p:spPr>
      </p:sp>
      <p:sp>
        <p:nvSpPr>
          <p:cNvPr id="22" name="">
            <a:extLst xmlns:a="http://schemas.openxmlformats.org/drawingml/2006/main">
              <a:ext uri="{FF2B5EF4-FFF2-40B4-BE49-F238E27FC236}">
                <a16:creationId xmlns:a16="http://schemas.microsoft.com/office/drawing/2014/main" id="{9E0D4D59-A2DC-47AD-8C2F-EFD73C746C98}"/>
              </a:ext>
            </a:extLst>
          </p:cNvPr>
          <p:cNvSpPr>
            <a:spLocks xmlns:a="http://schemas.openxmlformats.org/drawingml/2006/main" noGrp="1"/>
          </p:cNvSpPr>
          <p:nvPr/>
        </p:nvSpPr>
        <p:spPr>
          <a:xfrm xmlns:a="http://schemas.openxmlformats.org/drawingml/2006/main">
            <a:off x="6438900" y="513397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E8EFF8"/>
                </a:solidFill>
              </a:defRPr>
            </a:pPr>
            <a:r>
              <a:rPr sz="1050" b="0">
                <a:solidFill>
                  <a:srgbClr val="E8EFF8"/>
                </a:solidFill>
              </a:rPr>
              <a:t>"_links": {</a:t>
            </a:r>
          </a:p>
          <a:p xmlns:a="http://schemas.openxmlformats.org/drawingml/2006/main">
            <a:pPr algn="l">
              <a:defRPr sz="1050" b="0">
                <a:solidFill>
                  <a:srgbClr val="E8EFF8"/>
                </a:solidFill>
              </a:defRPr>
            </a:pPr>
            <a:r>
              <a:rPr sz="1050" b="0">
                <a:solidFill>
                  <a:srgbClr val="E8EFF8"/>
                </a:solidFill>
              </a:rPr>
              <a:t>  "self": { "href": ".../123" },</a:t>
            </a:r>
          </a:p>
          <a:p xmlns:a="http://schemas.openxmlformats.org/drawingml/2006/main">
            <a:pPr algn="l">
              <a:defRPr sz="1050" b="0">
                <a:solidFill>
                  <a:srgbClr val="E8EFF8"/>
                </a:solidFill>
              </a:defRPr>
            </a:pPr>
            <a:r>
              <a:rPr sz="1050" b="0">
                <a:solidFill>
                  <a:srgbClr val="E8EFF8"/>
                </a:solidFill>
              </a:rPr>
              <a:t>  "cancel": { "href": ".../123/cancel" }</a:t>
            </a:r>
          </a:p>
          <a:p xmlns:a="http://schemas.openxmlformats.org/drawingml/2006/main">
            <a:pPr algn="l">
              <a:defRPr sz="1050" b="0">
                <a:solidFill>
                  <a:srgbClr val="E8EFF8"/>
                </a:solidFill>
              </a:defRPr>
            </a:pPr>
            <a:r>
              <a:rPr sz="1050" b="0">
                <a:solidFill>
                  <a:srgbClr val="E8EFF8"/>
                </a:solidFill>
              </a:rPr>
              <a:t>}</a:t>
            </a:r>
          </a:p>
        </p:txBody>
      </p:sp>
      <p:sp>
        <p:nvSpPr>
          <p:cNvPr id="23" name="">
            <a:extLst xmlns:a="http://schemas.openxmlformats.org/drawingml/2006/main">
              <a:ext uri="{FF2B5EF4-FFF2-40B4-BE49-F238E27FC236}">
                <a16:creationId xmlns:a16="http://schemas.microsoft.com/office/drawing/2014/main" id="{8A06F030-A835-4638-8674-D22DE0C4113F}"/>
              </a:ext>
            </a:extLst>
          </p:cNvPr>
          <p:cNvSpPr>
            <a:spLocks xmlns:a="http://schemas.openxmlformats.org/drawingml/2006/main" noGrp="1"/>
          </p:cNvSpPr>
          <p:nvPr/>
        </p:nvSpPr>
        <p:spPr>
          <a:xfrm xmlns:a="http://schemas.openxmlformats.org/drawingml/2006/main">
            <a:off x="609600" y="60579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28CA9AF-44FC-4679-B1FC-2B02DE19DA9E}"/>
              </a:ext>
            </a:extLst>
          </p:cNvPr>
          <p:cNvSpPr>
            <a:spLocks xmlns:a="http://schemas.openxmlformats.org/drawingml/2006/main" noGrp="1"/>
          </p:cNvSpPr>
          <p:nvPr/>
        </p:nvSpPr>
        <p:spPr>
          <a:xfrm xmlns:a="http://schemas.openxmlformats.org/drawingml/2006/main">
            <a:off x="838200" y="620077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1114"/>
                </a:solidFill>
              </a:defRPr>
            </a:pPr>
            <a:r>
              <a:rPr sz="1500" b="1">
                <a:solidFill>
                  <a:srgbClr val="101114"/>
                </a:solidFill>
              </a:rPr>
              <a:t>Key Lesson  |  REST API는 데이터를 반환하는 코드가 아니라 화면과 비즈니스를 연결하는 계약이다.</a:t>
            </a:r>
          </a:p>
        </p:txBody>
      </p:sp>
      <p:sp>
        <p:nvSpPr>
          <p:cNvPr id="25" name="">
            <a:extLst xmlns:a="http://schemas.openxmlformats.org/drawingml/2006/main">
              <a:ext uri="{FF2B5EF4-FFF2-40B4-BE49-F238E27FC236}">
                <a16:creationId xmlns:a16="http://schemas.microsoft.com/office/drawing/2014/main" id="{E1323C93-8457-44BB-BE82-CC3753C3AAF1}"/>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현재 프로젝트에는 Spring HATEOAS가 구현되어 있지 않음</a:t>
            </a:r>
          </a:p>
        </p:txBody>
      </p:sp>
    </p:spTree>
    <p:extLst>
      <p:ext uri="{BB962C8B-B14F-4D97-AF65-F5344CB8AC3E}">
        <p14:creationId xmlns:p14="http://schemas.microsoft.com/office/powerpoint/2010/main" val="1804725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2026-08-18T07:39:46.0920000Z</dcterms:created>
  <dcterms:modified xsi:type="dcterms:W3CDTF">2026-08-18T07:39:46.0920000Z</dcterms:modified>
</coreProperties>
</file>