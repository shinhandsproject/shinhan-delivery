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918aee8f6384099" /><Relationship Type="http://schemas.openxmlformats.org/officeDocument/2006/relationships/extended-properties" Target="/docProps/app.xml" Id="R95b745e0ff6f4f0d" /><Relationship Type="http://schemas.openxmlformats.org/officeDocument/2006/relationships/officeDocument" Target="/ppt/presentation.xml" Id="Rf33912a568e54a30" /></Relationships>
</file>

<file path=ppt/presentation.xml><?xml version="1.0" encoding="utf-8"?>
<p:presentation xmlns:p="http://schemas.openxmlformats.org/presentationml/2006/main">
  <p:sldMasterIdLst>
    <p:sldMasterId xmlns:r="http://schemas.openxmlformats.org/officeDocument/2006/relationships" id="2147483648" r:id="Rb6a42c6cbf6d4450"/>
  </p:sldMasterIdLst>
  <p:notesMasterIdLst>
    <p:notesMasterId xmlns:r="http://schemas.openxmlformats.org/officeDocument/2006/relationships" r:id="Rb675f5f1553a4807"/>
  </p:notesMasterIdLst>
  <p:sldIdLst>
    <p:sldId xmlns:r="http://schemas.openxmlformats.org/officeDocument/2006/relationships" id="256" r:id="R2213700770214e7e"/>
    <p:sldId xmlns:r="http://schemas.openxmlformats.org/officeDocument/2006/relationships" id="257" r:id="R345a0d6b79aa485c"/>
    <p:sldId xmlns:r="http://schemas.openxmlformats.org/officeDocument/2006/relationships" id="258" r:id="R7eeb61fd16d24e82"/>
    <p:sldId xmlns:r="http://schemas.openxmlformats.org/officeDocument/2006/relationships" id="259" r:id="R8a425d182b4e4df5"/>
    <p:sldId xmlns:r="http://schemas.openxmlformats.org/officeDocument/2006/relationships" id="260" r:id="R0f3d860003a84712"/>
    <p:sldId xmlns:r="http://schemas.openxmlformats.org/officeDocument/2006/relationships" id="261" r:id="Rc9d4a9f07b7f4431"/>
    <p:sldId xmlns:r="http://schemas.openxmlformats.org/officeDocument/2006/relationships" id="262" r:id="R35a1ec85d1e74ed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10975b7c14340b0" /><Relationship Type="http://schemas.openxmlformats.org/officeDocument/2006/relationships/slideMaster" Target="/ppt/slideMasters/slideMaster1.xml" Id="Rb6a42c6cbf6d4450" /><Relationship Type="http://schemas.openxmlformats.org/officeDocument/2006/relationships/notesMaster" Target="/ppt/notesMasters/notesMaster1.xml" Id="Rb675f5f1553a4807" /><Relationship Type="http://schemas.openxmlformats.org/officeDocument/2006/relationships/presProps" Target="/ppt/presProps.xml" Id="R0527abd5d13046b6" /><Relationship Type="http://schemas.openxmlformats.org/officeDocument/2006/relationships/tableStyles" Target="/ppt/tableStyles.xml" Id="R0e64883fd38a44b8" /><Relationship Type="http://schemas.openxmlformats.org/officeDocument/2006/relationships/slide" Target="/ppt/slides/slide1.xml" Id="R2213700770214e7e" /><Relationship Type="http://schemas.openxmlformats.org/officeDocument/2006/relationships/slide" Target="/ppt/slides/slide2.xml" Id="R345a0d6b79aa485c" /><Relationship Type="http://schemas.openxmlformats.org/officeDocument/2006/relationships/slide" Target="/ppt/slides/slide3.xml" Id="R7eeb61fd16d24e82" /><Relationship Type="http://schemas.openxmlformats.org/officeDocument/2006/relationships/slide" Target="/ppt/slides/slide4.xml" Id="R8a425d182b4e4df5" /><Relationship Type="http://schemas.openxmlformats.org/officeDocument/2006/relationships/slide" Target="/ppt/slides/slide5.xml" Id="R0f3d860003a84712" /><Relationship Type="http://schemas.openxmlformats.org/officeDocument/2006/relationships/slide" Target="/ppt/slides/slide6.xml" Id="Rc9d4a9f07b7f4431" /><Relationship Type="http://schemas.openxmlformats.org/officeDocument/2006/relationships/slide" Target="/ppt/slides/slide7.xml" Id="R35a1ec85d1e74ed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76bb31ae6774a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988fcbd6fd4c06" /><Relationship Type="http://schemas.openxmlformats.org/officeDocument/2006/relationships/notesMaster" Target="/ppt/notesMasters/notesMaster1.xml" Id="R8c682ca6fc0d42e6" /></Relationships>
</file>

<file path=ppt/notesSlides/_rels/notesSlide2.xml.rels>&#65279;<?xml version="1.0" encoding="utf-8"?><Relationships xmlns="http://schemas.openxmlformats.org/package/2006/relationships"><Relationship Type="http://schemas.openxmlformats.org/officeDocument/2006/relationships/slide" Target="/ppt/slides/slide2.xml" Id="Rb155cc939134490c" /><Relationship Type="http://schemas.openxmlformats.org/officeDocument/2006/relationships/notesMaster" Target="/ppt/notesMasters/notesMaster1.xml" Id="R25e1c8aa823441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d9f3e6cac54e94" /><Relationship Type="http://schemas.openxmlformats.org/officeDocument/2006/relationships/notesMaster" Target="/ppt/notesMasters/notesMaster1.xml" Id="Rb896609ea6ca4a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a8f853fd22342ed" /><Relationship Type="http://schemas.openxmlformats.org/officeDocument/2006/relationships/notesMaster" Target="/ppt/notesMasters/notesMaster1.xml" Id="R741dc20162be4a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7afa821704143e6" /><Relationship Type="http://schemas.openxmlformats.org/officeDocument/2006/relationships/notesMaster" Target="/ppt/notesMasters/notesMaster1.xml" Id="R74e8d332c6e24bc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13a50d275c4bfc" /><Relationship Type="http://schemas.openxmlformats.org/officeDocument/2006/relationships/notesMaster" Target="/ppt/notesMasters/notesMaster1.xml" Id="R96acad26b4e543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35e536e6b59448a0" /><Relationship Type="http://schemas.openxmlformats.org/officeDocument/2006/relationships/notesMaster" Target="/ppt/notesMasters/notesMaster1.xml" Id="R4cb8ec2b628d49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백엔드와 신한 Delivery 프로젝트를 담당한 남윤재입니다. 오늘은 배송 조회, 매칭, 취소 흐름을 중심으로 저희 프로젝트의 REST API를 설명하겠습니다. 핵심 성과는 세 가지입니다. 첫째, HTML 화면과 JSON API의 책임을 분리했습니다. 둘째, 매칭 대기 상태를 fetch가 5초마다 조회해 화면에 자동 반영했습니다. 셋째, 취소 API에는 트랜잭션과 DB 락, 멱등 처리를 적용해 중복 요청에서도 정산 일관성을 지켰습니다. fetch와 HATEOAS도 다루지만 발표의 중심은 실제 REST API 설계와 코드입니다.</a:t>
            </a:r>
          </a:p>
          <a:p xmlns:a="http://schemas.openxmlformats.org/drawingml/2006/main">
            <a:r>
              <a:t/>
            </a:r>
          </a:p>
          <a:p xmlns:a="http://schemas.openxmlformats.org/drawingml/2006/main">
            <a:r>
              <a:t>[Sources]</a:t>
            </a:r>
          </a:p>
          <a:p xmlns:a="http://schemas.openxmlformats.org/drawingml/2006/main">
            <a:r>
              <a:t>- docs/presentation/개발자-발표-PPT-표준-템플릿-가이드.md</a:t>
            </a:r>
          </a:p>
          <a:p xmlns:a="http://schemas.openxmlformats.org/drawingml/2006/main">
            <a:r>
              <a:t>- src/main/java/com/example/shinhandelivery/delivery/controller/DeliveryController.java</a:t>
            </a:r>
          </a:p>
          <a:p xmlns:a="http://schemas.openxmlformats.org/drawingml/2006/main">
            <a:r>
              <a:t>- src/main/resources/templates/matching-wait.html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프로젝트는 기존 시스템을 REST API로 전환한 사례가 아니라 처음부터 새로 만든 프로젝트입니다. 그래서 Before를 과거의 잘못된 구현이라고 표현하지 않고, REST API를 적용하지 않았다면 생길 수 있었던 설계 과제로 정의했습니다. 첫 번째 과제는 화면과 데이터 로직이 한 Controller에 섞이는 것이었습니다. 이를 HTML을 반환하는 Controller와 JSON을 반환하는 RestController로 분리했습니다. 두 번째는 매칭 상태 확인을 위한 화면 새로고침 문제였습니다. fetch의 5초 GET 폴링으로 해결했습니다. 세 번째는 Entity 노출과 예외 응답 불일치 위험입니다. DTO와 GlobalExceptionHandler를 사용해 외부 계약과 상태 코드를 표준화했습니다. 즉, 신규 프로젝트의 장점을 살려 문제가 생긴 뒤 고친 것이 아니라 설계 단계에서 예방했습니다.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src/main/java/com/example/shinhandelivery/delivery/controller/DeliveryWebController.java</a:t>
            </a:r>
          </a:p>
          <a:p xmlns:a="http://schemas.openxmlformats.org/drawingml/2006/main">
            <a:r>
              <a:t>- src/main/java/com/example/shinhandelivery/delivery/controller/DeliveryController.java</a:t>
            </a:r>
          </a:p>
          <a:p xmlns:a="http://schemas.openxmlformats.org/drawingml/2006/main">
            <a:r>
              <a:t>- src/main/java/com/example/shinhandelivery/common/exception/GlobalExceptionHandler.java</a:t>
            </a:r>
          </a:p>
          <a:p xmlns:a="http://schemas.openxmlformats.org/drawingml/2006/main">
            <a:r>
              <a:t>- src/main/resources/templates/matching-wait.html:218-342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REST API 설계의 기본은 URL과 HTTP 메서드의 역할을 나누는 것입니다. 저희 프로젝트는 배송 요청을 delivery-requests라는 복수형 명사 자원으로 표현하고, 특정 배송은 Path Variable인 ID로 식별합니다. GET은 상세 조회, POST는 배송 요청 생성, PATCH는 픽업이나 완료처럼 일부 상태를 변경하는 데 사용했습니다. 기존 클라이언트 호환 취소는 DELETE와 204 응답을 유지합니다. 성공 응답뿐 아니라 실패도 API 계약입니다. 인증이 없으면 401, 다른 사용자의 배송이면 403, 배송이 없으면 404, 허용되지 않는 상태 전이는 409를 반환합니다. URL과 메서드, 상태 코드만 보아도 API의 의도와 결과를 예측할 수 있도록 설계했습니다.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src/main/java/com/example/shinhandelivery/delivery/controller/DeliveryController.java:59-246</a:t>
            </a:r>
          </a:p>
          <a:p xmlns:a="http://schemas.openxmlformats.org/drawingml/2006/main">
            <a:r>
              <a:t>- src/main/java/com/example/shinhandelivery/common/exception/ErrorCode.java</a:t>
            </a:r>
          </a:p>
          <a:p xmlns:a="http://schemas.openxmlformats.org/drawingml/2006/main">
            <a:r>
              <a:t>- docs/architecture/REST-API-설계-규격-가이드.md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흐름을 실제 코드로 보겠습니다. 사용자는 먼저 Thymeleaf 매칭 대기 화면을 받습니다. 화면의 JavaScript는 배송 ID를 포함한 GET 요청과 JWT를 REST Controller로 보냅니다. Controller는 HTTP 요청과 인증 정보를 받고 Service를 호출합니다. Service는 배송, 매칭, 차량을 조회하고 고객 본인이나 배정 배송원인지 검사합니다. Repository는 JPA를 통해 MariaDB에 접근합니다. 최종 응답은 Entity가 아니라 DeliveryDetailResponse DTO이며 JSON으로 직렬화됩니다. 화면은 이 JSON을 5초마다 받아 status가 MATCHED이면 완료 화면으로 이동합니다. 클라이언트와 서버 양쪽에 no-store를 적용해 과거 상태가 캐시되지 않게 했습니다. fetch는 REST 자체가 아니라 브라우저가 REST API를 호출하는 수단이라는 점도 중요합니다.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src/main/java/com/example/shinhandelivery/delivery/controller/DeliveryController.java:102-114</a:t>
            </a:r>
          </a:p>
          <a:p xmlns:a="http://schemas.openxmlformats.org/drawingml/2006/main">
            <a:r>
              <a:t>- src/main/java/com/example/shinhandelivery/delivery/service/DeliveryService.java:155-172</a:t>
            </a:r>
          </a:p>
          <a:p xmlns:a="http://schemas.openxmlformats.org/drawingml/2006/main">
            <a:r>
              <a:t>- src/main/java/com/example/shinhandelivery/delivery/dto/response/DeliveryDetailResponse.java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REST API를 화면에서 실제로 사용하는 도구가 fetch입니다. 매칭 대기 화면은 배송 상세 GET API를 즉시 한 번 호출한 뒤 5초마다 반복합니다. Authorization 헤더에는 JWT를 넣고, 캐시된 과거 상태를 사용하지 않도록 no-store를 설정했습니다. 서버 역시 응답에 Cache-Control no-store를 포함합니다. JSON의 status가 REQUESTED이면 계속 기다리고, MATCHED나 PICKED_UP, COMPLETED가 되면 폴링을 중단하고 매칭 완료 화면으로 이동합니다. 오류도 상태 코드별로 처리합니다. 401이면 로그인 화면, 403이면 권한 없음, 404이면 배송 정보 없음 메시지를 보여줍니다. fetch는 404나 500을 자동으로 throw하지 않기 때문에 response.ok를 확인해야 합니다. fetch 자체는 REST가 아니라 브라우저가 REST API를 호출하는 도구입니다.</a:t>
            </a:r>
          </a:p>
          <a:p xmlns:a="http://schemas.openxmlformats.org/drawingml/2006/main">
            <a:r>
              <a:t/>
            </a:r>
          </a:p>
          <a:p xmlns:a="http://schemas.openxmlformats.org/drawingml/2006/main">
            <a:r>
              <a:t>[Sources]</a:t>
            </a:r>
          </a:p>
          <a:p xmlns:a="http://schemas.openxmlformats.org/drawingml/2006/main">
            <a:r>
              <a:t>- src/main/resources/templates/matching-wait.html:218-342</a:t>
            </a:r>
          </a:p>
          <a:p xmlns:a="http://schemas.openxmlformats.org/drawingml/2006/main">
            <a:r>
              <a:t>- src/main/java/com/example/shinhandelivery/delivery/controller/DeliveryController.java:102-114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핵심 구현은 배송 취소 API입니다. 먼저 GET cancellation-preview는 서버 상태를 바꾸지 않고 예상 수수료와 환불액만 조회합니다. 사용자가 동의하면 POST cancel이 실제 취소를 수행합니다. 문제는 버튼 중복 클릭이나 네트워크 재시도로 같은 POST가 반복될 수 있다는 점입니다. 취소는 단순 삭제가 아니라 고객 환불, 배송원 보상, 매칭 취소, 차량 상태 복구를 함께 처리하므로 일부만 성공하면 정산 불일치가 발생합니다. 그래서 Service 전체를 트랜잭션으로 묶고, Repository에서는 비관적 쓰기 락으로 배송 행을 조회합니다. 이미 고객 요청으로 취소된 배송이면 다시 정산하지 않고 기존 결과를 반환합니다. 또한 환불과 보상에는 배송 ID 기반 멱등성 키를 사용합니다. 현재 단계에서 취소할 수 없으면 InvalidDeliveryTransitionException이 발생하고 GlobalExceptionHandler가 409 Conflict로 변환합니다. 이 사례는 REST API의 품질이 URI 설계에서 끝나는 것이 아니라는 점을 보여줍니다.</a:t>
            </a:r>
          </a:p>
          <a:p xmlns:a="http://schemas.openxmlformats.org/drawingml/2006/main">
            <a:r>
              <a:t/>
            </a:r>
          </a:p>
          <a:p xmlns:a="http://schemas.openxmlformats.org/drawingml/2006/main">
            <a:r>
              <a:t>[Sources]</a:t>
            </a:r>
          </a:p>
          <a:p xmlns:a="http://schemas.openxmlformats.org/drawingml/2006/main">
            <a:r>
              <a:t>- src/main/java/com/example/shinhandelivery/delivery/controller/DeliveryController.java:191-207</a:t>
            </a:r>
          </a:p>
          <a:p xmlns:a="http://schemas.openxmlformats.org/drawingml/2006/main">
            <a:r>
              <a:t>- src/main/java/com/example/shinhandelivery/delivery/service/DeliveryCancellationService.java:43-149</a:t>
            </a:r>
          </a:p>
          <a:p xmlns:a="http://schemas.openxmlformats.org/drawingml/2006/main">
            <a:r>
              <a:t>- src/main/java/com/example/shinhandelivery/delivery/repository/DeliveryRequestRepository.java:19-22</a:t>
            </a:r>
          </a:p>
          <a:p xmlns:a="http://schemas.openxmlformats.org/drawingml/2006/main">
            <a:r>
              <a:t>- src/main/java/com/example/shinhandelivery/common/exception/ErrorCode.java:33-40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회고입니다. Keep은 계층별 책임 분리, DTO와 공통 에러 계약, 그리고 트랜잭션과 멱등성으로 API 안전성을 확보한 점입니다. Problem은 현재 프론트엔드가 API 경로를 직접 조합하고, 매칭 확인을 위해 5초마다 요청한다는 점입니다. 지금처럼 Thymeleaf와 API가 같은 저장소에 있고 경로가 단순한 규모에서는 구현 복잡도를 낮추는 합리적인 선택입니다. 그래서 HATEOAS는 현재 구현이라고 말하면 안 됩니다. 향후 모바일 앱이나 외부 클라이언트가 늘어난다면 Try로 검토할 수 있습니다. 서버가 응답의 links에 현재 상태에서 가능한 cancel이나 proof-photo 같은 행동을 제공하면 클라이언트의 URL 하드코딩과 상태 판단을 줄일 수 있습니다. 또한 실시간 알림은 WebSocket으로 받고 정확한 현재 상태는 GET API로 확인하는 조합도 발전 방향입니다. 결론적으로 REST API는 JSON 반환 기능이 아니라 화면과 비즈니스 로직 사이의 명확하고 안전한 계약입니다.</a:t>
            </a:r>
          </a:p>
          <a:p xmlns:a="http://schemas.openxmlformats.org/drawingml/2006/main">
            <a:r>
              <a:t/>
            </a:r>
          </a:p>
          <a:p xmlns:a="http://schemas.openxmlformats.org/drawingml/2006/main">
            <a:r>
              <a:t>[Sources]</a:t>
            </a:r>
          </a:p>
          <a:p xmlns:a="http://schemas.openxmlformats.org/drawingml/2006/main">
            <a:r>
              <a:t>- src/main/resources/templates/matching-wait.html:259-341</a:t>
            </a:r>
          </a:p>
          <a:p xmlns:a="http://schemas.openxmlformats.org/drawingml/2006/main">
            <a:r>
              <a:t>- build.gradle:24-51</a:t>
            </a:r>
          </a:p>
          <a:p xmlns:a="http://schemas.openxmlformats.org/drawingml/2006/main">
            <a:r>
              <a:t>- docs/architecture/REST-API-설계-규격-가이드.md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c25ac70e4604b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71d7d5db174f34" /><Relationship Type="http://schemas.openxmlformats.org/officeDocument/2006/relationships/slideLayout" Target="/ppt/slideLayouts/slideLayout1.xml" Id="R1b37c1cd3e654ba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37c1cd3e654ba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eca9f3a646f4de5" /><Relationship Type="http://schemas.openxmlformats.org/officeDocument/2006/relationships/notesSlide" Target="/ppt/notesSlides/notesSlide1.xml" Id="R326cd0d1a91846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f8f22bb272a4e89" /><Relationship Type="http://schemas.openxmlformats.org/officeDocument/2006/relationships/notesSlide" Target="/ppt/notesSlides/notesSlide2.xml" Id="R00f35eb7410849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64aab8c477b49aa" /><Relationship Type="http://schemas.openxmlformats.org/officeDocument/2006/relationships/notesSlide" Target="/ppt/notesSlides/notesSlide3.xml" Id="R890b5b07db7141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8c759d4a56443f3" /><Relationship Type="http://schemas.openxmlformats.org/officeDocument/2006/relationships/notesSlide" Target="/ppt/notesSlides/notesSlide4.xml" Id="R6acf9b42fd004a7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3f2e20a95ac46b4" /><Relationship Type="http://schemas.openxmlformats.org/officeDocument/2006/relationships/notesSlide" Target="/ppt/notesSlides/notesSlide5.xml" Id="R6920bbc2f16d4d3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000388a254346e8" /><Relationship Type="http://schemas.openxmlformats.org/officeDocument/2006/relationships/notesSlide" Target="/ppt/notesSlides/notesSlide6.xml" Id="Rced831021f3448c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0b63a49509e42d0" /><Relationship Type="http://schemas.openxmlformats.org/officeDocument/2006/relationships/notesSlide" Target="/ppt/notesSlides/notesSlide7.xml" Id="Rac14de94a74d472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F0ED2C2-6518-4140-9516-D7487CB31027}"/>
              </a:ext>
            </a:extLst>
          </p:cNvPr>
          <p:cNvSpPr>
            <a:spLocks xmlns:a="http://schemas.openxmlformats.org/drawingml/2006/main" noGrp="1"/>
          </p:cNvSpPr>
          <p:nvPr/>
        </p:nvSpPr>
        <p:spPr>
          <a:xfrm xmlns:a="http://schemas.openxmlformats.org/drawingml/2006/main">
            <a:off x="647700" y="552450"/>
            <a:ext cx="685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REST API 기술 성과 발표</a:t>
            </a:r>
          </a:p>
        </p:txBody>
      </p:sp>
      <p:sp>
        <p:nvSpPr>
          <p:cNvPr id="2" name="">
            <a:extLst xmlns:a="http://schemas.openxmlformats.org/drawingml/2006/main">
              <a:ext uri="{FF2B5EF4-FFF2-40B4-BE49-F238E27FC236}">
                <a16:creationId xmlns:a16="http://schemas.microsoft.com/office/drawing/2014/main" id="{085815C7-586C-4FF8-B948-E7AB7DDE4E21}"/>
              </a:ext>
            </a:extLst>
          </p:cNvPr>
          <p:cNvSpPr>
            <a:spLocks xmlns:a="http://schemas.openxmlformats.org/drawingml/2006/main" noGrp="1"/>
          </p:cNvSpPr>
          <p:nvPr/>
        </p:nvSpPr>
        <p:spPr>
          <a:xfrm xmlns:a="http://schemas.openxmlformats.org/drawingml/2006/main">
            <a:off x="647700" y="1381125"/>
            <a:ext cx="7239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825" b="1">
                <a:solidFill>
                  <a:srgbClr val="101114"/>
                </a:solidFill>
              </a:defRPr>
            </a:pPr>
            <a:r>
              <a:rPr sz="3825" b="1">
                <a:solidFill>
                  <a:srgbClr val="101114"/>
                </a:solidFill>
              </a:rPr>
              <a:t>배송 상태를 연결하고,</a:t>
            </a:r>
          </a:p>
          <a:p xmlns:a="http://schemas.openxmlformats.org/drawingml/2006/main">
            <a:pPr algn="l">
              <a:defRPr sz="3825" b="1">
                <a:solidFill>
                  <a:srgbClr val="101114"/>
                </a:solidFill>
              </a:defRPr>
            </a:pPr>
            <a:r>
              <a:rPr sz="3825" b="1">
                <a:solidFill>
                  <a:srgbClr val="101114"/>
                </a:solidFill>
              </a:rPr>
              <a:t>취소 정산을 안전하게 만든 API</a:t>
            </a:r>
          </a:p>
        </p:txBody>
      </p:sp>
      <p:sp>
        <p:nvSpPr>
          <p:cNvPr id="3" name="">
            <a:extLst xmlns:a="http://schemas.openxmlformats.org/drawingml/2006/main">
              <a:ext uri="{FF2B5EF4-FFF2-40B4-BE49-F238E27FC236}">
                <a16:creationId xmlns:a16="http://schemas.microsoft.com/office/drawing/2014/main" id="{A9AC779D-B8C9-4B8C-BC09-DFA361D4EFD5}"/>
              </a:ext>
            </a:extLst>
          </p:cNvPr>
          <p:cNvSpPr>
            <a:spLocks xmlns:a="http://schemas.openxmlformats.org/drawingml/2006/main" noGrp="1"/>
          </p:cNvSpPr>
          <p:nvPr/>
        </p:nvSpPr>
        <p:spPr>
          <a:xfrm xmlns:a="http://schemas.openxmlformats.org/drawingml/2006/main">
            <a:off x="685800" y="30480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16771"/>
                </a:solidFill>
              </a:defRPr>
            </a:pPr>
            <a:r>
              <a:rPr sz="1575" b="0">
                <a:solidFill>
                  <a:srgbClr val="616771"/>
                </a:solidFill>
              </a:rPr>
              <a:t>남윤재  /  백엔드 &amp; 신한 Delivery</a:t>
            </a:r>
          </a:p>
        </p:txBody>
      </p:sp>
      <p:sp>
        <p:nvSpPr>
          <p:cNvPr id="4" name="">
            <a:extLst xmlns:a="http://schemas.openxmlformats.org/drawingml/2006/main">
              <a:ext uri="{FF2B5EF4-FFF2-40B4-BE49-F238E27FC236}">
                <a16:creationId xmlns:a16="http://schemas.microsoft.com/office/drawing/2014/main" id="{7FEC635F-18E7-4D47-AD9D-C202103D043C}"/>
              </a:ext>
            </a:extLst>
          </p:cNvPr>
          <p:cNvSpPr>
            <a:spLocks xmlns:a="http://schemas.openxmlformats.org/drawingml/2006/main" noGrp="1"/>
          </p:cNvSpPr>
          <p:nvPr/>
        </p:nvSpPr>
        <p:spPr>
          <a:xfrm xmlns:a="http://schemas.openxmlformats.org/drawingml/2006/main">
            <a:off x="685800" y="3667125"/>
            <a:ext cx="742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101114"/>
                </a:solidFill>
              </a:defRPr>
            </a:pPr>
            <a:r>
              <a:rPr sz="1650" b="0">
                <a:solidFill>
                  <a:srgbClr val="101114"/>
                </a:solidFill>
              </a:rPr>
              <a:t>배송 조회·매칭·취소 흐름을 일관된 HTTP 계약으로 제공하고</a:t>
            </a:r>
          </a:p>
          <a:p xmlns:a="http://schemas.openxmlformats.org/drawingml/2006/main">
            <a:pPr algn="l">
              <a:defRPr sz="1650" b="0">
                <a:solidFill>
                  <a:srgbClr val="101114"/>
                </a:solidFill>
              </a:defRPr>
            </a:pPr>
            <a:r>
              <a:rPr sz="1650" b="0">
                <a:solidFill>
                  <a:srgbClr val="101114"/>
                </a:solidFill>
              </a:rPr>
              <a:t>중복·동시 요청에서도 안전한 상태 변경을 보장했습니다.</a:t>
            </a:r>
          </a:p>
        </p:txBody>
      </p:sp>
      <p:sp>
        <p:nvSpPr>
          <p:cNvPr id="5" name="">
            <a:extLst xmlns:a="http://schemas.openxmlformats.org/drawingml/2006/main">
              <a:ext uri="{FF2B5EF4-FFF2-40B4-BE49-F238E27FC236}">
                <a16:creationId xmlns:a16="http://schemas.microsoft.com/office/drawing/2014/main" id="{9B10139F-31E1-41D7-904C-397E5A87BA92}"/>
              </a:ext>
            </a:extLst>
          </p:cNvPr>
          <p:cNvSpPr>
            <a:spLocks xmlns:a="http://schemas.openxmlformats.org/drawingml/2006/main" noGrp="1"/>
          </p:cNvSpPr>
          <p:nvPr/>
        </p:nvSpPr>
        <p:spPr>
          <a:xfrm xmlns:a="http://schemas.openxmlformats.org/drawingml/2006/main">
            <a:off x="8572500" y="666750"/>
            <a:ext cx="2667000" cy="5095875"/>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468F691-18DC-498D-B7EC-B9F106F1CBF2}"/>
              </a:ext>
            </a:extLst>
          </p:cNvPr>
          <p:cNvSpPr>
            <a:spLocks xmlns:a="http://schemas.openxmlformats.org/drawingml/2006/main" noGrp="1"/>
          </p:cNvSpPr>
          <p:nvPr/>
        </p:nvSpPr>
        <p:spPr>
          <a:xfrm xmlns:a="http://schemas.openxmlformats.org/drawingml/2006/main">
            <a:off x="8858250" y="109537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01</a:t>
            </a:r>
          </a:p>
        </p:txBody>
      </p:sp>
      <p:sp>
        <p:nvSpPr>
          <p:cNvPr id="7" name="">
            <a:extLst xmlns:a="http://schemas.openxmlformats.org/drawingml/2006/main">
              <a:ext uri="{FF2B5EF4-FFF2-40B4-BE49-F238E27FC236}">
                <a16:creationId xmlns:a16="http://schemas.microsoft.com/office/drawing/2014/main" id="{B625E868-610F-4CB9-921C-F8F3C55AE31C}"/>
              </a:ext>
            </a:extLst>
          </p:cNvPr>
          <p:cNvSpPr>
            <a:spLocks xmlns:a="http://schemas.openxmlformats.org/drawingml/2006/main" noGrp="1"/>
          </p:cNvSpPr>
          <p:nvPr/>
        </p:nvSpPr>
        <p:spPr>
          <a:xfrm xmlns:a="http://schemas.openxmlformats.org/drawingml/2006/main">
            <a:off x="8858250" y="145732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책임 분리</a:t>
            </a:r>
          </a:p>
        </p:txBody>
      </p:sp>
      <p:sp>
        <p:nvSpPr>
          <p:cNvPr id="8" name="">
            <a:extLst xmlns:a="http://schemas.openxmlformats.org/drawingml/2006/main">
              <a:ext uri="{FF2B5EF4-FFF2-40B4-BE49-F238E27FC236}">
                <a16:creationId xmlns:a16="http://schemas.microsoft.com/office/drawing/2014/main" id="{5204E978-1FAC-444C-A640-14FC29B65D6F}"/>
              </a:ext>
            </a:extLst>
          </p:cNvPr>
          <p:cNvSpPr>
            <a:spLocks xmlns:a="http://schemas.openxmlformats.org/drawingml/2006/main" noGrp="1"/>
          </p:cNvSpPr>
          <p:nvPr/>
        </p:nvSpPr>
        <p:spPr>
          <a:xfrm xmlns:a="http://schemas.openxmlformats.org/drawingml/2006/main">
            <a:off x="8858250" y="1876425"/>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HTML Controller → REST Controller</a:t>
            </a:r>
          </a:p>
        </p:txBody>
      </p:sp>
      <p:sp>
        <p:nvSpPr>
          <p:cNvPr id="9" name="">
            <a:extLst xmlns:a="http://schemas.openxmlformats.org/drawingml/2006/main">
              <a:ext uri="{FF2B5EF4-FFF2-40B4-BE49-F238E27FC236}">
                <a16:creationId xmlns:a16="http://schemas.microsoft.com/office/drawing/2014/main" id="{DB961B58-6E5F-4D9C-8D0A-092AD0FBDA41}"/>
              </a:ext>
            </a:extLst>
          </p:cNvPr>
          <p:cNvSpPr>
            <a:spLocks xmlns:a="http://schemas.openxmlformats.org/drawingml/2006/main" noGrp="1"/>
          </p:cNvSpPr>
          <p:nvPr/>
        </p:nvSpPr>
        <p:spPr>
          <a:xfrm xmlns:a="http://schemas.openxmlformats.org/drawingml/2006/main">
            <a:off x="8858250" y="2419350"/>
            <a:ext cx="2095500" cy="9525"/>
          </a:xfrm>
          <a:prstGeom xmlns:a="http://schemas.openxmlformats.org/drawingml/2006/main" prst="rect">
            <a:avLst/>
          </a:prstGeom>
          <a:solidFill xmlns:a="http://schemas.openxmlformats.org/drawingml/2006/main">
            <a:srgbClr val="BBC1C9"/>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33FA422-D9F9-4439-9961-E464E86CE463}"/>
              </a:ext>
            </a:extLst>
          </p:cNvPr>
          <p:cNvSpPr>
            <a:spLocks xmlns:a="http://schemas.openxmlformats.org/drawingml/2006/main" noGrp="1"/>
          </p:cNvSpPr>
          <p:nvPr/>
        </p:nvSpPr>
        <p:spPr>
          <a:xfrm xmlns:a="http://schemas.openxmlformats.org/drawingml/2006/main">
            <a:off x="8858250" y="2571750"/>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02</a:t>
            </a:r>
          </a:p>
        </p:txBody>
      </p:sp>
      <p:sp>
        <p:nvSpPr>
          <p:cNvPr id="11" name="">
            <a:extLst xmlns:a="http://schemas.openxmlformats.org/drawingml/2006/main">
              <a:ext uri="{FF2B5EF4-FFF2-40B4-BE49-F238E27FC236}">
                <a16:creationId xmlns:a16="http://schemas.microsoft.com/office/drawing/2014/main" id="{A77EB7A0-0045-4007-B89F-8F6109AC6F6C}"/>
              </a:ext>
            </a:extLst>
          </p:cNvPr>
          <p:cNvSpPr>
            <a:spLocks xmlns:a="http://schemas.openxmlformats.org/drawingml/2006/main" noGrp="1"/>
          </p:cNvSpPr>
          <p:nvPr/>
        </p:nvSpPr>
        <p:spPr>
          <a:xfrm xmlns:a="http://schemas.openxmlformats.org/drawingml/2006/main">
            <a:off x="8858250" y="2933700"/>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상태 자동 반영</a:t>
            </a:r>
          </a:p>
        </p:txBody>
      </p:sp>
      <p:sp>
        <p:nvSpPr>
          <p:cNvPr id="12" name="">
            <a:extLst xmlns:a="http://schemas.openxmlformats.org/drawingml/2006/main">
              <a:ext uri="{FF2B5EF4-FFF2-40B4-BE49-F238E27FC236}">
                <a16:creationId xmlns:a16="http://schemas.microsoft.com/office/drawing/2014/main" id="{9E806E87-3EF0-4FF5-800A-102FED3D6856}"/>
              </a:ext>
            </a:extLst>
          </p:cNvPr>
          <p:cNvSpPr>
            <a:spLocks xmlns:a="http://schemas.openxmlformats.org/drawingml/2006/main" noGrp="1"/>
          </p:cNvSpPr>
          <p:nvPr/>
        </p:nvSpPr>
        <p:spPr>
          <a:xfrm xmlns:a="http://schemas.openxmlformats.org/drawingml/2006/main">
            <a:off x="8858250" y="33528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수동 새로고침 → 5초 GET 폴링</a:t>
            </a:r>
          </a:p>
        </p:txBody>
      </p:sp>
      <p:sp>
        <p:nvSpPr>
          <p:cNvPr id="13" name="">
            <a:extLst xmlns:a="http://schemas.openxmlformats.org/drawingml/2006/main">
              <a:ext uri="{FF2B5EF4-FFF2-40B4-BE49-F238E27FC236}">
                <a16:creationId xmlns:a16="http://schemas.microsoft.com/office/drawing/2014/main" id="{90B2AA97-8700-47AD-A0F2-BBCFABA23676}"/>
              </a:ext>
            </a:extLst>
          </p:cNvPr>
          <p:cNvSpPr>
            <a:spLocks xmlns:a="http://schemas.openxmlformats.org/drawingml/2006/main" noGrp="1"/>
          </p:cNvSpPr>
          <p:nvPr/>
        </p:nvSpPr>
        <p:spPr>
          <a:xfrm xmlns:a="http://schemas.openxmlformats.org/drawingml/2006/main">
            <a:off x="8858250" y="3895725"/>
            <a:ext cx="2095500" cy="9525"/>
          </a:xfrm>
          <a:prstGeom xmlns:a="http://schemas.openxmlformats.org/drawingml/2006/main" prst="rect">
            <a:avLst/>
          </a:prstGeom>
          <a:solidFill xmlns:a="http://schemas.openxmlformats.org/drawingml/2006/main">
            <a:srgbClr val="BBC1C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C8332C0-487F-479C-BCC6-A36473AF62E3}"/>
              </a:ext>
            </a:extLst>
          </p:cNvPr>
          <p:cNvSpPr>
            <a:spLocks xmlns:a="http://schemas.openxmlformats.org/drawingml/2006/main" noGrp="1"/>
          </p:cNvSpPr>
          <p:nvPr/>
        </p:nvSpPr>
        <p:spPr>
          <a:xfrm xmlns:a="http://schemas.openxmlformats.org/drawingml/2006/main">
            <a:off x="8858250" y="4048125"/>
            <a:ext cx="428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defRPr>
            </a:pPr>
            <a:r>
              <a:rPr sz="1125" b="1">
                <a:solidFill>
                  <a:srgbClr val="3D8DFF"/>
                </a:solidFill>
              </a:rPr>
              <a:t>03</a:t>
            </a:r>
          </a:p>
        </p:txBody>
      </p:sp>
      <p:sp>
        <p:nvSpPr>
          <p:cNvPr id="15" name="">
            <a:extLst xmlns:a="http://schemas.openxmlformats.org/drawingml/2006/main">
              <a:ext uri="{FF2B5EF4-FFF2-40B4-BE49-F238E27FC236}">
                <a16:creationId xmlns:a16="http://schemas.microsoft.com/office/drawing/2014/main" id="{1189D2A0-25F8-4EB6-8911-3A8B287219C9}"/>
              </a:ext>
            </a:extLst>
          </p:cNvPr>
          <p:cNvSpPr>
            <a:spLocks xmlns:a="http://schemas.openxmlformats.org/drawingml/2006/main" noGrp="1"/>
          </p:cNvSpPr>
          <p:nvPr/>
        </p:nvSpPr>
        <p:spPr>
          <a:xfrm xmlns:a="http://schemas.openxmlformats.org/drawingml/2006/main">
            <a:off x="8858250" y="4410075"/>
            <a:ext cx="2095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01114"/>
                </a:solidFill>
              </a:defRPr>
            </a:pPr>
            <a:r>
              <a:rPr sz="1800" b="1">
                <a:solidFill>
                  <a:srgbClr val="101114"/>
                </a:solidFill>
              </a:rPr>
              <a:t>정산 일관성</a:t>
            </a:r>
          </a:p>
        </p:txBody>
      </p:sp>
      <p:sp>
        <p:nvSpPr>
          <p:cNvPr id="16" name="">
            <a:extLst xmlns:a="http://schemas.openxmlformats.org/drawingml/2006/main">
              <a:ext uri="{FF2B5EF4-FFF2-40B4-BE49-F238E27FC236}">
                <a16:creationId xmlns:a16="http://schemas.microsoft.com/office/drawing/2014/main" id="{A50D5D24-45E4-4D01-B11F-95FE78108DE0}"/>
              </a:ext>
            </a:extLst>
          </p:cNvPr>
          <p:cNvSpPr>
            <a:spLocks xmlns:a="http://schemas.openxmlformats.org/drawingml/2006/main" noGrp="1"/>
          </p:cNvSpPr>
          <p:nvPr/>
        </p:nvSpPr>
        <p:spPr>
          <a:xfrm xmlns:a="http://schemas.openxmlformats.org/drawingml/2006/main">
            <a:off x="8858250" y="4829175"/>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중복 위험 → 트랜잭션·락·멱등</a:t>
            </a:r>
          </a:p>
        </p:txBody>
      </p:sp>
      <p:sp>
        <p:nvSpPr>
          <p:cNvPr id="17" name="">
            <a:extLst xmlns:a="http://schemas.openxmlformats.org/drawingml/2006/main">
              <a:ext uri="{FF2B5EF4-FFF2-40B4-BE49-F238E27FC236}">
                <a16:creationId xmlns:a16="http://schemas.microsoft.com/office/drawing/2014/main" id="{288CDAA7-72F0-4C53-A2F8-2A7E03174BA6}"/>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발표자 남윤재 · 약 10분</a:t>
            </a:r>
          </a:p>
        </p:txBody>
      </p:sp>
    </p:spTree>
    <p:extLst>
      <p:ext uri="{BB962C8B-B14F-4D97-AF65-F5344CB8AC3E}">
        <p14:creationId xmlns:p14="http://schemas.microsoft.com/office/powerpoint/2010/main" val="164244326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D192A8E-646F-4E52-B5CC-D6B8D72D3C1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A6104D8D-66B0-482B-8821-16E4F76398CC}"/>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추진 배경 &amp; 주요 목표</a:t>
            </a:r>
          </a:p>
        </p:txBody>
      </p:sp>
      <p:sp>
        <p:nvSpPr>
          <p:cNvPr id="3" name="">
            <a:extLst xmlns:a="http://schemas.openxmlformats.org/drawingml/2006/main">
              <a:ext uri="{FF2B5EF4-FFF2-40B4-BE49-F238E27FC236}">
                <a16:creationId xmlns:a16="http://schemas.microsoft.com/office/drawing/2014/main" id="{A26B087E-2EDC-4195-83AD-B70050A8A3A1}"/>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02</a:t>
            </a:r>
          </a:p>
        </p:txBody>
      </p:sp>
      <p:sp>
        <p:nvSpPr>
          <p:cNvPr id="4" name="">
            <a:extLst xmlns:a="http://schemas.openxmlformats.org/drawingml/2006/main">
              <a:ext uri="{FF2B5EF4-FFF2-40B4-BE49-F238E27FC236}">
                <a16:creationId xmlns:a16="http://schemas.microsoft.com/office/drawing/2014/main" id="{A29D13A9-A1A4-4047-B2BC-872AA2165DDC}"/>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47C6D357-52A4-4857-9476-8A62A21064D1}"/>
              </a:ext>
            </a:extLst>
          </p:cNvPr>
          <p:cNvSpPr>
            <a:spLocks xmlns:a="http://schemas.openxmlformats.org/drawingml/2006/main" noGrp="1"/>
          </p:cNvSpPr>
          <p:nvPr/>
        </p:nvSpPr>
        <p:spPr>
          <a:xfrm xmlns:a="http://schemas.openxmlformats.org/drawingml/2006/main">
            <a:off x="628650" y="1428750"/>
            <a:ext cx="1057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616771"/>
                </a:solidFill>
              </a:defRPr>
            </a:pPr>
            <a:r>
              <a:rPr sz="1350" b="0">
                <a:solidFill>
                  <a:srgbClr val="616771"/>
                </a:solidFill>
              </a:rPr>
              <a:t>신규 프로젝트이므로 ‘과거 장애’가 아니라 구현 전 설계 과제와 적용 결과를 비교했습니다.</a:t>
            </a:r>
          </a:p>
        </p:txBody>
      </p:sp>
      <p:sp>
        <p:nvSpPr>
          <p:cNvPr id="6" name="">
            <a:extLst xmlns:a="http://schemas.openxmlformats.org/drawingml/2006/main">
              <a:ext uri="{FF2B5EF4-FFF2-40B4-BE49-F238E27FC236}">
                <a16:creationId xmlns:a16="http://schemas.microsoft.com/office/drawing/2014/main" id="{0EA525E1-82E2-46B0-BE2D-DA31854AFF7B}"/>
              </a:ext>
            </a:extLst>
          </p:cNvPr>
          <p:cNvSpPr>
            <a:spLocks xmlns:a="http://schemas.openxmlformats.org/drawingml/2006/main" noGrp="1"/>
          </p:cNvSpPr>
          <p:nvPr/>
        </p:nvSpPr>
        <p:spPr>
          <a:xfrm xmlns:a="http://schemas.openxmlformats.org/drawingml/2006/main">
            <a:off x="609600" y="1885950"/>
            <a:ext cx="1571625" cy="438150"/>
          </a:xfrm>
          <a:prstGeom xmlns:a="http://schemas.openxmlformats.org/drawingml/2006/main" prst="rect">
            <a:avLst/>
          </a:prstGeom>
          <a:solidFill xmlns:a="http://schemas.openxmlformats.org/drawingml/2006/main">
            <a:srgbClr val="F0F2F4"/>
          </a:solidFill>
          <a:ln xmlns:a="http://schemas.openxmlformats.org/drawingml/2006/main" w="9525">
            <a:solidFill>
              <a:srgbClr val="BBC1C9"/>
            </a:solidFill>
            <a:prstDash val="solid"/>
          </a:ln>
        </p:spPr>
      </p:sp>
      <p:sp>
        <p:nvSpPr>
          <p:cNvPr id="7" name="">
            <a:extLst xmlns:a="http://schemas.openxmlformats.org/drawingml/2006/main">
              <a:ext uri="{FF2B5EF4-FFF2-40B4-BE49-F238E27FC236}">
                <a16:creationId xmlns:a16="http://schemas.microsoft.com/office/drawing/2014/main" id="{941491D1-BACB-4309-AD54-5F812C937CE3}"/>
              </a:ext>
            </a:extLst>
          </p:cNvPr>
          <p:cNvSpPr>
            <a:spLocks xmlns:a="http://schemas.openxmlformats.org/drawingml/2006/main" noGrp="1"/>
          </p:cNvSpPr>
          <p:nvPr/>
        </p:nvSpPr>
        <p:spPr>
          <a:xfrm xmlns:a="http://schemas.openxmlformats.org/drawingml/2006/main">
            <a:off x="723900" y="2009775"/>
            <a:ext cx="13430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구분</a:t>
            </a:r>
          </a:p>
        </p:txBody>
      </p:sp>
      <p:sp>
        <p:nvSpPr>
          <p:cNvPr id="8" name="">
            <a:extLst xmlns:a="http://schemas.openxmlformats.org/drawingml/2006/main">
              <a:ext uri="{FF2B5EF4-FFF2-40B4-BE49-F238E27FC236}">
                <a16:creationId xmlns:a16="http://schemas.microsoft.com/office/drawing/2014/main" id="{BDEE1C6A-0259-44D5-8846-933911C2AE74}"/>
              </a:ext>
            </a:extLst>
          </p:cNvPr>
          <p:cNvSpPr>
            <a:spLocks xmlns:a="http://schemas.openxmlformats.org/drawingml/2006/main" noGrp="1"/>
          </p:cNvSpPr>
          <p:nvPr/>
        </p:nvSpPr>
        <p:spPr>
          <a:xfrm xmlns:a="http://schemas.openxmlformats.org/drawingml/2006/main">
            <a:off x="2238375" y="1885950"/>
            <a:ext cx="4429125" cy="438150"/>
          </a:xfrm>
          <a:prstGeom xmlns:a="http://schemas.openxmlformats.org/drawingml/2006/main" prst="rect">
            <a:avLst/>
          </a:prstGeom>
          <a:solidFill xmlns:a="http://schemas.openxmlformats.org/drawingml/2006/main">
            <a:srgbClr val="F0F2F4"/>
          </a:solidFill>
          <a:ln xmlns:a="http://schemas.openxmlformats.org/drawingml/2006/main" w="9525">
            <a:solidFill>
              <a:srgbClr val="BBC1C9"/>
            </a:solidFill>
            <a:prstDash val="solid"/>
          </a:ln>
        </p:spPr>
      </p:sp>
      <p:sp>
        <p:nvSpPr>
          <p:cNvPr id="9" name="">
            <a:extLst xmlns:a="http://schemas.openxmlformats.org/drawingml/2006/main">
              <a:ext uri="{FF2B5EF4-FFF2-40B4-BE49-F238E27FC236}">
                <a16:creationId xmlns:a16="http://schemas.microsoft.com/office/drawing/2014/main" id="{404E81C0-DB5D-4C36-A0D5-55B18E33368F}"/>
              </a:ext>
            </a:extLst>
          </p:cNvPr>
          <p:cNvSpPr>
            <a:spLocks xmlns:a="http://schemas.openxmlformats.org/drawingml/2006/main" noGrp="1"/>
          </p:cNvSpPr>
          <p:nvPr/>
        </p:nvSpPr>
        <p:spPr>
          <a:xfrm xmlns:a="http://schemas.openxmlformats.org/drawingml/2006/main">
            <a:off x="2352675" y="2009775"/>
            <a:ext cx="4200525"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구현 전 설계 과제 (Before)</a:t>
            </a:r>
          </a:p>
        </p:txBody>
      </p:sp>
      <p:sp>
        <p:nvSpPr>
          <p:cNvPr id="10" name="">
            <a:extLst xmlns:a="http://schemas.openxmlformats.org/drawingml/2006/main">
              <a:ext uri="{FF2B5EF4-FFF2-40B4-BE49-F238E27FC236}">
                <a16:creationId xmlns:a16="http://schemas.microsoft.com/office/drawing/2014/main" id="{AD5FFB1A-EE14-43C7-AB84-A25C6E2930F4}"/>
              </a:ext>
            </a:extLst>
          </p:cNvPr>
          <p:cNvSpPr>
            <a:spLocks xmlns:a="http://schemas.openxmlformats.org/drawingml/2006/main" noGrp="1"/>
          </p:cNvSpPr>
          <p:nvPr/>
        </p:nvSpPr>
        <p:spPr>
          <a:xfrm xmlns:a="http://schemas.openxmlformats.org/drawingml/2006/main">
            <a:off x="6762750" y="1885950"/>
            <a:ext cx="4819650" cy="438150"/>
          </a:xfrm>
          <a:prstGeom xmlns:a="http://schemas.openxmlformats.org/drawingml/2006/main" prst="rect">
            <a:avLst/>
          </a:prstGeom>
          <a:solidFill xmlns:a="http://schemas.openxmlformats.org/drawingml/2006/main">
            <a:srgbClr val="DDF3FD"/>
          </a:solidFill>
          <a:ln xmlns:a="http://schemas.openxmlformats.org/drawingml/2006/main" w="9525">
            <a:solidFill>
              <a:srgbClr val="BBC1C9"/>
            </a:solidFill>
            <a:prstDash val="solid"/>
          </a:ln>
        </p:spPr>
      </p:sp>
      <p:sp>
        <p:nvSpPr>
          <p:cNvPr id="11" name="">
            <a:extLst xmlns:a="http://schemas.openxmlformats.org/drawingml/2006/main">
              <a:ext uri="{FF2B5EF4-FFF2-40B4-BE49-F238E27FC236}">
                <a16:creationId xmlns:a16="http://schemas.microsoft.com/office/drawing/2014/main" id="{0865434C-4468-4905-BA0A-5B1E6C22B703}"/>
              </a:ext>
            </a:extLst>
          </p:cNvPr>
          <p:cNvSpPr>
            <a:spLocks xmlns:a="http://schemas.openxmlformats.org/drawingml/2006/main" noGrp="1"/>
          </p:cNvSpPr>
          <p:nvPr/>
        </p:nvSpPr>
        <p:spPr>
          <a:xfrm xmlns:a="http://schemas.openxmlformats.org/drawingml/2006/main">
            <a:off x="6877050" y="2009775"/>
            <a:ext cx="4591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32238"/>
                </a:solidFill>
              </a:defRPr>
            </a:pPr>
            <a:r>
              <a:rPr sz="1275" b="1">
                <a:solidFill>
                  <a:srgbClr val="132238"/>
                </a:solidFill>
              </a:rPr>
              <a:t>REST API 적용 결과 (After)</a:t>
            </a:r>
          </a:p>
        </p:txBody>
      </p:sp>
      <p:sp>
        <p:nvSpPr>
          <p:cNvPr id="12" name="">
            <a:extLst xmlns:a="http://schemas.openxmlformats.org/drawingml/2006/main">
              <a:ext uri="{FF2B5EF4-FFF2-40B4-BE49-F238E27FC236}">
                <a16:creationId xmlns:a16="http://schemas.microsoft.com/office/drawing/2014/main" id="{B0FF4F82-FF7E-48E0-A54F-03DF8C16C27E}"/>
              </a:ext>
            </a:extLst>
          </p:cNvPr>
          <p:cNvSpPr>
            <a:spLocks xmlns:a="http://schemas.openxmlformats.org/drawingml/2006/main" noGrp="1"/>
          </p:cNvSpPr>
          <p:nvPr/>
        </p:nvSpPr>
        <p:spPr>
          <a:xfrm xmlns:a="http://schemas.openxmlformats.org/drawingml/2006/main">
            <a:off x="609600" y="23241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3" name="">
            <a:extLst xmlns:a="http://schemas.openxmlformats.org/drawingml/2006/main">
              <a:ext uri="{FF2B5EF4-FFF2-40B4-BE49-F238E27FC236}">
                <a16:creationId xmlns:a16="http://schemas.microsoft.com/office/drawing/2014/main" id="{113A2154-078E-470B-9981-5265A011E6BE}"/>
              </a:ext>
            </a:extLst>
          </p:cNvPr>
          <p:cNvSpPr>
            <a:spLocks xmlns:a="http://schemas.openxmlformats.org/drawingml/2006/main" noGrp="1"/>
          </p:cNvSpPr>
          <p:nvPr/>
        </p:nvSpPr>
        <p:spPr>
          <a:xfrm xmlns:a="http://schemas.openxmlformats.org/drawingml/2006/main">
            <a:off x="742950" y="24955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구조·역할</a:t>
            </a:r>
          </a:p>
        </p:txBody>
      </p:sp>
      <p:sp>
        <p:nvSpPr>
          <p:cNvPr id="14" name="">
            <a:extLst xmlns:a="http://schemas.openxmlformats.org/drawingml/2006/main">
              <a:ext uri="{FF2B5EF4-FFF2-40B4-BE49-F238E27FC236}">
                <a16:creationId xmlns:a16="http://schemas.microsoft.com/office/drawing/2014/main" id="{21337945-D0EA-4209-941D-5F536B0CECA2}"/>
              </a:ext>
            </a:extLst>
          </p:cNvPr>
          <p:cNvSpPr>
            <a:spLocks xmlns:a="http://schemas.openxmlformats.org/drawingml/2006/main" noGrp="1"/>
          </p:cNvSpPr>
          <p:nvPr/>
        </p:nvSpPr>
        <p:spPr>
          <a:xfrm xmlns:a="http://schemas.openxmlformats.org/drawingml/2006/main">
            <a:off x="2238375" y="23241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5" name="">
            <a:extLst xmlns:a="http://schemas.openxmlformats.org/drawingml/2006/main">
              <a:ext uri="{FF2B5EF4-FFF2-40B4-BE49-F238E27FC236}">
                <a16:creationId xmlns:a16="http://schemas.microsoft.com/office/drawing/2014/main" id="{AE7A51DE-6182-45EE-A27D-158A1BAF93CE}"/>
              </a:ext>
            </a:extLst>
          </p:cNvPr>
          <p:cNvSpPr>
            <a:spLocks xmlns:a="http://schemas.openxmlformats.org/drawingml/2006/main" noGrp="1"/>
          </p:cNvSpPr>
          <p:nvPr/>
        </p:nvSpPr>
        <p:spPr>
          <a:xfrm xmlns:a="http://schemas.openxmlformats.org/drawingml/2006/main">
            <a:off x="2371725" y="24955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화면 반환과 데이터·비즈니스 처리가</a:t>
            </a:r>
          </a:p>
          <a:p xmlns:a="http://schemas.openxmlformats.org/drawingml/2006/main">
            <a:pPr algn="l">
              <a:defRPr sz="1275" b="0">
                <a:solidFill>
                  <a:srgbClr val="101114"/>
                </a:solidFill>
              </a:defRPr>
            </a:pPr>
            <a:r>
              <a:rPr sz="1275" b="0">
                <a:solidFill>
                  <a:srgbClr val="101114"/>
                </a:solidFill>
              </a:rPr>
              <a:t>한 Controller에 섞일 가능성</a:t>
            </a:r>
          </a:p>
        </p:txBody>
      </p:sp>
      <p:sp>
        <p:nvSpPr>
          <p:cNvPr id="16" name="">
            <a:extLst xmlns:a="http://schemas.openxmlformats.org/drawingml/2006/main">
              <a:ext uri="{FF2B5EF4-FFF2-40B4-BE49-F238E27FC236}">
                <a16:creationId xmlns:a16="http://schemas.microsoft.com/office/drawing/2014/main" id="{C7CDC5F4-EEE7-4997-8A6E-CC169CE199E9}"/>
              </a:ext>
            </a:extLst>
          </p:cNvPr>
          <p:cNvSpPr>
            <a:spLocks xmlns:a="http://schemas.openxmlformats.org/drawingml/2006/main" noGrp="1"/>
          </p:cNvSpPr>
          <p:nvPr/>
        </p:nvSpPr>
        <p:spPr>
          <a:xfrm xmlns:a="http://schemas.openxmlformats.org/drawingml/2006/main">
            <a:off x="6762750" y="23241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7" name="">
            <a:extLst xmlns:a="http://schemas.openxmlformats.org/drawingml/2006/main">
              <a:ext uri="{FF2B5EF4-FFF2-40B4-BE49-F238E27FC236}">
                <a16:creationId xmlns:a16="http://schemas.microsoft.com/office/drawing/2014/main" id="{315FC587-377B-4F4B-8892-1A72038EBC4F}"/>
              </a:ext>
            </a:extLst>
          </p:cNvPr>
          <p:cNvSpPr>
            <a:spLocks xmlns:a="http://schemas.openxmlformats.org/drawingml/2006/main" noGrp="1"/>
          </p:cNvSpPr>
          <p:nvPr/>
        </p:nvSpPr>
        <p:spPr>
          <a:xfrm xmlns:a="http://schemas.openxmlformats.org/drawingml/2006/main">
            <a:off x="6896100" y="24955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@Controller는 HTML, @RestController는 JSON</a:t>
            </a:r>
          </a:p>
          <a:p xmlns:a="http://schemas.openxmlformats.org/drawingml/2006/main">
            <a:pPr algn="l">
              <a:defRPr sz="1275" b="0">
                <a:solidFill>
                  <a:srgbClr val="132238"/>
                </a:solidFill>
              </a:defRPr>
            </a:pPr>
            <a:r>
              <a:rPr sz="1275" b="0">
                <a:solidFill>
                  <a:srgbClr val="132238"/>
                </a:solidFill>
              </a:rPr>
              <a:t>Controller → Service → Repository로 책임 분리</a:t>
            </a:r>
          </a:p>
        </p:txBody>
      </p:sp>
      <p:sp>
        <p:nvSpPr>
          <p:cNvPr id="18" name="">
            <a:extLst xmlns:a="http://schemas.openxmlformats.org/drawingml/2006/main">
              <a:ext uri="{FF2B5EF4-FFF2-40B4-BE49-F238E27FC236}">
                <a16:creationId xmlns:a16="http://schemas.microsoft.com/office/drawing/2014/main" id="{C7E46489-3421-4AD5-A90A-795E1D934676}"/>
              </a:ext>
            </a:extLst>
          </p:cNvPr>
          <p:cNvSpPr>
            <a:spLocks xmlns:a="http://schemas.openxmlformats.org/drawingml/2006/main" noGrp="1"/>
          </p:cNvSpPr>
          <p:nvPr/>
        </p:nvSpPr>
        <p:spPr>
          <a:xfrm xmlns:a="http://schemas.openxmlformats.org/drawingml/2006/main">
            <a:off x="609600" y="33909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9" name="">
            <a:extLst xmlns:a="http://schemas.openxmlformats.org/drawingml/2006/main">
              <a:ext uri="{FF2B5EF4-FFF2-40B4-BE49-F238E27FC236}">
                <a16:creationId xmlns:a16="http://schemas.microsoft.com/office/drawing/2014/main" id="{12F164D4-45AF-4068-BE1E-276FF74468F3}"/>
              </a:ext>
            </a:extLst>
          </p:cNvPr>
          <p:cNvSpPr>
            <a:spLocks xmlns:a="http://schemas.openxmlformats.org/drawingml/2006/main" noGrp="1"/>
          </p:cNvSpPr>
          <p:nvPr/>
        </p:nvSpPr>
        <p:spPr>
          <a:xfrm xmlns:a="http://schemas.openxmlformats.org/drawingml/2006/main">
            <a:off x="742950" y="35623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사용자 경험</a:t>
            </a:r>
          </a:p>
        </p:txBody>
      </p:sp>
      <p:sp>
        <p:nvSpPr>
          <p:cNvPr id="20" name="">
            <a:extLst xmlns:a="http://schemas.openxmlformats.org/drawingml/2006/main">
              <a:ext uri="{FF2B5EF4-FFF2-40B4-BE49-F238E27FC236}">
                <a16:creationId xmlns:a16="http://schemas.microsoft.com/office/drawing/2014/main" id="{62C7048E-1C17-4073-908F-EA8696244007}"/>
              </a:ext>
            </a:extLst>
          </p:cNvPr>
          <p:cNvSpPr>
            <a:spLocks xmlns:a="http://schemas.openxmlformats.org/drawingml/2006/main" noGrp="1"/>
          </p:cNvSpPr>
          <p:nvPr/>
        </p:nvSpPr>
        <p:spPr>
          <a:xfrm xmlns:a="http://schemas.openxmlformats.org/drawingml/2006/main">
            <a:off x="2238375" y="33909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1" name="">
            <a:extLst xmlns:a="http://schemas.openxmlformats.org/drawingml/2006/main">
              <a:ext uri="{FF2B5EF4-FFF2-40B4-BE49-F238E27FC236}">
                <a16:creationId xmlns:a16="http://schemas.microsoft.com/office/drawing/2014/main" id="{FE551B41-E3F3-420B-9DEA-83320AA3D19A}"/>
              </a:ext>
            </a:extLst>
          </p:cNvPr>
          <p:cNvSpPr>
            <a:spLocks xmlns:a="http://schemas.openxmlformats.org/drawingml/2006/main" noGrp="1"/>
          </p:cNvSpPr>
          <p:nvPr/>
        </p:nvSpPr>
        <p:spPr>
          <a:xfrm xmlns:a="http://schemas.openxmlformats.org/drawingml/2006/main">
            <a:off x="2371725" y="35623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매칭 여부를 확인하려면 사용자가</a:t>
            </a:r>
          </a:p>
          <a:p xmlns:a="http://schemas.openxmlformats.org/drawingml/2006/main">
            <a:pPr algn="l">
              <a:defRPr sz="1275" b="0">
                <a:solidFill>
                  <a:srgbClr val="101114"/>
                </a:solidFill>
              </a:defRPr>
            </a:pPr>
            <a:r>
              <a:rPr sz="1275" b="0">
                <a:solidFill>
                  <a:srgbClr val="101114"/>
                </a:solidFill>
              </a:rPr>
              <a:t>전체 화면을 다시 요청해야 할 가능성</a:t>
            </a:r>
          </a:p>
        </p:txBody>
      </p:sp>
      <p:sp>
        <p:nvSpPr>
          <p:cNvPr id="22" name="">
            <a:extLst xmlns:a="http://schemas.openxmlformats.org/drawingml/2006/main">
              <a:ext uri="{FF2B5EF4-FFF2-40B4-BE49-F238E27FC236}">
                <a16:creationId xmlns:a16="http://schemas.microsoft.com/office/drawing/2014/main" id="{260B164C-2DE8-479A-89E7-F8AA76A8101A}"/>
              </a:ext>
            </a:extLst>
          </p:cNvPr>
          <p:cNvSpPr>
            <a:spLocks xmlns:a="http://schemas.openxmlformats.org/drawingml/2006/main" noGrp="1"/>
          </p:cNvSpPr>
          <p:nvPr/>
        </p:nvSpPr>
        <p:spPr>
          <a:xfrm xmlns:a="http://schemas.openxmlformats.org/drawingml/2006/main">
            <a:off x="6762750" y="33909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3" name="">
            <a:extLst xmlns:a="http://schemas.openxmlformats.org/drawingml/2006/main">
              <a:ext uri="{FF2B5EF4-FFF2-40B4-BE49-F238E27FC236}">
                <a16:creationId xmlns:a16="http://schemas.microsoft.com/office/drawing/2014/main" id="{CCDBE93E-FA18-4810-8FC3-DB8D9773E5B4}"/>
              </a:ext>
            </a:extLst>
          </p:cNvPr>
          <p:cNvSpPr>
            <a:spLocks xmlns:a="http://schemas.openxmlformats.org/drawingml/2006/main" noGrp="1"/>
          </p:cNvSpPr>
          <p:nvPr/>
        </p:nvSpPr>
        <p:spPr>
          <a:xfrm xmlns:a="http://schemas.openxmlformats.org/drawingml/2006/main">
            <a:off x="6896100" y="35623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fetch가 GET API를 5초마다 호출</a:t>
            </a:r>
          </a:p>
          <a:p xmlns:a="http://schemas.openxmlformats.org/drawingml/2006/main">
            <a:pPr algn="l">
              <a:defRPr sz="1275" b="0">
                <a:solidFill>
                  <a:srgbClr val="132238"/>
                </a:solidFill>
              </a:defRPr>
            </a:pPr>
            <a:r>
              <a:rPr sz="1275" b="0">
                <a:solidFill>
                  <a:srgbClr val="132238"/>
                </a:solidFill>
              </a:rPr>
              <a:t>MATCHED 응답 시 완료 화면으로 자동 이동</a:t>
            </a:r>
          </a:p>
        </p:txBody>
      </p:sp>
      <p:sp>
        <p:nvSpPr>
          <p:cNvPr id="24" name="">
            <a:extLst xmlns:a="http://schemas.openxmlformats.org/drawingml/2006/main">
              <a:ext uri="{FF2B5EF4-FFF2-40B4-BE49-F238E27FC236}">
                <a16:creationId xmlns:a16="http://schemas.microsoft.com/office/drawing/2014/main" id="{049D6D90-A256-4DAC-A3B5-3F452D9141E7}"/>
              </a:ext>
            </a:extLst>
          </p:cNvPr>
          <p:cNvSpPr>
            <a:spLocks xmlns:a="http://schemas.openxmlformats.org/drawingml/2006/main" noGrp="1"/>
          </p:cNvSpPr>
          <p:nvPr/>
        </p:nvSpPr>
        <p:spPr>
          <a:xfrm xmlns:a="http://schemas.openxmlformats.org/drawingml/2006/main">
            <a:off x="609600" y="4457700"/>
            <a:ext cx="15716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5" name="">
            <a:extLst xmlns:a="http://schemas.openxmlformats.org/drawingml/2006/main">
              <a:ext uri="{FF2B5EF4-FFF2-40B4-BE49-F238E27FC236}">
                <a16:creationId xmlns:a16="http://schemas.microsoft.com/office/drawing/2014/main" id="{7D061C3F-5BCB-47C7-B263-11CE8C6C975D}"/>
              </a:ext>
            </a:extLst>
          </p:cNvPr>
          <p:cNvSpPr>
            <a:spLocks xmlns:a="http://schemas.openxmlformats.org/drawingml/2006/main" noGrp="1"/>
          </p:cNvSpPr>
          <p:nvPr/>
        </p:nvSpPr>
        <p:spPr>
          <a:xfrm xmlns:a="http://schemas.openxmlformats.org/drawingml/2006/main">
            <a:off x="742950" y="4629150"/>
            <a:ext cx="13049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101114"/>
                </a:solidFill>
              </a:defRPr>
            </a:pPr>
            <a:r>
              <a:rPr sz="1350" b="1">
                <a:solidFill>
                  <a:srgbClr val="101114"/>
                </a:solidFill>
              </a:rPr>
              <a:t>리스크·품질</a:t>
            </a:r>
          </a:p>
        </p:txBody>
      </p:sp>
      <p:sp>
        <p:nvSpPr>
          <p:cNvPr id="26" name="">
            <a:extLst xmlns:a="http://schemas.openxmlformats.org/drawingml/2006/main">
              <a:ext uri="{FF2B5EF4-FFF2-40B4-BE49-F238E27FC236}">
                <a16:creationId xmlns:a16="http://schemas.microsoft.com/office/drawing/2014/main" id="{ADB50FAD-7B9E-4757-9046-0E57DEE00AE0}"/>
              </a:ext>
            </a:extLst>
          </p:cNvPr>
          <p:cNvSpPr>
            <a:spLocks xmlns:a="http://schemas.openxmlformats.org/drawingml/2006/main" noGrp="1"/>
          </p:cNvSpPr>
          <p:nvPr/>
        </p:nvSpPr>
        <p:spPr>
          <a:xfrm xmlns:a="http://schemas.openxmlformats.org/drawingml/2006/main">
            <a:off x="2238375" y="4457700"/>
            <a:ext cx="4429125"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7" name="">
            <a:extLst xmlns:a="http://schemas.openxmlformats.org/drawingml/2006/main">
              <a:ext uri="{FF2B5EF4-FFF2-40B4-BE49-F238E27FC236}">
                <a16:creationId xmlns:a16="http://schemas.microsoft.com/office/drawing/2014/main" id="{1A5DF1D1-7D94-476C-AB01-7D18D1BF9AFA}"/>
              </a:ext>
            </a:extLst>
          </p:cNvPr>
          <p:cNvSpPr>
            <a:spLocks xmlns:a="http://schemas.openxmlformats.org/drawingml/2006/main" noGrp="1"/>
          </p:cNvSpPr>
          <p:nvPr/>
        </p:nvSpPr>
        <p:spPr>
          <a:xfrm xmlns:a="http://schemas.openxmlformats.org/drawingml/2006/main">
            <a:off x="2371725" y="4629150"/>
            <a:ext cx="41624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01114"/>
                </a:solidFill>
              </a:defRPr>
            </a:pPr>
            <a:r>
              <a:rPr sz="1275" b="0">
                <a:solidFill>
                  <a:srgbClr val="101114"/>
                </a:solidFill>
              </a:rPr>
              <a:t>Entity 직접 노출과 Controller별</a:t>
            </a:r>
          </a:p>
          <a:p xmlns:a="http://schemas.openxmlformats.org/drawingml/2006/main">
            <a:pPr algn="l">
              <a:defRPr sz="1275" b="0">
                <a:solidFill>
                  <a:srgbClr val="101114"/>
                </a:solidFill>
              </a:defRPr>
            </a:pPr>
            <a:r>
              <a:rPr sz="1275" b="0">
                <a:solidFill>
                  <a:srgbClr val="101114"/>
                </a:solidFill>
              </a:rPr>
              <a:t>예외 응답 불일치 위험</a:t>
            </a:r>
          </a:p>
        </p:txBody>
      </p:sp>
      <p:sp>
        <p:nvSpPr>
          <p:cNvPr id="28" name="">
            <a:extLst xmlns:a="http://schemas.openxmlformats.org/drawingml/2006/main">
              <a:ext uri="{FF2B5EF4-FFF2-40B4-BE49-F238E27FC236}">
                <a16:creationId xmlns:a16="http://schemas.microsoft.com/office/drawing/2014/main" id="{F58E103C-5E3E-4D42-877A-5A5B23410F0B}"/>
              </a:ext>
            </a:extLst>
          </p:cNvPr>
          <p:cNvSpPr>
            <a:spLocks xmlns:a="http://schemas.openxmlformats.org/drawingml/2006/main" noGrp="1"/>
          </p:cNvSpPr>
          <p:nvPr/>
        </p:nvSpPr>
        <p:spPr>
          <a:xfrm xmlns:a="http://schemas.openxmlformats.org/drawingml/2006/main">
            <a:off x="6762750" y="4457700"/>
            <a:ext cx="4819650" cy="106680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9" name="">
            <a:extLst xmlns:a="http://schemas.openxmlformats.org/drawingml/2006/main">
              <a:ext uri="{FF2B5EF4-FFF2-40B4-BE49-F238E27FC236}">
                <a16:creationId xmlns:a16="http://schemas.microsoft.com/office/drawing/2014/main" id="{931E5995-C40D-4866-BB2A-F802AF8A4715}"/>
              </a:ext>
            </a:extLst>
          </p:cNvPr>
          <p:cNvSpPr>
            <a:spLocks xmlns:a="http://schemas.openxmlformats.org/drawingml/2006/main" noGrp="1"/>
          </p:cNvSpPr>
          <p:nvPr/>
        </p:nvSpPr>
        <p:spPr>
          <a:xfrm xmlns:a="http://schemas.openxmlformats.org/drawingml/2006/main">
            <a:off x="6896100" y="4629150"/>
            <a:ext cx="4552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132238"/>
                </a:solidFill>
              </a:defRPr>
            </a:pPr>
            <a:r>
              <a:rPr sz="1275" b="0">
                <a:solidFill>
                  <a:srgbClr val="132238"/>
                </a:solidFill>
              </a:rPr>
              <a:t>응답 DTO와 GlobalExceptionHandler 적용</a:t>
            </a:r>
          </a:p>
          <a:p xmlns:a="http://schemas.openxmlformats.org/drawingml/2006/main">
            <a:pPr algn="l">
              <a:defRPr sz="1275" b="0">
                <a:solidFill>
                  <a:srgbClr val="132238"/>
                </a:solidFill>
              </a:defRPr>
            </a:pPr>
            <a:r>
              <a:rPr sz="1275" b="0">
                <a:solidFill>
                  <a:srgbClr val="132238"/>
                </a:solidFill>
              </a:rPr>
              <a:t>401·403·404·409를 의미에 맞게 반환</a:t>
            </a:r>
          </a:p>
        </p:txBody>
      </p:sp>
      <p:sp>
        <p:nvSpPr>
          <p:cNvPr id="30" name="">
            <a:extLst xmlns:a="http://schemas.openxmlformats.org/drawingml/2006/main">
              <a:ext uri="{FF2B5EF4-FFF2-40B4-BE49-F238E27FC236}">
                <a16:creationId xmlns:a16="http://schemas.microsoft.com/office/drawing/2014/main" id="{5C04A2F2-D7DE-46ED-AA85-1DDFBA9968A5}"/>
              </a:ext>
            </a:extLst>
          </p:cNvPr>
          <p:cNvSpPr>
            <a:spLocks xmlns:a="http://schemas.openxmlformats.org/drawingml/2006/main" noGrp="1"/>
          </p:cNvSpPr>
          <p:nvPr/>
        </p:nvSpPr>
        <p:spPr>
          <a:xfrm xmlns:a="http://schemas.openxmlformats.org/drawingml/2006/main">
            <a:off x="609600" y="5695950"/>
            <a:ext cx="10972800" cy="552450"/>
          </a:xfrm>
          <a:prstGeom xmlns:a="http://schemas.openxmlformats.org/drawingml/2006/main" prst="rect">
            <a:avLst/>
          </a:prstGeom>
          <a:solidFill xmlns:a="http://schemas.openxmlformats.org/drawingml/2006/main">
            <a:srgbClr val="132238"/>
          </a:solidFill>
          <a:ln xmlns:a="http://schemas.openxmlformats.org/drawingml/2006/main" w="9525">
            <a:solidFill>
              <a:srgbClr val="132238"/>
            </a:solidFill>
            <a:prstDash val="solid"/>
          </a:ln>
        </p:spPr>
      </p:sp>
      <p:sp>
        <p:nvSpPr>
          <p:cNvPr id="31" name="">
            <a:extLst xmlns:a="http://schemas.openxmlformats.org/drawingml/2006/main">
              <a:ext uri="{FF2B5EF4-FFF2-40B4-BE49-F238E27FC236}">
                <a16:creationId xmlns:a16="http://schemas.microsoft.com/office/drawing/2014/main" id="{EE271CCD-DF10-469E-9AFC-C179F83B7DF3}"/>
              </a:ext>
            </a:extLst>
          </p:cNvPr>
          <p:cNvSpPr>
            <a:spLocks xmlns:a="http://schemas.openxmlformats.org/drawingml/2006/main" noGrp="1"/>
          </p:cNvSpPr>
          <p:nvPr/>
        </p:nvSpPr>
        <p:spPr>
          <a:xfrm xmlns:a="http://schemas.openxmlformats.org/drawingml/2006/main">
            <a:off x="838200" y="5867400"/>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FFFFFF"/>
                </a:solidFill>
              </a:defRPr>
            </a:pPr>
            <a:r>
              <a:rPr sz="1500" b="1">
                <a:solidFill>
                  <a:srgbClr val="FFFFFF"/>
                </a:solidFill>
              </a:rPr>
              <a:t>핵심 가치  |  화면 새로고침 없이 최신 상태를 제공하면서 계층 책임과 API 계약을 명확하게 유지</a:t>
            </a:r>
          </a:p>
        </p:txBody>
      </p:sp>
      <p:sp>
        <p:nvSpPr>
          <p:cNvPr id="32" name="">
            <a:extLst xmlns:a="http://schemas.openxmlformats.org/drawingml/2006/main">
              <a:ext uri="{FF2B5EF4-FFF2-40B4-BE49-F238E27FC236}">
                <a16:creationId xmlns:a16="http://schemas.microsoft.com/office/drawing/2014/main" id="{4B31CB06-9161-48D6-A5B2-1881744F53F1}"/>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140519485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1703C307-47FB-484C-95D9-C80462074A63}"/>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8FA8785F-817A-4A52-96A7-BC85D2C7C7DB}"/>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배송 요청을 자원과 HTTP 메서드로 표현했다</a:t>
            </a:r>
          </a:p>
        </p:txBody>
      </p:sp>
      <p:sp>
        <p:nvSpPr>
          <p:cNvPr id="3" name="">
            <a:extLst xmlns:a="http://schemas.openxmlformats.org/drawingml/2006/main">
              <a:ext uri="{FF2B5EF4-FFF2-40B4-BE49-F238E27FC236}">
                <a16:creationId xmlns:a16="http://schemas.microsoft.com/office/drawing/2014/main" id="{74980006-2F63-427E-9F91-28185FA4B3DA}"/>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03</a:t>
            </a:r>
          </a:p>
        </p:txBody>
      </p:sp>
      <p:sp>
        <p:nvSpPr>
          <p:cNvPr id="4" name="">
            <a:extLst xmlns:a="http://schemas.openxmlformats.org/drawingml/2006/main">
              <a:ext uri="{FF2B5EF4-FFF2-40B4-BE49-F238E27FC236}">
                <a16:creationId xmlns:a16="http://schemas.microsoft.com/office/drawing/2014/main" id="{794D01DC-3929-4681-9E74-102E1F232057}"/>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2A2B494-9E4C-4168-96A5-499B56C8098E}"/>
              </a:ext>
            </a:extLst>
          </p:cNvPr>
          <p:cNvSpPr>
            <a:spLocks xmlns:a="http://schemas.openxmlformats.org/drawingml/2006/main" noGrp="1"/>
          </p:cNvSpPr>
          <p:nvPr/>
        </p:nvSpPr>
        <p:spPr>
          <a:xfrm xmlns:a="http://schemas.openxmlformats.org/drawingml/2006/main">
            <a:off x="647700" y="1504950"/>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defRPr>
            </a:pPr>
            <a:r>
              <a:rPr sz="1050" b="1">
                <a:solidFill>
                  <a:srgbClr val="3D8DFF"/>
                </a:solidFill>
              </a:rPr>
              <a:t>RESOURCE</a:t>
            </a:r>
          </a:p>
        </p:txBody>
      </p:sp>
      <p:sp>
        <p:nvSpPr>
          <p:cNvPr id="6" name="">
            <a:extLst xmlns:a="http://schemas.openxmlformats.org/drawingml/2006/main">
              <a:ext uri="{FF2B5EF4-FFF2-40B4-BE49-F238E27FC236}">
                <a16:creationId xmlns:a16="http://schemas.microsoft.com/office/drawing/2014/main" id="{F298FA87-4F68-4543-B15D-0EE6FD7B08A7}"/>
              </a:ext>
            </a:extLst>
          </p:cNvPr>
          <p:cNvSpPr>
            <a:spLocks xmlns:a="http://schemas.openxmlformats.org/drawingml/2006/main" noGrp="1"/>
          </p:cNvSpPr>
          <p:nvPr/>
        </p:nvSpPr>
        <p:spPr>
          <a:xfrm xmlns:a="http://schemas.openxmlformats.org/drawingml/2006/main">
            <a:off x="647700" y="1809750"/>
            <a:ext cx="571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025" b="1">
                <a:solidFill>
                  <a:srgbClr val="101114"/>
                </a:solidFill>
              </a:defRPr>
            </a:pPr>
            <a:r>
              <a:rPr sz="2025" b="1">
                <a:solidFill>
                  <a:srgbClr val="101114"/>
                </a:solidFill>
              </a:rPr>
              <a:t>/api/v1/delivery-requests/{id}</a:t>
            </a:r>
          </a:p>
        </p:txBody>
      </p:sp>
      <p:sp>
        <p:nvSpPr>
          <p:cNvPr id="7" name="">
            <a:extLst xmlns:a="http://schemas.openxmlformats.org/drawingml/2006/main">
              <a:ext uri="{FF2B5EF4-FFF2-40B4-BE49-F238E27FC236}">
                <a16:creationId xmlns:a16="http://schemas.microsoft.com/office/drawing/2014/main" id="{88DFE51A-E872-4A75-9D2D-BEFA4263C606}"/>
              </a:ext>
            </a:extLst>
          </p:cNvPr>
          <p:cNvSpPr>
            <a:spLocks xmlns:a="http://schemas.openxmlformats.org/drawingml/2006/main" noGrp="1"/>
          </p:cNvSpPr>
          <p:nvPr/>
        </p:nvSpPr>
        <p:spPr>
          <a:xfrm xmlns:a="http://schemas.openxmlformats.org/drawingml/2006/main">
            <a:off x="647700" y="2257425"/>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616771"/>
                </a:solidFill>
              </a:defRPr>
            </a:pPr>
            <a:r>
              <a:rPr sz="1275" b="0">
                <a:solidFill>
                  <a:srgbClr val="616771"/>
                </a:solidFill>
              </a:rPr>
              <a:t>명사형 자원 · v1 버전 · Path Variable로 식별</a:t>
            </a:r>
          </a:p>
        </p:txBody>
      </p:sp>
      <p:sp>
        <p:nvSpPr>
          <p:cNvPr id="8" name="">
            <a:extLst xmlns:a="http://schemas.openxmlformats.org/drawingml/2006/main">
              <a:ext uri="{FF2B5EF4-FFF2-40B4-BE49-F238E27FC236}">
                <a16:creationId xmlns:a16="http://schemas.microsoft.com/office/drawing/2014/main" id="{CDA94298-8286-48DC-84E6-B9B6E06D5CEA}"/>
              </a:ext>
            </a:extLst>
          </p:cNvPr>
          <p:cNvSpPr>
            <a:spLocks xmlns:a="http://schemas.openxmlformats.org/drawingml/2006/main" noGrp="1"/>
          </p:cNvSpPr>
          <p:nvPr/>
        </p:nvSpPr>
        <p:spPr>
          <a:xfrm xmlns:a="http://schemas.openxmlformats.org/drawingml/2006/main">
            <a:off x="647700" y="2857500"/>
            <a:ext cx="123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16771"/>
                </a:solidFill>
              </a:defRPr>
            </a:pPr>
            <a:r>
              <a:rPr sz="975" b="1">
                <a:solidFill>
                  <a:srgbClr val="616771"/>
                </a:solidFill>
              </a:rPr>
              <a:t>METHOD</a:t>
            </a:r>
          </a:p>
        </p:txBody>
      </p:sp>
      <p:sp>
        <p:nvSpPr>
          <p:cNvPr id="9" name="">
            <a:extLst xmlns:a="http://schemas.openxmlformats.org/drawingml/2006/main">
              <a:ext uri="{FF2B5EF4-FFF2-40B4-BE49-F238E27FC236}">
                <a16:creationId xmlns:a16="http://schemas.microsoft.com/office/drawing/2014/main" id="{02A9FE72-95F0-4177-A725-4FF23B9BA448}"/>
              </a:ext>
            </a:extLst>
          </p:cNvPr>
          <p:cNvSpPr>
            <a:spLocks xmlns:a="http://schemas.openxmlformats.org/drawingml/2006/main" noGrp="1"/>
          </p:cNvSpPr>
          <p:nvPr/>
        </p:nvSpPr>
        <p:spPr>
          <a:xfrm xmlns:a="http://schemas.openxmlformats.org/drawingml/2006/main">
            <a:off x="2190750" y="2857500"/>
            <a:ext cx="3524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16771"/>
                </a:solidFill>
              </a:defRPr>
            </a:pPr>
            <a:r>
              <a:rPr sz="975" b="1">
                <a:solidFill>
                  <a:srgbClr val="616771"/>
                </a:solidFill>
              </a:rPr>
              <a:t>PATH</a:t>
            </a:r>
          </a:p>
        </p:txBody>
      </p:sp>
      <p:sp>
        <p:nvSpPr>
          <p:cNvPr id="10" name="">
            <a:extLst xmlns:a="http://schemas.openxmlformats.org/drawingml/2006/main">
              <a:ext uri="{FF2B5EF4-FFF2-40B4-BE49-F238E27FC236}">
                <a16:creationId xmlns:a16="http://schemas.microsoft.com/office/drawing/2014/main" id="{9340CA3A-E813-4C23-A790-63305645E099}"/>
              </a:ext>
            </a:extLst>
          </p:cNvPr>
          <p:cNvSpPr>
            <a:spLocks xmlns:a="http://schemas.openxmlformats.org/drawingml/2006/main" noGrp="1"/>
          </p:cNvSpPr>
          <p:nvPr/>
        </p:nvSpPr>
        <p:spPr>
          <a:xfrm xmlns:a="http://schemas.openxmlformats.org/drawingml/2006/main">
            <a:off x="6000750" y="2857500"/>
            <a:ext cx="314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16771"/>
                </a:solidFill>
              </a:defRPr>
            </a:pPr>
            <a:r>
              <a:rPr sz="975" b="1">
                <a:solidFill>
                  <a:srgbClr val="616771"/>
                </a:solidFill>
              </a:rPr>
              <a:t>PROJECT ACTION</a:t>
            </a:r>
          </a:p>
        </p:txBody>
      </p:sp>
      <p:sp>
        <p:nvSpPr>
          <p:cNvPr id="11" name="">
            <a:extLst xmlns:a="http://schemas.openxmlformats.org/drawingml/2006/main">
              <a:ext uri="{FF2B5EF4-FFF2-40B4-BE49-F238E27FC236}">
                <a16:creationId xmlns:a16="http://schemas.microsoft.com/office/drawing/2014/main" id="{C3EF8A3F-E856-4691-8F9B-B157997EFB72}"/>
              </a:ext>
            </a:extLst>
          </p:cNvPr>
          <p:cNvSpPr>
            <a:spLocks xmlns:a="http://schemas.openxmlformats.org/drawingml/2006/main" noGrp="1"/>
          </p:cNvSpPr>
          <p:nvPr/>
        </p:nvSpPr>
        <p:spPr>
          <a:xfrm xmlns:a="http://schemas.openxmlformats.org/drawingml/2006/main">
            <a:off x="9620250" y="285750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616771"/>
                </a:solidFill>
              </a:defRPr>
            </a:pPr>
            <a:r>
              <a:rPr sz="975" b="1">
                <a:solidFill>
                  <a:srgbClr val="616771"/>
                </a:solidFill>
              </a:rPr>
              <a:t>SUCCESS</a:t>
            </a:r>
          </a:p>
        </p:txBody>
      </p:sp>
      <p:sp>
        <p:nvSpPr>
          <p:cNvPr id="12" name="">
            <a:extLst xmlns:a="http://schemas.openxmlformats.org/drawingml/2006/main">
              <a:ext uri="{FF2B5EF4-FFF2-40B4-BE49-F238E27FC236}">
                <a16:creationId xmlns:a16="http://schemas.microsoft.com/office/drawing/2014/main" id="{5A91CD3A-8731-478A-BAE4-F8E720D2AFB7}"/>
              </a:ext>
            </a:extLst>
          </p:cNvPr>
          <p:cNvSpPr>
            <a:spLocks xmlns:a="http://schemas.openxmlformats.org/drawingml/2006/main" noGrp="1"/>
          </p:cNvSpPr>
          <p:nvPr/>
        </p:nvSpPr>
        <p:spPr>
          <a:xfrm xmlns:a="http://schemas.openxmlformats.org/drawingml/2006/main">
            <a:off x="609600" y="3143250"/>
            <a:ext cx="10972800" cy="44767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0F9DC4F-5836-4733-9917-7CA56D2877C8}"/>
              </a:ext>
            </a:extLst>
          </p:cNvPr>
          <p:cNvSpPr>
            <a:spLocks xmlns:a="http://schemas.openxmlformats.org/drawingml/2006/main" noGrp="1"/>
          </p:cNvSpPr>
          <p:nvPr/>
        </p:nvSpPr>
        <p:spPr>
          <a:xfrm xmlns:a="http://schemas.openxmlformats.org/drawingml/2006/main">
            <a:off x="762000" y="32670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GET</a:t>
            </a:r>
          </a:p>
        </p:txBody>
      </p:sp>
      <p:sp>
        <p:nvSpPr>
          <p:cNvPr id="14" name="">
            <a:extLst xmlns:a="http://schemas.openxmlformats.org/drawingml/2006/main">
              <a:ext uri="{FF2B5EF4-FFF2-40B4-BE49-F238E27FC236}">
                <a16:creationId xmlns:a16="http://schemas.microsoft.com/office/drawing/2014/main" id="{C1C566D9-7B60-4EC3-89B2-65B330AB31ED}"/>
              </a:ext>
            </a:extLst>
          </p:cNvPr>
          <p:cNvSpPr>
            <a:spLocks xmlns:a="http://schemas.openxmlformats.org/drawingml/2006/main" noGrp="1"/>
          </p:cNvSpPr>
          <p:nvPr/>
        </p:nvSpPr>
        <p:spPr>
          <a:xfrm xmlns:a="http://schemas.openxmlformats.org/drawingml/2006/main">
            <a:off x="2190750" y="326707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/{id}</a:t>
            </a:r>
          </a:p>
        </p:txBody>
      </p:sp>
      <p:sp>
        <p:nvSpPr>
          <p:cNvPr id="15" name="">
            <a:extLst xmlns:a="http://schemas.openxmlformats.org/drawingml/2006/main">
              <a:ext uri="{FF2B5EF4-FFF2-40B4-BE49-F238E27FC236}">
                <a16:creationId xmlns:a16="http://schemas.microsoft.com/office/drawing/2014/main" id="{A805B81B-FB46-4829-A283-0851F3698EDA}"/>
              </a:ext>
            </a:extLst>
          </p:cNvPr>
          <p:cNvSpPr>
            <a:spLocks xmlns:a="http://schemas.openxmlformats.org/drawingml/2006/main" noGrp="1"/>
          </p:cNvSpPr>
          <p:nvPr/>
        </p:nvSpPr>
        <p:spPr>
          <a:xfrm xmlns:a="http://schemas.openxmlformats.org/drawingml/2006/main">
            <a:off x="6000750" y="32670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배송 상세 조회</a:t>
            </a:r>
          </a:p>
        </p:txBody>
      </p:sp>
      <p:sp>
        <p:nvSpPr>
          <p:cNvPr id="16" name="">
            <a:extLst xmlns:a="http://schemas.openxmlformats.org/drawingml/2006/main">
              <a:ext uri="{FF2B5EF4-FFF2-40B4-BE49-F238E27FC236}">
                <a16:creationId xmlns:a16="http://schemas.microsoft.com/office/drawing/2014/main" id="{8CBE8DB9-5621-468A-ACD3-8DA07151A4BB}"/>
              </a:ext>
            </a:extLst>
          </p:cNvPr>
          <p:cNvSpPr>
            <a:spLocks xmlns:a="http://schemas.openxmlformats.org/drawingml/2006/main" noGrp="1"/>
          </p:cNvSpPr>
          <p:nvPr/>
        </p:nvSpPr>
        <p:spPr>
          <a:xfrm xmlns:a="http://schemas.openxmlformats.org/drawingml/2006/main">
            <a:off x="9620250" y="32670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114"/>
                </a:solidFill>
              </a:defRPr>
            </a:pPr>
            <a:r>
              <a:rPr sz="1125" b="1">
                <a:solidFill>
                  <a:srgbClr val="101114"/>
                </a:solidFill>
              </a:rPr>
              <a:t>200 OK</a:t>
            </a:r>
          </a:p>
        </p:txBody>
      </p:sp>
      <p:sp>
        <p:nvSpPr>
          <p:cNvPr id="17" name="">
            <a:extLst xmlns:a="http://schemas.openxmlformats.org/drawingml/2006/main">
              <a:ext uri="{FF2B5EF4-FFF2-40B4-BE49-F238E27FC236}">
                <a16:creationId xmlns:a16="http://schemas.microsoft.com/office/drawing/2014/main" id="{42795889-437D-429A-9A2E-7B2C1207CE72}"/>
              </a:ext>
            </a:extLst>
          </p:cNvPr>
          <p:cNvSpPr>
            <a:spLocks xmlns:a="http://schemas.openxmlformats.org/drawingml/2006/main" noGrp="1"/>
          </p:cNvSpPr>
          <p:nvPr/>
        </p:nvSpPr>
        <p:spPr>
          <a:xfrm xmlns:a="http://schemas.openxmlformats.org/drawingml/2006/main">
            <a:off x="609600" y="3667125"/>
            <a:ext cx="10972800" cy="4476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8BFAB29-E6EC-4033-8F59-44C8BFE5D2AC}"/>
              </a:ext>
            </a:extLst>
          </p:cNvPr>
          <p:cNvSpPr>
            <a:spLocks xmlns:a="http://schemas.openxmlformats.org/drawingml/2006/main" noGrp="1"/>
          </p:cNvSpPr>
          <p:nvPr/>
        </p:nvSpPr>
        <p:spPr>
          <a:xfrm xmlns:a="http://schemas.openxmlformats.org/drawingml/2006/main">
            <a:off x="762000" y="37909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6845B"/>
                </a:solidFill>
              </a:defRPr>
            </a:pPr>
            <a:r>
              <a:rPr sz="1275" b="1">
                <a:solidFill>
                  <a:srgbClr val="16845B"/>
                </a:solidFill>
              </a:rPr>
              <a:t>POST</a:t>
            </a:r>
          </a:p>
        </p:txBody>
      </p:sp>
      <p:sp>
        <p:nvSpPr>
          <p:cNvPr id="19" name="">
            <a:extLst xmlns:a="http://schemas.openxmlformats.org/drawingml/2006/main">
              <a:ext uri="{FF2B5EF4-FFF2-40B4-BE49-F238E27FC236}">
                <a16:creationId xmlns:a16="http://schemas.microsoft.com/office/drawing/2014/main" id="{C9690376-074C-4488-B815-BEE46F9DF3C6}"/>
              </a:ext>
            </a:extLst>
          </p:cNvPr>
          <p:cNvSpPr>
            <a:spLocks xmlns:a="http://schemas.openxmlformats.org/drawingml/2006/main" noGrp="1"/>
          </p:cNvSpPr>
          <p:nvPr/>
        </p:nvSpPr>
        <p:spPr>
          <a:xfrm xmlns:a="http://schemas.openxmlformats.org/drawingml/2006/main">
            <a:off x="2190750" y="379095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a:t>
            </a:r>
          </a:p>
        </p:txBody>
      </p:sp>
      <p:sp>
        <p:nvSpPr>
          <p:cNvPr id="20" name="">
            <a:extLst xmlns:a="http://schemas.openxmlformats.org/drawingml/2006/main">
              <a:ext uri="{FF2B5EF4-FFF2-40B4-BE49-F238E27FC236}">
                <a16:creationId xmlns:a16="http://schemas.microsoft.com/office/drawing/2014/main" id="{62264CA0-E69A-4999-8179-146CBE46AED0}"/>
              </a:ext>
            </a:extLst>
          </p:cNvPr>
          <p:cNvSpPr>
            <a:spLocks xmlns:a="http://schemas.openxmlformats.org/drawingml/2006/main" noGrp="1"/>
          </p:cNvSpPr>
          <p:nvPr/>
        </p:nvSpPr>
        <p:spPr>
          <a:xfrm xmlns:a="http://schemas.openxmlformats.org/drawingml/2006/main">
            <a:off x="6000750" y="37909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배송 요청 생성</a:t>
            </a:r>
          </a:p>
        </p:txBody>
      </p:sp>
      <p:sp>
        <p:nvSpPr>
          <p:cNvPr id="21" name="">
            <a:extLst xmlns:a="http://schemas.openxmlformats.org/drawingml/2006/main">
              <a:ext uri="{FF2B5EF4-FFF2-40B4-BE49-F238E27FC236}">
                <a16:creationId xmlns:a16="http://schemas.microsoft.com/office/drawing/2014/main" id="{9CA7E8CB-3787-4442-9EA2-A1F4D7AFAF4A}"/>
              </a:ext>
            </a:extLst>
          </p:cNvPr>
          <p:cNvSpPr>
            <a:spLocks xmlns:a="http://schemas.openxmlformats.org/drawingml/2006/main" noGrp="1"/>
          </p:cNvSpPr>
          <p:nvPr/>
        </p:nvSpPr>
        <p:spPr>
          <a:xfrm xmlns:a="http://schemas.openxmlformats.org/drawingml/2006/main">
            <a:off x="9620250" y="379095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114"/>
                </a:solidFill>
              </a:defRPr>
            </a:pPr>
            <a:r>
              <a:rPr sz="1125" b="1">
                <a:solidFill>
                  <a:srgbClr val="101114"/>
                </a:solidFill>
              </a:rPr>
              <a:t>201 Created</a:t>
            </a:r>
          </a:p>
        </p:txBody>
      </p:sp>
      <p:sp>
        <p:nvSpPr>
          <p:cNvPr id="22" name="">
            <a:extLst xmlns:a="http://schemas.openxmlformats.org/drawingml/2006/main">
              <a:ext uri="{FF2B5EF4-FFF2-40B4-BE49-F238E27FC236}">
                <a16:creationId xmlns:a16="http://schemas.microsoft.com/office/drawing/2014/main" id="{B0E1DEDF-C931-425B-81F6-DAE39CC68B7B}"/>
              </a:ext>
            </a:extLst>
          </p:cNvPr>
          <p:cNvSpPr>
            <a:spLocks xmlns:a="http://schemas.openxmlformats.org/drawingml/2006/main" noGrp="1"/>
          </p:cNvSpPr>
          <p:nvPr/>
        </p:nvSpPr>
        <p:spPr>
          <a:xfrm xmlns:a="http://schemas.openxmlformats.org/drawingml/2006/main">
            <a:off x="609600" y="4191000"/>
            <a:ext cx="10972800" cy="44767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6BE058D-FB16-4FA3-BBB1-DACB2C25C72B}"/>
              </a:ext>
            </a:extLst>
          </p:cNvPr>
          <p:cNvSpPr>
            <a:spLocks xmlns:a="http://schemas.openxmlformats.org/drawingml/2006/main" noGrp="1"/>
          </p:cNvSpPr>
          <p:nvPr/>
        </p:nvSpPr>
        <p:spPr>
          <a:xfrm xmlns:a="http://schemas.openxmlformats.org/drawingml/2006/main">
            <a:off x="762000" y="431482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46B16"/>
                </a:solidFill>
              </a:defRPr>
            </a:pPr>
            <a:r>
              <a:rPr sz="1275" b="1">
                <a:solidFill>
                  <a:srgbClr val="D46B16"/>
                </a:solidFill>
              </a:rPr>
              <a:t>PATCH</a:t>
            </a:r>
          </a:p>
        </p:txBody>
      </p:sp>
      <p:sp>
        <p:nvSpPr>
          <p:cNvPr id="24" name="">
            <a:extLst xmlns:a="http://schemas.openxmlformats.org/drawingml/2006/main">
              <a:ext uri="{FF2B5EF4-FFF2-40B4-BE49-F238E27FC236}">
                <a16:creationId xmlns:a16="http://schemas.microsoft.com/office/drawing/2014/main" id="{FAB8559C-8E4D-431D-84F8-37B3627337AA}"/>
              </a:ext>
            </a:extLst>
          </p:cNvPr>
          <p:cNvSpPr>
            <a:spLocks xmlns:a="http://schemas.openxmlformats.org/drawingml/2006/main" noGrp="1"/>
          </p:cNvSpPr>
          <p:nvPr/>
        </p:nvSpPr>
        <p:spPr>
          <a:xfrm xmlns:a="http://schemas.openxmlformats.org/drawingml/2006/main">
            <a:off x="2190750" y="431482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/{id}/pickup</a:t>
            </a:r>
          </a:p>
        </p:txBody>
      </p:sp>
      <p:sp>
        <p:nvSpPr>
          <p:cNvPr id="25" name="">
            <a:extLst xmlns:a="http://schemas.openxmlformats.org/drawingml/2006/main">
              <a:ext uri="{FF2B5EF4-FFF2-40B4-BE49-F238E27FC236}">
                <a16:creationId xmlns:a16="http://schemas.microsoft.com/office/drawing/2014/main" id="{185C0A74-8291-4A19-8202-F01DEAB802D9}"/>
              </a:ext>
            </a:extLst>
          </p:cNvPr>
          <p:cNvSpPr>
            <a:spLocks xmlns:a="http://schemas.openxmlformats.org/drawingml/2006/main" noGrp="1"/>
          </p:cNvSpPr>
          <p:nvPr/>
        </p:nvSpPr>
        <p:spPr>
          <a:xfrm xmlns:a="http://schemas.openxmlformats.org/drawingml/2006/main">
            <a:off x="6000750" y="43148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픽업 상태 변경</a:t>
            </a:r>
          </a:p>
        </p:txBody>
      </p:sp>
      <p:sp>
        <p:nvSpPr>
          <p:cNvPr id="26" name="">
            <a:extLst xmlns:a="http://schemas.openxmlformats.org/drawingml/2006/main">
              <a:ext uri="{FF2B5EF4-FFF2-40B4-BE49-F238E27FC236}">
                <a16:creationId xmlns:a16="http://schemas.microsoft.com/office/drawing/2014/main" id="{12C505E3-1A54-4A2C-ADA5-623FEE1AF4FF}"/>
              </a:ext>
            </a:extLst>
          </p:cNvPr>
          <p:cNvSpPr>
            <a:spLocks xmlns:a="http://schemas.openxmlformats.org/drawingml/2006/main" noGrp="1"/>
          </p:cNvSpPr>
          <p:nvPr/>
        </p:nvSpPr>
        <p:spPr>
          <a:xfrm xmlns:a="http://schemas.openxmlformats.org/drawingml/2006/main">
            <a:off x="9620250" y="431482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114"/>
                </a:solidFill>
              </a:defRPr>
            </a:pPr>
            <a:r>
              <a:rPr sz="1125" b="1">
                <a:solidFill>
                  <a:srgbClr val="101114"/>
                </a:solidFill>
              </a:rPr>
              <a:t>200 OK</a:t>
            </a:r>
          </a:p>
        </p:txBody>
      </p:sp>
      <p:sp>
        <p:nvSpPr>
          <p:cNvPr id="27" name="">
            <a:extLst xmlns:a="http://schemas.openxmlformats.org/drawingml/2006/main">
              <a:ext uri="{FF2B5EF4-FFF2-40B4-BE49-F238E27FC236}">
                <a16:creationId xmlns:a16="http://schemas.microsoft.com/office/drawing/2014/main" id="{2E293E52-3A39-4F38-A13E-5E4E36565368}"/>
              </a:ext>
            </a:extLst>
          </p:cNvPr>
          <p:cNvSpPr>
            <a:spLocks xmlns:a="http://schemas.openxmlformats.org/drawingml/2006/main" noGrp="1"/>
          </p:cNvSpPr>
          <p:nvPr/>
        </p:nvSpPr>
        <p:spPr>
          <a:xfrm xmlns:a="http://schemas.openxmlformats.org/drawingml/2006/main">
            <a:off x="609600" y="4714875"/>
            <a:ext cx="10972800" cy="4476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B501040-03EF-4620-93CD-1E2641DFDAC9}"/>
              </a:ext>
            </a:extLst>
          </p:cNvPr>
          <p:cNvSpPr>
            <a:spLocks xmlns:a="http://schemas.openxmlformats.org/drawingml/2006/main" noGrp="1"/>
          </p:cNvSpPr>
          <p:nvPr/>
        </p:nvSpPr>
        <p:spPr>
          <a:xfrm xmlns:a="http://schemas.openxmlformats.org/drawingml/2006/main">
            <a:off x="762000" y="48387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D46B16"/>
                </a:solidFill>
              </a:defRPr>
            </a:pPr>
            <a:r>
              <a:rPr sz="1275" b="1">
                <a:solidFill>
                  <a:srgbClr val="D46B16"/>
                </a:solidFill>
              </a:rPr>
              <a:t>PATCH</a:t>
            </a:r>
          </a:p>
        </p:txBody>
      </p:sp>
      <p:sp>
        <p:nvSpPr>
          <p:cNvPr id="29" name="">
            <a:extLst xmlns:a="http://schemas.openxmlformats.org/drawingml/2006/main">
              <a:ext uri="{FF2B5EF4-FFF2-40B4-BE49-F238E27FC236}">
                <a16:creationId xmlns:a16="http://schemas.microsoft.com/office/drawing/2014/main" id="{19EB30E8-8BB3-4771-8ED2-300B0B6354F9}"/>
              </a:ext>
            </a:extLst>
          </p:cNvPr>
          <p:cNvSpPr>
            <a:spLocks xmlns:a="http://schemas.openxmlformats.org/drawingml/2006/main" noGrp="1"/>
          </p:cNvSpPr>
          <p:nvPr/>
        </p:nvSpPr>
        <p:spPr>
          <a:xfrm xmlns:a="http://schemas.openxmlformats.org/drawingml/2006/main">
            <a:off x="2190750" y="4838700"/>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/{id}/complete</a:t>
            </a:r>
          </a:p>
        </p:txBody>
      </p:sp>
      <p:sp>
        <p:nvSpPr>
          <p:cNvPr id="30" name="">
            <a:extLst xmlns:a="http://schemas.openxmlformats.org/drawingml/2006/main">
              <a:ext uri="{FF2B5EF4-FFF2-40B4-BE49-F238E27FC236}">
                <a16:creationId xmlns:a16="http://schemas.microsoft.com/office/drawing/2014/main" id="{9E888B4B-B5C3-4EB7-8DE8-06483C5FEC6C}"/>
              </a:ext>
            </a:extLst>
          </p:cNvPr>
          <p:cNvSpPr>
            <a:spLocks xmlns:a="http://schemas.openxmlformats.org/drawingml/2006/main" noGrp="1"/>
          </p:cNvSpPr>
          <p:nvPr/>
        </p:nvSpPr>
        <p:spPr>
          <a:xfrm xmlns:a="http://schemas.openxmlformats.org/drawingml/2006/main">
            <a:off x="6000750" y="48387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배송 완료 처리</a:t>
            </a:r>
          </a:p>
        </p:txBody>
      </p:sp>
      <p:sp>
        <p:nvSpPr>
          <p:cNvPr id="31" name="">
            <a:extLst xmlns:a="http://schemas.openxmlformats.org/drawingml/2006/main">
              <a:ext uri="{FF2B5EF4-FFF2-40B4-BE49-F238E27FC236}">
                <a16:creationId xmlns:a16="http://schemas.microsoft.com/office/drawing/2014/main" id="{43E14695-ACFC-4B9A-A767-3C8305308E12}"/>
              </a:ext>
            </a:extLst>
          </p:cNvPr>
          <p:cNvSpPr>
            <a:spLocks xmlns:a="http://schemas.openxmlformats.org/drawingml/2006/main" noGrp="1"/>
          </p:cNvSpPr>
          <p:nvPr/>
        </p:nvSpPr>
        <p:spPr>
          <a:xfrm xmlns:a="http://schemas.openxmlformats.org/drawingml/2006/main">
            <a:off x="9620250" y="48387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114"/>
                </a:solidFill>
              </a:defRPr>
            </a:pPr>
            <a:r>
              <a:rPr sz="1125" b="1">
                <a:solidFill>
                  <a:srgbClr val="101114"/>
                </a:solidFill>
              </a:rPr>
              <a:t>200 OK</a:t>
            </a:r>
          </a:p>
        </p:txBody>
      </p:sp>
      <p:sp>
        <p:nvSpPr>
          <p:cNvPr id="32" name="">
            <a:extLst xmlns:a="http://schemas.openxmlformats.org/drawingml/2006/main">
              <a:ext uri="{FF2B5EF4-FFF2-40B4-BE49-F238E27FC236}">
                <a16:creationId xmlns:a16="http://schemas.microsoft.com/office/drawing/2014/main" id="{D54ED63F-3535-4213-B392-FA45ED9FF05D}"/>
              </a:ext>
            </a:extLst>
          </p:cNvPr>
          <p:cNvSpPr>
            <a:spLocks xmlns:a="http://schemas.openxmlformats.org/drawingml/2006/main" noGrp="1"/>
          </p:cNvSpPr>
          <p:nvPr/>
        </p:nvSpPr>
        <p:spPr>
          <a:xfrm xmlns:a="http://schemas.openxmlformats.org/drawingml/2006/main">
            <a:off x="609600" y="5238750"/>
            <a:ext cx="10972800" cy="44767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BE0DB3F-D078-48D3-9CAD-6A3CD1761BED}"/>
              </a:ext>
            </a:extLst>
          </p:cNvPr>
          <p:cNvSpPr>
            <a:spLocks xmlns:a="http://schemas.openxmlformats.org/drawingml/2006/main" noGrp="1"/>
          </p:cNvSpPr>
          <p:nvPr/>
        </p:nvSpPr>
        <p:spPr>
          <a:xfrm xmlns:a="http://schemas.openxmlformats.org/drawingml/2006/main">
            <a:off x="762000" y="5362575"/>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BE3B3B"/>
                </a:solidFill>
              </a:defRPr>
            </a:pPr>
            <a:r>
              <a:rPr sz="1275" b="1">
                <a:solidFill>
                  <a:srgbClr val="BE3B3B"/>
                </a:solidFill>
              </a:rPr>
              <a:t>DELETE</a:t>
            </a:r>
          </a:p>
        </p:txBody>
      </p:sp>
      <p:sp>
        <p:nvSpPr>
          <p:cNvPr id="34" name="">
            <a:extLst xmlns:a="http://schemas.openxmlformats.org/drawingml/2006/main">
              <a:ext uri="{FF2B5EF4-FFF2-40B4-BE49-F238E27FC236}">
                <a16:creationId xmlns:a16="http://schemas.microsoft.com/office/drawing/2014/main" id="{ADBB5E86-846C-4215-933C-D5710782A733}"/>
              </a:ext>
            </a:extLst>
          </p:cNvPr>
          <p:cNvSpPr>
            <a:spLocks xmlns:a="http://schemas.openxmlformats.org/drawingml/2006/main" noGrp="1"/>
          </p:cNvSpPr>
          <p:nvPr/>
        </p:nvSpPr>
        <p:spPr>
          <a:xfrm xmlns:a="http://schemas.openxmlformats.org/drawingml/2006/main">
            <a:off x="2190750" y="5362575"/>
            <a:ext cx="3524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/{id}</a:t>
            </a:r>
          </a:p>
        </p:txBody>
      </p:sp>
      <p:sp>
        <p:nvSpPr>
          <p:cNvPr id="35" name="">
            <a:extLst xmlns:a="http://schemas.openxmlformats.org/drawingml/2006/main">
              <a:ext uri="{FF2B5EF4-FFF2-40B4-BE49-F238E27FC236}">
                <a16:creationId xmlns:a16="http://schemas.microsoft.com/office/drawing/2014/main" id="{F657F36F-551D-40D7-A61D-E6D7DE419B4A}"/>
              </a:ext>
            </a:extLst>
          </p:cNvPr>
          <p:cNvSpPr>
            <a:spLocks xmlns:a="http://schemas.openxmlformats.org/drawingml/2006/main" noGrp="1"/>
          </p:cNvSpPr>
          <p:nvPr/>
        </p:nvSpPr>
        <p:spPr>
          <a:xfrm xmlns:a="http://schemas.openxmlformats.org/drawingml/2006/main">
            <a:off x="6000750" y="536257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01114"/>
                </a:solidFill>
              </a:defRPr>
            </a:pPr>
            <a:r>
              <a:rPr sz="1200" b="0">
                <a:solidFill>
                  <a:srgbClr val="101114"/>
                </a:solidFill>
              </a:rPr>
              <a:t>기존 호환 취소</a:t>
            </a:r>
          </a:p>
        </p:txBody>
      </p:sp>
      <p:sp>
        <p:nvSpPr>
          <p:cNvPr id="36" name="">
            <a:extLst xmlns:a="http://schemas.openxmlformats.org/drawingml/2006/main">
              <a:ext uri="{FF2B5EF4-FFF2-40B4-BE49-F238E27FC236}">
                <a16:creationId xmlns:a16="http://schemas.microsoft.com/office/drawing/2014/main" id="{56335FC6-6F9A-4993-9257-A7F91DCB2909}"/>
              </a:ext>
            </a:extLst>
          </p:cNvPr>
          <p:cNvSpPr>
            <a:spLocks xmlns:a="http://schemas.openxmlformats.org/drawingml/2006/main" noGrp="1"/>
          </p:cNvSpPr>
          <p:nvPr/>
        </p:nvSpPr>
        <p:spPr>
          <a:xfrm xmlns:a="http://schemas.openxmlformats.org/drawingml/2006/main">
            <a:off x="9620250" y="5362575"/>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125" b="1">
                <a:solidFill>
                  <a:srgbClr val="101114"/>
                </a:solidFill>
              </a:defRPr>
            </a:pPr>
            <a:r>
              <a:rPr sz="1125" b="1">
                <a:solidFill>
                  <a:srgbClr val="101114"/>
                </a:solidFill>
              </a:rPr>
              <a:t>204 No Content</a:t>
            </a:r>
          </a:p>
        </p:txBody>
      </p:sp>
      <p:sp>
        <p:nvSpPr>
          <p:cNvPr id="37" name="">
            <a:extLst xmlns:a="http://schemas.openxmlformats.org/drawingml/2006/main">
              <a:ext uri="{FF2B5EF4-FFF2-40B4-BE49-F238E27FC236}">
                <a16:creationId xmlns:a16="http://schemas.microsoft.com/office/drawing/2014/main" id="{0F926998-E53B-4753-A7FA-9790C58F9B17}"/>
              </a:ext>
            </a:extLst>
          </p:cNvPr>
          <p:cNvSpPr>
            <a:spLocks xmlns:a="http://schemas.openxmlformats.org/drawingml/2006/main" noGrp="1"/>
          </p:cNvSpPr>
          <p:nvPr/>
        </p:nvSpPr>
        <p:spPr>
          <a:xfrm xmlns:a="http://schemas.openxmlformats.org/drawingml/2006/main">
            <a:off x="609600" y="5905500"/>
            <a:ext cx="10972800" cy="438150"/>
          </a:xfrm>
          <a:prstGeom xmlns:a="http://schemas.openxmlformats.org/drawingml/2006/main" prst="rect">
            <a:avLst/>
          </a:prstGeom>
          <a:solidFill xmlns:a="http://schemas.openxmlformats.org/drawingml/2006/main">
            <a:srgbClr val="132238"/>
          </a:solidFill>
          <a:ln xmlns:a="http://schemas.openxmlformats.org/drawingml/2006/main" w="9525">
            <a:solidFill>
              <a:srgbClr val="132238"/>
            </a:solidFill>
            <a:prstDash val="solid"/>
          </a:ln>
        </p:spPr>
      </p:sp>
      <p:sp>
        <p:nvSpPr>
          <p:cNvPr id="38" name="">
            <a:extLst xmlns:a="http://schemas.openxmlformats.org/drawingml/2006/main">
              <a:ext uri="{FF2B5EF4-FFF2-40B4-BE49-F238E27FC236}">
                <a16:creationId xmlns:a16="http://schemas.microsoft.com/office/drawing/2014/main" id="{EE9759F6-4369-451E-8D28-7BF6B8564299}"/>
              </a:ext>
            </a:extLst>
          </p:cNvPr>
          <p:cNvSpPr>
            <a:spLocks xmlns:a="http://schemas.openxmlformats.org/drawingml/2006/main" noGrp="1"/>
          </p:cNvSpPr>
          <p:nvPr/>
        </p:nvSpPr>
        <p:spPr>
          <a:xfrm xmlns:a="http://schemas.openxmlformats.org/drawingml/2006/main">
            <a:off x="866775" y="6029325"/>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FFFFFF"/>
                </a:solidFill>
              </a:defRPr>
            </a:pPr>
            <a:r>
              <a:rPr sz="1425" b="1">
                <a:solidFill>
                  <a:srgbClr val="FFFFFF"/>
                </a:solidFill>
              </a:rPr>
              <a:t>실패도 계약이다  |  401 인증 · 403 권한 · 404 자원 없음 · 409 상태 충돌</a:t>
            </a:r>
          </a:p>
        </p:txBody>
      </p:sp>
      <p:sp>
        <p:nvSpPr>
          <p:cNvPr id="39" name="">
            <a:extLst xmlns:a="http://schemas.openxmlformats.org/drawingml/2006/main">
              <a:ext uri="{FF2B5EF4-FFF2-40B4-BE49-F238E27FC236}">
                <a16:creationId xmlns:a16="http://schemas.microsoft.com/office/drawing/2014/main" id="{514F15D1-3BC3-4743-8BAA-50967A1BD394}"/>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942966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A53189F-C260-4658-BA10-43B40F037C22}"/>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5A3A209B-C3ED-45BD-B90C-E17645C8E43E}"/>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시스템 구조 &amp; REST API 설계 아키텍처</a:t>
            </a:r>
          </a:p>
        </p:txBody>
      </p:sp>
      <p:sp>
        <p:nvSpPr>
          <p:cNvPr id="3" name="">
            <a:extLst xmlns:a="http://schemas.openxmlformats.org/drawingml/2006/main">
              <a:ext uri="{FF2B5EF4-FFF2-40B4-BE49-F238E27FC236}">
                <a16:creationId xmlns:a16="http://schemas.microsoft.com/office/drawing/2014/main" id="{76400B43-E7B1-43D3-B857-CE6DFD2A84D3}"/>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04</a:t>
            </a:r>
          </a:p>
        </p:txBody>
      </p:sp>
      <p:sp>
        <p:nvSpPr>
          <p:cNvPr id="4" name="">
            <a:extLst xmlns:a="http://schemas.openxmlformats.org/drawingml/2006/main">
              <a:ext uri="{FF2B5EF4-FFF2-40B4-BE49-F238E27FC236}">
                <a16:creationId xmlns:a16="http://schemas.microsoft.com/office/drawing/2014/main" id="{7951A45A-E9AC-4275-8849-6C6A09ABB58A}"/>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A9AEA65-7C56-432A-902A-EF0AC95AE021}"/>
              </a:ext>
            </a:extLst>
          </p:cNvPr>
          <p:cNvSpPr>
            <a:spLocks xmlns:a="http://schemas.openxmlformats.org/drawingml/2006/main" noGrp="1"/>
          </p:cNvSpPr>
          <p:nvPr/>
        </p:nvSpPr>
        <p:spPr>
          <a:xfrm xmlns:a="http://schemas.openxmlformats.org/drawingml/2006/main">
            <a:off x="704850" y="1666875"/>
            <a:ext cx="1714500" cy="876300"/>
          </a:xfrm>
          <a:prstGeom xmlns:a="http://schemas.openxmlformats.org/drawingml/2006/main" prst="roundRect">
            <a:avLst>
              <a:gd name="adj" fmla="val 13043"/>
            </a:avLst>
          </a:prstGeom>
          <a:solidFill xmlns:a="http://schemas.openxmlformats.org/drawingml/2006/main">
            <a:srgbClr val="DDF3FD"/>
          </a:solidFill>
          <a:ln xmlns:a="http://schemas.openxmlformats.org/drawingml/2006/main" w="9525">
            <a:solidFill>
              <a:srgbClr val="BBC1C9"/>
            </a:solidFill>
            <a:prstDash val="solid"/>
          </a:ln>
        </p:spPr>
      </p:sp>
      <p:sp>
        <p:nvSpPr>
          <p:cNvPr id="6" name="">
            <a:extLst xmlns:a="http://schemas.openxmlformats.org/drawingml/2006/main">
              <a:ext uri="{FF2B5EF4-FFF2-40B4-BE49-F238E27FC236}">
                <a16:creationId xmlns:a16="http://schemas.microsoft.com/office/drawing/2014/main" id="{51A349A5-F1EC-473C-B62E-E65A6E2730F5}"/>
              </a:ext>
            </a:extLst>
          </p:cNvPr>
          <p:cNvSpPr>
            <a:spLocks xmlns:a="http://schemas.openxmlformats.org/drawingml/2006/main" noGrp="1"/>
          </p:cNvSpPr>
          <p:nvPr/>
        </p:nvSpPr>
        <p:spPr>
          <a:xfrm xmlns:a="http://schemas.openxmlformats.org/drawingml/2006/main">
            <a:off x="80010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Thymeleaf 화면</a:t>
            </a:r>
          </a:p>
        </p:txBody>
      </p:sp>
      <p:sp>
        <p:nvSpPr>
          <p:cNvPr id="7" name="">
            <a:extLst xmlns:a="http://schemas.openxmlformats.org/drawingml/2006/main">
              <a:ext uri="{FF2B5EF4-FFF2-40B4-BE49-F238E27FC236}">
                <a16:creationId xmlns:a16="http://schemas.microsoft.com/office/drawing/2014/main" id="{B435A1C3-4D1A-4474-9BE4-A061990578A1}"/>
              </a:ext>
            </a:extLst>
          </p:cNvPr>
          <p:cNvSpPr>
            <a:spLocks xmlns:a="http://schemas.openxmlformats.org/drawingml/2006/main" noGrp="1"/>
          </p:cNvSpPr>
          <p:nvPr/>
        </p:nvSpPr>
        <p:spPr>
          <a:xfrm xmlns:a="http://schemas.openxmlformats.org/drawingml/2006/main">
            <a:off x="80010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matching-wait.html</a:t>
            </a:r>
          </a:p>
        </p:txBody>
      </p:sp>
      <p:sp>
        <p:nvSpPr>
          <p:cNvPr id="8" name="">
            <a:extLst xmlns:a="http://schemas.openxmlformats.org/drawingml/2006/main">
              <a:ext uri="{FF2B5EF4-FFF2-40B4-BE49-F238E27FC236}">
                <a16:creationId xmlns:a16="http://schemas.microsoft.com/office/drawing/2014/main" id="{2E833BA8-1A91-4554-B556-E1A60CE033F6}"/>
              </a:ext>
            </a:extLst>
          </p:cNvPr>
          <p:cNvSpPr>
            <a:spLocks xmlns:a="http://schemas.openxmlformats.org/drawingml/2006/main" noGrp="1"/>
          </p:cNvSpPr>
          <p:nvPr/>
        </p:nvSpPr>
        <p:spPr>
          <a:xfrm xmlns:a="http://schemas.openxmlformats.org/drawingml/2006/main">
            <a:off x="2486025"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9" name="">
            <a:extLst xmlns:a="http://schemas.openxmlformats.org/drawingml/2006/main">
              <a:ext uri="{FF2B5EF4-FFF2-40B4-BE49-F238E27FC236}">
                <a16:creationId xmlns:a16="http://schemas.microsoft.com/office/drawing/2014/main" id="{283EF0FF-410C-463D-9C25-FBE9CC93C2FA}"/>
              </a:ext>
            </a:extLst>
          </p:cNvPr>
          <p:cNvSpPr>
            <a:spLocks xmlns:a="http://schemas.openxmlformats.org/drawingml/2006/main" noGrp="1"/>
          </p:cNvSpPr>
          <p:nvPr/>
        </p:nvSpPr>
        <p:spPr>
          <a:xfrm xmlns:a="http://schemas.openxmlformats.org/drawingml/2006/main">
            <a:off x="3095625"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0" name="">
            <a:extLst xmlns:a="http://schemas.openxmlformats.org/drawingml/2006/main">
              <a:ext uri="{FF2B5EF4-FFF2-40B4-BE49-F238E27FC236}">
                <a16:creationId xmlns:a16="http://schemas.microsoft.com/office/drawing/2014/main" id="{A71183F9-3C8C-4752-9DDD-A9A88B574209}"/>
              </a:ext>
            </a:extLst>
          </p:cNvPr>
          <p:cNvSpPr>
            <a:spLocks xmlns:a="http://schemas.openxmlformats.org/drawingml/2006/main" noGrp="1"/>
          </p:cNvSpPr>
          <p:nvPr/>
        </p:nvSpPr>
        <p:spPr>
          <a:xfrm xmlns:a="http://schemas.openxmlformats.org/drawingml/2006/main">
            <a:off x="3190875"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REST Controller</a:t>
            </a:r>
          </a:p>
        </p:txBody>
      </p:sp>
      <p:sp>
        <p:nvSpPr>
          <p:cNvPr id="11" name="">
            <a:extLst xmlns:a="http://schemas.openxmlformats.org/drawingml/2006/main">
              <a:ext uri="{FF2B5EF4-FFF2-40B4-BE49-F238E27FC236}">
                <a16:creationId xmlns:a16="http://schemas.microsoft.com/office/drawing/2014/main" id="{31118082-2C23-4399-B4E4-002C2D2523AA}"/>
              </a:ext>
            </a:extLst>
          </p:cNvPr>
          <p:cNvSpPr>
            <a:spLocks xmlns:a="http://schemas.openxmlformats.org/drawingml/2006/main" noGrp="1"/>
          </p:cNvSpPr>
          <p:nvPr/>
        </p:nvSpPr>
        <p:spPr>
          <a:xfrm xmlns:a="http://schemas.openxmlformats.org/drawingml/2006/main">
            <a:off x="319087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HTTP·인증·DTO</a:t>
            </a:r>
          </a:p>
        </p:txBody>
      </p:sp>
      <p:sp>
        <p:nvSpPr>
          <p:cNvPr id="12" name="">
            <a:extLst xmlns:a="http://schemas.openxmlformats.org/drawingml/2006/main">
              <a:ext uri="{FF2B5EF4-FFF2-40B4-BE49-F238E27FC236}">
                <a16:creationId xmlns:a16="http://schemas.microsoft.com/office/drawing/2014/main" id="{ECA67F5A-EF6A-442D-B61E-B31455BD8054}"/>
              </a:ext>
            </a:extLst>
          </p:cNvPr>
          <p:cNvSpPr>
            <a:spLocks xmlns:a="http://schemas.openxmlformats.org/drawingml/2006/main" noGrp="1"/>
          </p:cNvSpPr>
          <p:nvPr/>
        </p:nvSpPr>
        <p:spPr>
          <a:xfrm xmlns:a="http://schemas.openxmlformats.org/drawingml/2006/main">
            <a:off x="4876800"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13" name="">
            <a:extLst xmlns:a="http://schemas.openxmlformats.org/drawingml/2006/main">
              <a:ext uri="{FF2B5EF4-FFF2-40B4-BE49-F238E27FC236}">
                <a16:creationId xmlns:a16="http://schemas.microsoft.com/office/drawing/2014/main" id="{8EB8F50F-006B-4812-ADB1-A4F12B7BCF81}"/>
              </a:ext>
            </a:extLst>
          </p:cNvPr>
          <p:cNvSpPr>
            <a:spLocks xmlns:a="http://schemas.openxmlformats.org/drawingml/2006/main" noGrp="1"/>
          </p:cNvSpPr>
          <p:nvPr/>
        </p:nvSpPr>
        <p:spPr>
          <a:xfrm xmlns:a="http://schemas.openxmlformats.org/drawingml/2006/main">
            <a:off x="5486400"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4" name="">
            <a:extLst xmlns:a="http://schemas.openxmlformats.org/drawingml/2006/main">
              <a:ext uri="{FF2B5EF4-FFF2-40B4-BE49-F238E27FC236}">
                <a16:creationId xmlns:a16="http://schemas.microsoft.com/office/drawing/2014/main" id="{FB55C545-E6EA-4CA4-A84E-01E55C825A03}"/>
              </a:ext>
            </a:extLst>
          </p:cNvPr>
          <p:cNvSpPr>
            <a:spLocks xmlns:a="http://schemas.openxmlformats.org/drawingml/2006/main" noGrp="1"/>
          </p:cNvSpPr>
          <p:nvPr/>
        </p:nvSpPr>
        <p:spPr>
          <a:xfrm xmlns:a="http://schemas.openxmlformats.org/drawingml/2006/main">
            <a:off x="558165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Service</a:t>
            </a:r>
          </a:p>
        </p:txBody>
      </p:sp>
      <p:sp>
        <p:nvSpPr>
          <p:cNvPr id="15" name="">
            <a:extLst xmlns:a="http://schemas.openxmlformats.org/drawingml/2006/main">
              <a:ext uri="{FF2B5EF4-FFF2-40B4-BE49-F238E27FC236}">
                <a16:creationId xmlns:a16="http://schemas.microsoft.com/office/drawing/2014/main" id="{EBC10E4C-D714-4EBD-B611-4AB0A1AF862B}"/>
              </a:ext>
            </a:extLst>
          </p:cNvPr>
          <p:cNvSpPr>
            <a:spLocks xmlns:a="http://schemas.openxmlformats.org/drawingml/2006/main" noGrp="1"/>
          </p:cNvSpPr>
          <p:nvPr/>
        </p:nvSpPr>
        <p:spPr>
          <a:xfrm xmlns:a="http://schemas.openxmlformats.org/drawingml/2006/main">
            <a:off x="558165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비즈니스 규칙</a:t>
            </a:r>
          </a:p>
        </p:txBody>
      </p:sp>
      <p:sp>
        <p:nvSpPr>
          <p:cNvPr id="16" name="">
            <a:extLst xmlns:a="http://schemas.openxmlformats.org/drawingml/2006/main">
              <a:ext uri="{FF2B5EF4-FFF2-40B4-BE49-F238E27FC236}">
                <a16:creationId xmlns:a16="http://schemas.microsoft.com/office/drawing/2014/main" id="{42D01C38-4955-4BEB-8F52-93CDD93904A3}"/>
              </a:ext>
            </a:extLst>
          </p:cNvPr>
          <p:cNvSpPr>
            <a:spLocks xmlns:a="http://schemas.openxmlformats.org/drawingml/2006/main" noGrp="1"/>
          </p:cNvSpPr>
          <p:nvPr/>
        </p:nvSpPr>
        <p:spPr>
          <a:xfrm xmlns:a="http://schemas.openxmlformats.org/drawingml/2006/main">
            <a:off x="7267575"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17" name="">
            <a:extLst xmlns:a="http://schemas.openxmlformats.org/drawingml/2006/main">
              <a:ext uri="{FF2B5EF4-FFF2-40B4-BE49-F238E27FC236}">
                <a16:creationId xmlns:a16="http://schemas.microsoft.com/office/drawing/2014/main" id="{950B4441-11DC-48CF-BC2D-D1409B7DF475}"/>
              </a:ext>
            </a:extLst>
          </p:cNvPr>
          <p:cNvSpPr>
            <a:spLocks xmlns:a="http://schemas.openxmlformats.org/drawingml/2006/main" noGrp="1"/>
          </p:cNvSpPr>
          <p:nvPr/>
        </p:nvSpPr>
        <p:spPr>
          <a:xfrm xmlns:a="http://schemas.openxmlformats.org/drawingml/2006/main">
            <a:off x="7877175" y="1666875"/>
            <a:ext cx="1714500" cy="876300"/>
          </a:xfrm>
          <a:prstGeom xmlns:a="http://schemas.openxmlformats.org/drawingml/2006/main" prst="roundRect">
            <a:avLst>
              <a:gd name="adj" fmla="val 13043"/>
            </a:avLst>
          </a:prstGeom>
          <a:solidFill xmlns:a="http://schemas.openxmlformats.org/drawingml/2006/main">
            <a:srgbClr val="F0F2F4"/>
          </a:solidFill>
          <a:ln xmlns:a="http://schemas.openxmlformats.org/drawingml/2006/main" w="9525">
            <a:solidFill>
              <a:srgbClr val="BBC1C9"/>
            </a:solidFill>
            <a:prstDash val="solid"/>
          </a:ln>
        </p:spPr>
      </p:sp>
      <p:sp>
        <p:nvSpPr>
          <p:cNvPr id="18" name="">
            <a:extLst xmlns:a="http://schemas.openxmlformats.org/drawingml/2006/main">
              <a:ext uri="{FF2B5EF4-FFF2-40B4-BE49-F238E27FC236}">
                <a16:creationId xmlns:a16="http://schemas.microsoft.com/office/drawing/2014/main" id="{339F14CE-D982-4186-8869-83F7F617C477}"/>
              </a:ext>
            </a:extLst>
          </p:cNvPr>
          <p:cNvSpPr>
            <a:spLocks xmlns:a="http://schemas.openxmlformats.org/drawingml/2006/main" noGrp="1"/>
          </p:cNvSpPr>
          <p:nvPr/>
        </p:nvSpPr>
        <p:spPr>
          <a:xfrm xmlns:a="http://schemas.openxmlformats.org/drawingml/2006/main">
            <a:off x="7972425"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Repository</a:t>
            </a:r>
          </a:p>
        </p:txBody>
      </p:sp>
      <p:sp>
        <p:nvSpPr>
          <p:cNvPr id="19" name="">
            <a:extLst xmlns:a="http://schemas.openxmlformats.org/drawingml/2006/main">
              <a:ext uri="{FF2B5EF4-FFF2-40B4-BE49-F238E27FC236}">
                <a16:creationId xmlns:a16="http://schemas.microsoft.com/office/drawing/2014/main" id="{9FD25C16-F293-47DB-89A1-4921353A8E00}"/>
              </a:ext>
            </a:extLst>
          </p:cNvPr>
          <p:cNvSpPr>
            <a:spLocks xmlns:a="http://schemas.openxmlformats.org/drawingml/2006/main" noGrp="1"/>
          </p:cNvSpPr>
          <p:nvPr/>
        </p:nvSpPr>
        <p:spPr>
          <a:xfrm xmlns:a="http://schemas.openxmlformats.org/drawingml/2006/main">
            <a:off x="7972425"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JPA·DB 접근</a:t>
            </a:r>
          </a:p>
        </p:txBody>
      </p:sp>
      <p:sp>
        <p:nvSpPr>
          <p:cNvPr id="20" name="">
            <a:extLst xmlns:a="http://schemas.openxmlformats.org/drawingml/2006/main">
              <a:ext uri="{FF2B5EF4-FFF2-40B4-BE49-F238E27FC236}">
                <a16:creationId xmlns:a16="http://schemas.microsoft.com/office/drawing/2014/main" id="{71BC6F9D-1B8A-4643-9850-1702E5EE3ED7}"/>
              </a:ext>
            </a:extLst>
          </p:cNvPr>
          <p:cNvSpPr>
            <a:spLocks xmlns:a="http://schemas.openxmlformats.org/drawingml/2006/main" noGrp="1"/>
          </p:cNvSpPr>
          <p:nvPr/>
        </p:nvSpPr>
        <p:spPr>
          <a:xfrm xmlns:a="http://schemas.openxmlformats.org/drawingml/2006/main">
            <a:off x="9658350" y="1943100"/>
            <a:ext cx="5143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0">
                <a:solidFill>
                  <a:srgbClr val="3D8DFF"/>
                </a:solidFill>
              </a:defRPr>
            </a:pPr>
            <a:r>
              <a:rPr sz="2025" b="0">
                <a:solidFill>
                  <a:srgbClr val="3D8DFF"/>
                </a:solidFill>
              </a:rPr>
              <a:t>→</a:t>
            </a:r>
          </a:p>
        </p:txBody>
      </p:sp>
      <p:sp>
        <p:nvSpPr>
          <p:cNvPr id="21" name="">
            <a:extLst xmlns:a="http://schemas.openxmlformats.org/drawingml/2006/main">
              <a:ext uri="{FF2B5EF4-FFF2-40B4-BE49-F238E27FC236}">
                <a16:creationId xmlns:a16="http://schemas.microsoft.com/office/drawing/2014/main" id="{E19C9BF5-D9ED-48E8-BD2B-E7A6689A0F81}"/>
              </a:ext>
            </a:extLst>
          </p:cNvPr>
          <p:cNvSpPr>
            <a:spLocks xmlns:a="http://schemas.openxmlformats.org/drawingml/2006/main" noGrp="1"/>
          </p:cNvSpPr>
          <p:nvPr/>
        </p:nvSpPr>
        <p:spPr>
          <a:xfrm xmlns:a="http://schemas.openxmlformats.org/drawingml/2006/main">
            <a:off x="10267950" y="1666875"/>
            <a:ext cx="1714500" cy="876300"/>
          </a:xfrm>
          <a:prstGeom xmlns:a="http://schemas.openxmlformats.org/drawingml/2006/main" prst="roundRect">
            <a:avLst>
              <a:gd name="adj" fmla="val 13043"/>
            </a:avLst>
          </a:prstGeom>
          <a:solidFill xmlns:a="http://schemas.openxmlformats.org/drawingml/2006/main">
            <a:srgbClr val="DDF3FD"/>
          </a:solidFill>
          <a:ln xmlns:a="http://schemas.openxmlformats.org/drawingml/2006/main" w="9525">
            <a:solidFill>
              <a:srgbClr val="BBC1C9"/>
            </a:solidFill>
            <a:prstDash val="solid"/>
          </a:ln>
        </p:spPr>
      </p:sp>
      <p:sp>
        <p:nvSpPr>
          <p:cNvPr id="22" name="">
            <a:extLst xmlns:a="http://schemas.openxmlformats.org/drawingml/2006/main">
              <a:ext uri="{FF2B5EF4-FFF2-40B4-BE49-F238E27FC236}">
                <a16:creationId xmlns:a16="http://schemas.microsoft.com/office/drawing/2014/main" id="{D94EBE06-5CCE-4494-B2B2-C2073C3781E6}"/>
              </a:ext>
            </a:extLst>
          </p:cNvPr>
          <p:cNvSpPr>
            <a:spLocks xmlns:a="http://schemas.openxmlformats.org/drawingml/2006/main" noGrp="1"/>
          </p:cNvSpPr>
          <p:nvPr/>
        </p:nvSpPr>
        <p:spPr>
          <a:xfrm xmlns:a="http://schemas.openxmlformats.org/drawingml/2006/main">
            <a:off x="10363200" y="1838325"/>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MariaDB</a:t>
            </a:r>
          </a:p>
        </p:txBody>
      </p:sp>
      <p:sp>
        <p:nvSpPr>
          <p:cNvPr id="23" name="">
            <a:extLst xmlns:a="http://schemas.openxmlformats.org/drawingml/2006/main">
              <a:ext uri="{FF2B5EF4-FFF2-40B4-BE49-F238E27FC236}">
                <a16:creationId xmlns:a16="http://schemas.microsoft.com/office/drawing/2014/main" id="{1BF2747E-6885-4C2E-8670-E9A73F1E3556}"/>
              </a:ext>
            </a:extLst>
          </p:cNvPr>
          <p:cNvSpPr>
            <a:spLocks xmlns:a="http://schemas.openxmlformats.org/drawingml/2006/main" noGrp="1"/>
          </p:cNvSpPr>
          <p:nvPr/>
        </p:nvSpPr>
        <p:spPr>
          <a:xfrm xmlns:a="http://schemas.openxmlformats.org/drawingml/2006/main">
            <a:off x="10363200" y="2181225"/>
            <a:ext cx="1524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050" b="0">
                <a:solidFill>
                  <a:srgbClr val="616771"/>
                </a:solidFill>
              </a:defRPr>
            </a:pPr>
            <a:r>
              <a:rPr sz="1050" b="0">
                <a:solidFill>
                  <a:srgbClr val="616771"/>
                </a:solidFill>
              </a:rPr>
              <a:t>배송·매칭</a:t>
            </a:r>
          </a:p>
        </p:txBody>
      </p:sp>
      <p:sp>
        <p:nvSpPr>
          <p:cNvPr id="24" name="">
            <a:extLst xmlns:a="http://schemas.openxmlformats.org/drawingml/2006/main">
              <a:ext uri="{FF2B5EF4-FFF2-40B4-BE49-F238E27FC236}">
                <a16:creationId xmlns:a16="http://schemas.microsoft.com/office/drawing/2014/main" id="{9D2BCBC0-93D0-40D3-BF0C-64FFD23B80D9}"/>
              </a:ext>
            </a:extLst>
          </p:cNvPr>
          <p:cNvSpPr>
            <a:spLocks xmlns:a="http://schemas.openxmlformats.org/drawingml/2006/main" noGrp="1"/>
          </p:cNvSpPr>
          <p:nvPr/>
        </p:nvSpPr>
        <p:spPr>
          <a:xfrm xmlns:a="http://schemas.openxmlformats.org/drawingml/2006/main">
            <a:off x="1352550" y="2809875"/>
            <a:ext cx="948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425" b="1">
                <a:solidFill>
                  <a:srgbClr val="3D8DFF"/>
                </a:solidFill>
              </a:defRPr>
            </a:pPr>
            <a:r>
              <a:rPr sz="1425" b="1">
                <a:solidFill>
                  <a:srgbClr val="3D8DFF"/>
                </a:solidFill>
              </a:rPr>
              <a:t>GET /api/v1/delivery-requests/{id}   ·   Authorization: Bearer JWT   ·   200 OK + JSON</a:t>
            </a:r>
          </a:p>
        </p:txBody>
      </p:sp>
      <p:sp>
        <p:nvSpPr>
          <p:cNvPr id="25" name="">
            <a:extLst xmlns:a="http://schemas.openxmlformats.org/drawingml/2006/main">
              <a:ext uri="{FF2B5EF4-FFF2-40B4-BE49-F238E27FC236}">
                <a16:creationId xmlns:a16="http://schemas.microsoft.com/office/drawing/2014/main" id="{339DAF90-DBAD-4F3E-A211-62B89D898657}"/>
              </a:ext>
            </a:extLst>
          </p:cNvPr>
          <p:cNvSpPr>
            <a:spLocks xmlns:a="http://schemas.openxmlformats.org/drawingml/2006/main" noGrp="1"/>
          </p:cNvSpPr>
          <p:nvPr/>
        </p:nvSpPr>
        <p:spPr>
          <a:xfrm xmlns:a="http://schemas.openxmlformats.org/drawingml/2006/main">
            <a:off x="609600" y="3333750"/>
            <a:ext cx="5381625" cy="2076450"/>
          </a:xfrm>
          <a:prstGeom xmlns:a="http://schemas.openxmlformats.org/drawingml/2006/main" prst="roundRect">
            <a:avLst>
              <a:gd name="adj" fmla="val 5505"/>
            </a:avLst>
          </a:prstGeom>
          <a:solidFill xmlns:a="http://schemas.openxmlformats.org/drawingml/2006/main">
            <a:srgbClr val="111827"/>
          </a:solidFill>
          <a:ln xmlns:a="http://schemas.openxmlformats.org/drawingml/2006/main" w="9525">
            <a:solidFill>
              <a:srgbClr val="111827"/>
            </a:solidFill>
            <a:prstDash val="solid"/>
          </a:ln>
        </p:spPr>
      </p:sp>
      <p:sp>
        <p:nvSpPr>
          <p:cNvPr id="26" name="">
            <a:extLst xmlns:a="http://schemas.openxmlformats.org/drawingml/2006/main">
              <a:ext uri="{FF2B5EF4-FFF2-40B4-BE49-F238E27FC236}">
                <a16:creationId xmlns:a16="http://schemas.microsoft.com/office/drawing/2014/main" id="{2572D3B4-20D0-4428-B6A2-F6EE20F4C1BC}"/>
              </a:ext>
            </a:extLst>
          </p:cNvPr>
          <p:cNvSpPr>
            <a:spLocks xmlns:a="http://schemas.openxmlformats.org/drawingml/2006/main" noGrp="1"/>
          </p:cNvSpPr>
          <p:nvPr/>
        </p:nvSpPr>
        <p:spPr>
          <a:xfrm xmlns:a="http://schemas.openxmlformats.org/drawingml/2006/main">
            <a:off x="800100" y="3495675"/>
            <a:ext cx="5000625"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@GetMapping("/{deliveryRequestId}")</a:t>
            </a:r>
          </a:p>
          <a:p xmlns:a="http://schemas.openxmlformats.org/drawingml/2006/main">
            <a:pPr algn="l">
              <a:defRPr sz="1125" b="0">
                <a:solidFill>
                  <a:srgbClr val="E8EFF8"/>
                </a:solidFill>
              </a:defRPr>
            </a:pPr>
            <a:r>
              <a:rPr sz="1125" b="0">
                <a:solidFill>
                  <a:srgbClr val="E8EFF8"/>
                </a:solidFill>
              </a:rPr>
              <a:t>public ResponseEntity&lt;DeliveryDetailResponse&gt; getDeliveryRequest(...) {</a:t>
            </a:r>
          </a:p>
          <a:p xmlns:a="http://schemas.openxmlformats.org/drawingml/2006/main">
            <a:pPr algn="l">
              <a:defRPr sz="1125" b="0">
                <a:solidFill>
                  <a:srgbClr val="E8EFF8"/>
                </a:solidFill>
              </a:defRPr>
            </a:pPr>
            <a:r>
              <a:rPr sz="1125" b="0">
                <a:solidFill>
                  <a:srgbClr val="E8EFF8"/>
                </a:solidFill>
              </a:rPr>
              <a:t>  return ResponseEntity.ok().cacheControl(CacheControl.noStore())</a:t>
            </a:r>
          </a:p>
          <a:p xmlns:a="http://schemas.openxmlformats.org/drawingml/2006/main">
            <a:pPr algn="l">
              <a:defRPr sz="1125" b="0">
                <a:solidFill>
                  <a:srgbClr val="E8EFF8"/>
                </a:solidFill>
              </a:defRPr>
            </a:pPr>
            <a:r>
              <a:rPr sz="1125" b="0">
                <a:solidFill>
                  <a:srgbClr val="E8EFF8"/>
                </a:solidFill>
              </a:rPr>
              <a:t>      .body(deliveryService.getDeliveryRequestDetail(callerId, deliveryRequestId));</a:t>
            </a:r>
          </a:p>
          <a:p xmlns:a="http://schemas.openxmlformats.org/drawingml/2006/main">
            <a:pPr algn="l">
              <a:defRPr sz="1125" b="0">
                <a:solidFill>
                  <a:srgbClr val="E8EFF8"/>
                </a:solidFill>
              </a:defRPr>
            </a:pPr>
            <a:r>
              <a:rPr sz="1125" b="0">
                <a:solidFill>
                  <a:srgbClr val="E8EFF8"/>
                </a:solidFill>
              </a:rPr>
              <a:t>}</a:t>
            </a:r>
          </a:p>
        </p:txBody>
      </p:sp>
      <p:sp>
        <p:nvSpPr>
          <p:cNvPr id="27" name="">
            <a:extLst xmlns:a="http://schemas.openxmlformats.org/drawingml/2006/main">
              <a:ext uri="{FF2B5EF4-FFF2-40B4-BE49-F238E27FC236}">
                <a16:creationId xmlns:a16="http://schemas.microsoft.com/office/drawing/2014/main" id="{5412EFAD-0A32-488F-84A6-3539637AEE2B}"/>
              </a:ext>
            </a:extLst>
          </p:cNvPr>
          <p:cNvSpPr>
            <a:spLocks xmlns:a="http://schemas.openxmlformats.org/drawingml/2006/main" noGrp="1"/>
          </p:cNvSpPr>
          <p:nvPr/>
        </p:nvSpPr>
        <p:spPr>
          <a:xfrm xmlns:a="http://schemas.openxmlformats.org/drawingml/2006/main">
            <a:off x="6200775" y="3333750"/>
            <a:ext cx="5381625" cy="2076450"/>
          </a:xfrm>
          <a:prstGeom xmlns:a="http://schemas.openxmlformats.org/drawingml/2006/main" prst="roundRect">
            <a:avLst>
              <a:gd name="adj" fmla="val 5505"/>
            </a:avLst>
          </a:prstGeom>
          <a:solidFill xmlns:a="http://schemas.openxmlformats.org/drawingml/2006/main">
            <a:srgbClr val="111827"/>
          </a:solidFill>
          <a:ln xmlns:a="http://schemas.openxmlformats.org/drawingml/2006/main" w="9525">
            <a:solidFill>
              <a:srgbClr val="111827"/>
            </a:solidFill>
            <a:prstDash val="solid"/>
          </a:ln>
        </p:spPr>
      </p:sp>
      <p:sp>
        <p:nvSpPr>
          <p:cNvPr id="28" name="">
            <a:extLst xmlns:a="http://schemas.openxmlformats.org/drawingml/2006/main">
              <a:ext uri="{FF2B5EF4-FFF2-40B4-BE49-F238E27FC236}">
                <a16:creationId xmlns:a16="http://schemas.microsoft.com/office/drawing/2014/main" id="{6AB2404C-96FC-41AF-95C6-B26833C57905}"/>
              </a:ext>
            </a:extLst>
          </p:cNvPr>
          <p:cNvSpPr>
            <a:spLocks xmlns:a="http://schemas.openxmlformats.org/drawingml/2006/main" noGrp="1"/>
          </p:cNvSpPr>
          <p:nvPr/>
        </p:nvSpPr>
        <p:spPr>
          <a:xfrm xmlns:a="http://schemas.openxmlformats.org/drawingml/2006/main">
            <a:off x="6391275" y="3495675"/>
            <a:ext cx="5000625"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const response = await fetch(</a:t>
            </a:r>
          </a:p>
          <a:p xmlns:a="http://schemas.openxmlformats.org/drawingml/2006/main">
            <a:pPr algn="l">
              <a:defRPr sz="1125" b="0">
                <a:solidFill>
                  <a:srgbClr val="E8EFF8"/>
                </a:solidFill>
              </a:defRPr>
            </a:pPr>
            <a:r>
              <a:rPr sz="1125" b="0">
                <a:solidFill>
                  <a:srgbClr val="E8EFF8"/>
                </a:solidFill>
              </a:rPr>
              <a:t>  `/api/v1/delivery-requests/${deliveryId}`,</a:t>
            </a:r>
          </a:p>
          <a:p xmlns:a="http://schemas.openxmlformats.org/drawingml/2006/main">
            <a:pPr algn="l">
              <a:defRPr sz="1125" b="0">
                <a:solidFill>
                  <a:srgbClr val="E8EFF8"/>
                </a:solidFill>
              </a:defRPr>
            </a:pPr>
            <a:r>
              <a:rPr sz="1125" b="0">
                <a:solidFill>
                  <a:srgbClr val="E8EFF8"/>
                </a:solidFill>
              </a:rPr>
              <a:t>  { headers: { Authorization: header }, cache: 'no-store' }</a:t>
            </a:r>
          </a:p>
          <a:p xmlns:a="http://schemas.openxmlformats.org/drawingml/2006/main">
            <a:pPr algn="l">
              <a:defRPr sz="1125" b="0">
                <a:solidFill>
                  <a:srgbClr val="E8EFF8"/>
                </a:solidFill>
              </a:defRPr>
            </a:pPr>
            <a:r>
              <a:rPr sz="1125" b="0">
                <a:solidFill>
                  <a:srgbClr val="E8EFF8"/>
                </a:solidFill>
              </a:rPr>
              <a:t>);</a:t>
            </a:r>
          </a:p>
          <a:p xmlns:a="http://schemas.openxmlformats.org/drawingml/2006/main">
            <a:pPr algn="l">
              <a:defRPr sz="1125" b="0">
                <a:solidFill>
                  <a:srgbClr val="E8EFF8"/>
                </a:solidFill>
              </a:defRPr>
            </a:pPr>
            <a:r>
              <a:rPr sz="1125" b="0">
                <a:solidFill>
                  <a:srgbClr val="E8EFF8"/>
                </a:solidFill>
              </a:rPr>
              <a:t>const detail = await response.json();</a:t>
            </a:r>
          </a:p>
        </p:txBody>
      </p:sp>
      <p:sp>
        <p:nvSpPr>
          <p:cNvPr id="29" name="">
            <a:extLst xmlns:a="http://schemas.openxmlformats.org/drawingml/2006/main">
              <a:ext uri="{FF2B5EF4-FFF2-40B4-BE49-F238E27FC236}">
                <a16:creationId xmlns:a16="http://schemas.microsoft.com/office/drawing/2014/main" id="{33FD7612-8497-419F-BD72-206596088D63}"/>
              </a:ext>
            </a:extLst>
          </p:cNvPr>
          <p:cNvSpPr>
            <a:spLocks xmlns:a="http://schemas.openxmlformats.org/drawingml/2006/main" noGrp="1"/>
          </p:cNvSpPr>
          <p:nvPr/>
        </p:nvSpPr>
        <p:spPr>
          <a:xfrm xmlns:a="http://schemas.openxmlformats.org/drawingml/2006/main">
            <a:off x="6096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① 단방향 의존성</a:t>
            </a:r>
          </a:p>
        </p:txBody>
      </p:sp>
      <p:sp>
        <p:nvSpPr>
          <p:cNvPr id="30" name="">
            <a:extLst xmlns:a="http://schemas.openxmlformats.org/drawingml/2006/main">
              <a:ext uri="{FF2B5EF4-FFF2-40B4-BE49-F238E27FC236}">
                <a16:creationId xmlns:a16="http://schemas.microsoft.com/office/drawing/2014/main" id="{8EED26EC-A3FE-41D3-8F13-054FAE56B036}"/>
              </a:ext>
            </a:extLst>
          </p:cNvPr>
          <p:cNvSpPr>
            <a:spLocks xmlns:a="http://schemas.openxmlformats.org/drawingml/2006/main" noGrp="1"/>
          </p:cNvSpPr>
          <p:nvPr/>
        </p:nvSpPr>
        <p:spPr>
          <a:xfrm xmlns:a="http://schemas.openxmlformats.org/drawingml/2006/main">
            <a:off x="6096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Controller → Service → Repository</a:t>
            </a:r>
          </a:p>
        </p:txBody>
      </p:sp>
      <p:sp>
        <p:nvSpPr>
          <p:cNvPr id="31" name="">
            <a:extLst xmlns:a="http://schemas.openxmlformats.org/drawingml/2006/main">
              <a:ext uri="{FF2B5EF4-FFF2-40B4-BE49-F238E27FC236}">
                <a16:creationId xmlns:a16="http://schemas.microsoft.com/office/drawing/2014/main" id="{B9864C9A-395A-4D17-A75E-C11EC1624A45}"/>
              </a:ext>
            </a:extLst>
          </p:cNvPr>
          <p:cNvSpPr>
            <a:spLocks xmlns:a="http://schemas.openxmlformats.org/drawingml/2006/main" noGrp="1"/>
          </p:cNvSpPr>
          <p:nvPr/>
        </p:nvSpPr>
        <p:spPr>
          <a:xfrm xmlns:a="http://schemas.openxmlformats.org/drawingml/2006/main">
            <a:off x="42672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② API 계약 분리</a:t>
            </a:r>
          </a:p>
        </p:txBody>
      </p:sp>
      <p:sp>
        <p:nvSpPr>
          <p:cNvPr id="32" name="">
            <a:extLst xmlns:a="http://schemas.openxmlformats.org/drawingml/2006/main">
              <a:ext uri="{FF2B5EF4-FFF2-40B4-BE49-F238E27FC236}">
                <a16:creationId xmlns:a16="http://schemas.microsoft.com/office/drawing/2014/main" id="{28BB36F2-CB36-419D-9F43-7852A5746103}"/>
              </a:ext>
            </a:extLst>
          </p:cNvPr>
          <p:cNvSpPr>
            <a:spLocks xmlns:a="http://schemas.openxmlformats.org/drawingml/2006/main" noGrp="1"/>
          </p:cNvSpPr>
          <p:nvPr/>
        </p:nvSpPr>
        <p:spPr>
          <a:xfrm xmlns:a="http://schemas.openxmlformats.org/drawingml/2006/main">
            <a:off x="42672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Entity 대신 DeliveryDetailResponse</a:t>
            </a:r>
          </a:p>
        </p:txBody>
      </p:sp>
      <p:sp>
        <p:nvSpPr>
          <p:cNvPr id="33" name="">
            <a:extLst xmlns:a="http://schemas.openxmlformats.org/drawingml/2006/main">
              <a:ext uri="{FF2B5EF4-FFF2-40B4-BE49-F238E27FC236}">
                <a16:creationId xmlns:a16="http://schemas.microsoft.com/office/drawing/2014/main" id="{6AE7970C-45F3-49E0-BC32-CE5F93144D9A}"/>
              </a:ext>
            </a:extLst>
          </p:cNvPr>
          <p:cNvSpPr>
            <a:spLocks xmlns:a="http://schemas.openxmlformats.org/drawingml/2006/main" noGrp="1"/>
          </p:cNvSpPr>
          <p:nvPr/>
        </p:nvSpPr>
        <p:spPr>
          <a:xfrm xmlns:a="http://schemas.openxmlformats.org/drawingml/2006/main">
            <a:off x="7924800" y="5657850"/>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③ 상태·보안</a:t>
            </a:r>
          </a:p>
        </p:txBody>
      </p:sp>
      <p:sp>
        <p:nvSpPr>
          <p:cNvPr id="34" name="">
            <a:extLst xmlns:a="http://schemas.openxmlformats.org/drawingml/2006/main">
              <a:ext uri="{FF2B5EF4-FFF2-40B4-BE49-F238E27FC236}">
                <a16:creationId xmlns:a16="http://schemas.microsoft.com/office/drawing/2014/main" id="{BD789602-E83E-40C6-B195-75342F594C12}"/>
              </a:ext>
            </a:extLst>
          </p:cNvPr>
          <p:cNvSpPr>
            <a:spLocks xmlns:a="http://schemas.openxmlformats.org/drawingml/2006/main" noGrp="1"/>
          </p:cNvSpPr>
          <p:nvPr/>
        </p:nvSpPr>
        <p:spPr>
          <a:xfrm xmlns:a="http://schemas.openxmlformats.org/drawingml/2006/main">
            <a:off x="7924800" y="5953125"/>
            <a:ext cx="3429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JWT 권한 확인 + no-store + 상태 코드</a:t>
            </a:r>
          </a:p>
        </p:txBody>
      </p:sp>
      <p:sp>
        <p:nvSpPr>
          <p:cNvPr id="35" name="">
            <a:extLst xmlns:a="http://schemas.openxmlformats.org/drawingml/2006/main">
              <a:ext uri="{FF2B5EF4-FFF2-40B4-BE49-F238E27FC236}">
                <a16:creationId xmlns:a16="http://schemas.microsoft.com/office/drawing/2014/main" id="{84648636-3A02-45F9-B854-2EC8875DF712}"/>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17879589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E3DD84A-4EA3-4096-87EB-46ED0FDD7852}"/>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F3571D70-1A8A-4B6A-8425-241BA03E3449}"/>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매칭 대기 화면은 GET API를 5초마다 호출한다</a:t>
            </a:r>
          </a:p>
        </p:txBody>
      </p:sp>
      <p:sp>
        <p:nvSpPr>
          <p:cNvPr id="3" name="">
            <a:extLst xmlns:a="http://schemas.openxmlformats.org/drawingml/2006/main">
              <a:ext uri="{FF2B5EF4-FFF2-40B4-BE49-F238E27FC236}">
                <a16:creationId xmlns:a16="http://schemas.microsoft.com/office/drawing/2014/main" id="{3C52E865-78BA-48C4-A54B-B2B0566CADCE}"/>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05</a:t>
            </a:r>
          </a:p>
        </p:txBody>
      </p:sp>
      <p:sp>
        <p:nvSpPr>
          <p:cNvPr id="4" name="">
            <a:extLst xmlns:a="http://schemas.openxmlformats.org/drawingml/2006/main">
              <a:ext uri="{FF2B5EF4-FFF2-40B4-BE49-F238E27FC236}">
                <a16:creationId xmlns:a16="http://schemas.microsoft.com/office/drawing/2014/main" id="{C9383A99-3F51-4FBA-897A-E2EB090DA482}"/>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2A12206-EA4A-410C-A3AF-3419A75ED7CC}"/>
              </a:ext>
            </a:extLst>
          </p:cNvPr>
          <p:cNvSpPr>
            <a:spLocks xmlns:a="http://schemas.openxmlformats.org/drawingml/2006/main" noGrp="1"/>
          </p:cNvSpPr>
          <p:nvPr/>
        </p:nvSpPr>
        <p:spPr>
          <a:xfrm xmlns:a="http://schemas.openxmlformats.org/drawingml/2006/main">
            <a:off x="609600" y="1581150"/>
            <a:ext cx="5810250" cy="2857500"/>
          </a:xfrm>
          <a:prstGeom xmlns:a="http://schemas.openxmlformats.org/drawingml/2006/main" prst="roundRect">
            <a:avLst>
              <a:gd name="adj" fmla="val 4000"/>
            </a:avLst>
          </a:prstGeom>
          <a:solidFill xmlns:a="http://schemas.openxmlformats.org/drawingml/2006/main">
            <a:srgbClr val="111827"/>
          </a:solidFill>
          <a:ln xmlns:a="http://schemas.openxmlformats.org/drawingml/2006/main" w="9525">
            <a:solidFill>
              <a:srgbClr val="111827"/>
            </a:solidFill>
            <a:prstDash val="solid"/>
          </a:ln>
        </p:spPr>
      </p:sp>
      <p:sp>
        <p:nvSpPr>
          <p:cNvPr id="6" name="">
            <a:extLst xmlns:a="http://schemas.openxmlformats.org/drawingml/2006/main">
              <a:ext uri="{FF2B5EF4-FFF2-40B4-BE49-F238E27FC236}">
                <a16:creationId xmlns:a16="http://schemas.microsoft.com/office/drawing/2014/main" id="{8B1E63B0-4314-435F-9701-930E5D26DF80}"/>
              </a:ext>
            </a:extLst>
          </p:cNvPr>
          <p:cNvSpPr>
            <a:spLocks xmlns:a="http://schemas.openxmlformats.org/drawingml/2006/main" noGrp="1"/>
          </p:cNvSpPr>
          <p:nvPr/>
        </p:nvSpPr>
        <p:spPr>
          <a:xfrm xmlns:a="http://schemas.openxmlformats.org/drawingml/2006/main">
            <a:off x="800100" y="1743075"/>
            <a:ext cx="5429250" cy="2533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0">
                <a:solidFill>
                  <a:srgbClr val="E8EFF8"/>
                </a:solidFill>
              </a:defRPr>
            </a:pPr>
            <a:r>
              <a:rPr sz="1275" b="0">
                <a:solidFill>
                  <a:srgbClr val="E8EFF8"/>
                </a:solidFill>
              </a:rPr>
              <a:t>const response = await fetch(</a:t>
            </a:r>
          </a:p>
          <a:p xmlns:a="http://schemas.openxmlformats.org/drawingml/2006/main">
            <a:pPr algn="l">
              <a:defRPr sz="1275" b="0">
                <a:solidFill>
                  <a:srgbClr val="E8EFF8"/>
                </a:solidFill>
              </a:defRPr>
            </a:pPr>
            <a:r>
              <a:rPr sz="1275" b="0">
                <a:solidFill>
                  <a:srgbClr val="E8EFF8"/>
                </a:solidFill>
              </a:rPr>
              <a:t>  `/api/v1/delivery-requests/${deliveryId}`,</a:t>
            </a:r>
          </a:p>
          <a:p xmlns:a="http://schemas.openxmlformats.org/drawingml/2006/main">
            <a:pPr algn="l">
              <a:defRPr sz="1275" b="0">
                <a:solidFill>
                  <a:srgbClr val="E8EFF8"/>
                </a:solidFill>
              </a:defRPr>
            </a:pPr>
            <a:r>
              <a:rPr sz="1275" b="0">
                <a:solidFill>
                  <a:srgbClr val="E8EFF8"/>
                </a:solidFill>
              </a:rPr>
              <a:t>  {</a:t>
            </a:r>
          </a:p>
          <a:p xmlns:a="http://schemas.openxmlformats.org/drawingml/2006/main">
            <a:pPr algn="l">
              <a:defRPr sz="1275" b="0">
                <a:solidFill>
                  <a:srgbClr val="E8EFF8"/>
                </a:solidFill>
              </a:defRPr>
            </a:pPr>
            <a:r>
              <a:rPr sz="1275" b="0">
                <a:solidFill>
                  <a:srgbClr val="E8EFF8"/>
                </a:solidFill>
              </a:rPr>
              <a:t>    headers: { Authorization: header },</a:t>
            </a:r>
          </a:p>
          <a:p xmlns:a="http://schemas.openxmlformats.org/drawingml/2006/main">
            <a:pPr algn="l">
              <a:defRPr sz="1275" b="0">
                <a:solidFill>
                  <a:srgbClr val="E8EFF8"/>
                </a:solidFill>
              </a:defRPr>
            </a:pPr>
            <a:r>
              <a:rPr sz="1275" b="0">
                <a:solidFill>
                  <a:srgbClr val="E8EFF8"/>
                </a:solidFill>
              </a:rPr>
              <a:t>    cache: 'no-store'</a:t>
            </a:r>
          </a:p>
          <a:p xmlns:a="http://schemas.openxmlformats.org/drawingml/2006/main">
            <a:pPr algn="l">
              <a:defRPr sz="1275" b="0">
                <a:solidFill>
                  <a:srgbClr val="E8EFF8"/>
                </a:solidFill>
              </a:defRPr>
            </a:pPr>
            <a:r>
              <a:rPr sz="1275" b="0">
                <a:solidFill>
                  <a:srgbClr val="E8EFF8"/>
                </a:solidFill>
              </a:rPr>
              <a:t>  }</a:t>
            </a:r>
          </a:p>
          <a:p xmlns:a="http://schemas.openxmlformats.org/drawingml/2006/main">
            <a:pPr algn="l">
              <a:defRPr sz="1275" b="0">
                <a:solidFill>
                  <a:srgbClr val="E8EFF8"/>
                </a:solidFill>
              </a:defRPr>
            </a:pPr>
            <a:r>
              <a:rPr sz="1275" b="0">
                <a:solidFill>
                  <a:srgbClr val="E8EFF8"/>
                </a:solidFill>
              </a:rPr>
              <a:t>);</a:t>
            </a:r>
          </a:p>
          <a:p xmlns:a="http://schemas.openxmlformats.org/drawingml/2006/main">
            <a:pPr algn="l">
              <a:defRPr sz="1275" b="0">
                <a:solidFill>
                  <a:srgbClr val="E8EFF8"/>
                </a:solidFill>
              </a:defRPr>
            </a:pPr>
            <a:r>
              <a:rPr sz="1275" b="0">
                <a:solidFill>
                  <a:srgbClr val="E8EFF8"/>
                </a:solidFill>
              </a:rPr>
              <a:t>const detail = await response.json();</a:t>
            </a:r>
          </a:p>
        </p:txBody>
      </p:sp>
      <p:sp>
        <p:nvSpPr>
          <p:cNvPr id="7" name="">
            <a:extLst xmlns:a="http://schemas.openxmlformats.org/drawingml/2006/main">
              <a:ext uri="{FF2B5EF4-FFF2-40B4-BE49-F238E27FC236}">
                <a16:creationId xmlns:a16="http://schemas.microsoft.com/office/drawing/2014/main" id="{8064207D-3ECB-44AF-9CEE-215A9815BF5C}"/>
              </a:ext>
            </a:extLst>
          </p:cNvPr>
          <p:cNvSpPr>
            <a:spLocks xmlns:a="http://schemas.openxmlformats.org/drawingml/2006/main" noGrp="1"/>
          </p:cNvSpPr>
          <p:nvPr/>
        </p:nvSpPr>
        <p:spPr>
          <a:xfrm xmlns:a="http://schemas.openxmlformats.org/drawingml/2006/main">
            <a:off x="7239000" y="16002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defRPr>
            </a:pPr>
            <a:r>
              <a:rPr sz="1875" b="1">
                <a:solidFill>
                  <a:srgbClr val="3D8DFF"/>
                </a:solidFill>
              </a:rPr>
              <a:t>1</a:t>
            </a:r>
          </a:p>
        </p:txBody>
      </p:sp>
      <p:sp>
        <p:nvSpPr>
          <p:cNvPr id="8" name="">
            <a:extLst xmlns:a="http://schemas.openxmlformats.org/drawingml/2006/main">
              <a:ext uri="{FF2B5EF4-FFF2-40B4-BE49-F238E27FC236}">
                <a16:creationId xmlns:a16="http://schemas.microsoft.com/office/drawing/2014/main" id="{56E30B59-94B6-4543-B26B-82AEA409BC2E}"/>
              </a:ext>
            </a:extLst>
          </p:cNvPr>
          <p:cNvSpPr>
            <a:spLocks xmlns:a="http://schemas.openxmlformats.org/drawingml/2006/main" noGrp="1"/>
          </p:cNvSpPr>
          <p:nvPr/>
        </p:nvSpPr>
        <p:spPr>
          <a:xfrm xmlns:a="http://schemas.openxmlformats.org/drawingml/2006/main">
            <a:off x="7772400" y="1562100"/>
            <a:ext cx="3333750" cy="457200"/>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7EC054B1-8F7E-4228-8850-CAE2F7D03433}"/>
              </a:ext>
            </a:extLst>
          </p:cNvPr>
          <p:cNvSpPr>
            <a:spLocks xmlns:a="http://schemas.openxmlformats.org/drawingml/2006/main" noGrp="1"/>
          </p:cNvSpPr>
          <p:nvPr/>
        </p:nvSpPr>
        <p:spPr>
          <a:xfrm xmlns:a="http://schemas.openxmlformats.org/drawingml/2006/main">
            <a:off x="7962900" y="16764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GET + JWT</a:t>
            </a:r>
          </a:p>
        </p:txBody>
      </p:sp>
      <p:sp>
        <p:nvSpPr>
          <p:cNvPr id="10" name="">
            <a:extLst xmlns:a="http://schemas.openxmlformats.org/drawingml/2006/main">
              <a:ext uri="{FF2B5EF4-FFF2-40B4-BE49-F238E27FC236}">
                <a16:creationId xmlns:a16="http://schemas.microsoft.com/office/drawing/2014/main" id="{DBB6AACF-BFA1-4697-A40F-9FC650336E22}"/>
              </a:ext>
            </a:extLst>
          </p:cNvPr>
          <p:cNvSpPr>
            <a:spLocks xmlns:a="http://schemas.openxmlformats.org/drawingml/2006/main" noGrp="1"/>
          </p:cNvSpPr>
          <p:nvPr/>
        </p:nvSpPr>
        <p:spPr>
          <a:xfrm xmlns:a="http://schemas.openxmlformats.org/drawingml/2006/main">
            <a:off x="8858250" y="21050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3D8DFF"/>
                </a:solidFill>
              </a:defRPr>
            </a:pPr>
            <a:r>
              <a:rPr sz="1575" b="0">
                <a:solidFill>
                  <a:srgbClr val="3D8DFF"/>
                </a:solidFill>
              </a:rPr>
              <a:t>↓</a:t>
            </a:r>
          </a:p>
        </p:txBody>
      </p:sp>
      <p:sp>
        <p:nvSpPr>
          <p:cNvPr id="11" name="">
            <a:extLst xmlns:a="http://schemas.openxmlformats.org/drawingml/2006/main">
              <a:ext uri="{FF2B5EF4-FFF2-40B4-BE49-F238E27FC236}">
                <a16:creationId xmlns:a16="http://schemas.microsoft.com/office/drawing/2014/main" id="{AA080137-C552-4C5B-8BA5-28882A158831}"/>
              </a:ext>
            </a:extLst>
          </p:cNvPr>
          <p:cNvSpPr>
            <a:spLocks xmlns:a="http://schemas.openxmlformats.org/drawingml/2006/main" noGrp="1"/>
          </p:cNvSpPr>
          <p:nvPr/>
        </p:nvSpPr>
        <p:spPr>
          <a:xfrm xmlns:a="http://schemas.openxmlformats.org/drawingml/2006/main">
            <a:off x="7239000" y="24955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defRPr>
            </a:pPr>
            <a:r>
              <a:rPr sz="1875" b="1">
                <a:solidFill>
                  <a:srgbClr val="3D8DFF"/>
                </a:solidFill>
              </a:rPr>
              <a:t>2</a:t>
            </a:r>
          </a:p>
        </p:txBody>
      </p:sp>
      <p:sp>
        <p:nvSpPr>
          <p:cNvPr id="12" name="">
            <a:extLst xmlns:a="http://schemas.openxmlformats.org/drawingml/2006/main">
              <a:ext uri="{FF2B5EF4-FFF2-40B4-BE49-F238E27FC236}">
                <a16:creationId xmlns:a16="http://schemas.microsoft.com/office/drawing/2014/main" id="{56B30182-85CB-4A25-BEE7-BD50F0F3DE33}"/>
              </a:ext>
            </a:extLst>
          </p:cNvPr>
          <p:cNvSpPr>
            <a:spLocks xmlns:a="http://schemas.openxmlformats.org/drawingml/2006/main" noGrp="1"/>
          </p:cNvSpPr>
          <p:nvPr/>
        </p:nvSpPr>
        <p:spPr>
          <a:xfrm xmlns:a="http://schemas.openxmlformats.org/drawingml/2006/main">
            <a:off x="7772400" y="2457450"/>
            <a:ext cx="3333750" cy="457200"/>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247F75A-3208-46BD-A1B0-7EA6F8284664}"/>
              </a:ext>
            </a:extLst>
          </p:cNvPr>
          <p:cNvSpPr>
            <a:spLocks xmlns:a="http://schemas.openxmlformats.org/drawingml/2006/main" noGrp="1"/>
          </p:cNvSpPr>
          <p:nvPr/>
        </p:nvSpPr>
        <p:spPr>
          <a:xfrm xmlns:a="http://schemas.openxmlformats.org/drawingml/2006/main">
            <a:off x="7962900" y="25717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200 OK + JSON</a:t>
            </a:r>
          </a:p>
        </p:txBody>
      </p:sp>
      <p:sp>
        <p:nvSpPr>
          <p:cNvPr id="14" name="">
            <a:extLst xmlns:a="http://schemas.openxmlformats.org/drawingml/2006/main">
              <a:ext uri="{FF2B5EF4-FFF2-40B4-BE49-F238E27FC236}">
                <a16:creationId xmlns:a16="http://schemas.microsoft.com/office/drawing/2014/main" id="{1326D5A5-1359-4CBB-B4F0-9C86603BBFE7}"/>
              </a:ext>
            </a:extLst>
          </p:cNvPr>
          <p:cNvSpPr>
            <a:spLocks xmlns:a="http://schemas.openxmlformats.org/drawingml/2006/main" noGrp="1"/>
          </p:cNvSpPr>
          <p:nvPr/>
        </p:nvSpPr>
        <p:spPr>
          <a:xfrm xmlns:a="http://schemas.openxmlformats.org/drawingml/2006/main">
            <a:off x="8858250" y="300037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3D8DFF"/>
                </a:solidFill>
              </a:defRPr>
            </a:pPr>
            <a:r>
              <a:rPr sz="1575" b="0">
                <a:solidFill>
                  <a:srgbClr val="3D8DFF"/>
                </a:solidFill>
              </a:rPr>
              <a:t>↓</a:t>
            </a:r>
          </a:p>
        </p:txBody>
      </p:sp>
      <p:sp>
        <p:nvSpPr>
          <p:cNvPr id="15" name="">
            <a:extLst xmlns:a="http://schemas.openxmlformats.org/drawingml/2006/main">
              <a:ext uri="{FF2B5EF4-FFF2-40B4-BE49-F238E27FC236}">
                <a16:creationId xmlns:a16="http://schemas.microsoft.com/office/drawing/2014/main" id="{3C177647-56E3-4AF7-94C3-939DE0EA7A57}"/>
              </a:ext>
            </a:extLst>
          </p:cNvPr>
          <p:cNvSpPr>
            <a:spLocks xmlns:a="http://schemas.openxmlformats.org/drawingml/2006/main" noGrp="1"/>
          </p:cNvSpPr>
          <p:nvPr/>
        </p:nvSpPr>
        <p:spPr>
          <a:xfrm xmlns:a="http://schemas.openxmlformats.org/drawingml/2006/main">
            <a:off x="7239000" y="339090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defRPr>
            </a:pPr>
            <a:r>
              <a:rPr sz="1875" b="1">
                <a:solidFill>
                  <a:srgbClr val="3D8DFF"/>
                </a:solidFill>
              </a:rPr>
              <a:t>3</a:t>
            </a:r>
          </a:p>
        </p:txBody>
      </p:sp>
      <p:sp>
        <p:nvSpPr>
          <p:cNvPr id="16" name="">
            <a:extLst xmlns:a="http://schemas.openxmlformats.org/drawingml/2006/main">
              <a:ext uri="{FF2B5EF4-FFF2-40B4-BE49-F238E27FC236}">
                <a16:creationId xmlns:a16="http://schemas.microsoft.com/office/drawing/2014/main" id="{08B42388-74BA-4A00-8350-26FC79730657}"/>
              </a:ext>
            </a:extLst>
          </p:cNvPr>
          <p:cNvSpPr>
            <a:spLocks xmlns:a="http://schemas.openxmlformats.org/drawingml/2006/main" noGrp="1"/>
          </p:cNvSpPr>
          <p:nvPr/>
        </p:nvSpPr>
        <p:spPr>
          <a:xfrm xmlns:a="http://schemas.openxmlformats.org/drawingml/2006/main">
            <a:off x="7772400" y="3352800"/>
            <a:ext cx="3333750" cy="457200"/>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2A2AE72-06C5-4B59-B778-B5CFD564F58C}"/>
              </a:ext>
            </a:extLst>
          </p:cNvPr>
          <p:cNvSpPr>
            <a:spLocks xmlns:a="http://schemas.openxmlformats.org/drawingml/2006/main" noGrp="1"/>
          </p:cNvSpPr>
          <p:nvPr/>
        </p:nvSpPr>
        <p:spPr>
          <a:xfrm xmlns:a="http://schemas.openxmlformats.org/drawingml/2006/main">
            <a:off x="7962900" y="346710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status 확인</a:t>
            </a:r>
          </a:p>
        </p:txBody>
      </p:sp>
      <p:sp>
        <p:nvSpPr>
          <p:cNvPr id="18" name="">
            <a:extLst xmlns:a="http://schemas.openxmlformats.org/drawingml/2006/main">
              <a:ext uri="{FF2B5EF4-FFF2-40B4-BE49-F238E27FC236}">
                <a16:creationId xmlns:a16="http://schemas.microsoft.com/office/drawing/2014/main" id="{7A3561DC-DB7C-4D02-BA03-A4FD2FD2D4AE}"/>
              </a:ext>
            </a:extLst>
          </p:cNvPr>
          <p:cNvSpPr>
            <a:spLocks xmlns:a="http://schemas.openxmlformats.org/drawingml/2006/main" noGrp="1"/>
          </p:cNvSpPr>
          <p:nvPr/>
        </p:nvSpPr>
        <p:spPr>
          <a:xfrm xmlns:a="http://schemas.openxmlformats.org/drawingml/2006/main">
            <a:off x="8858250" y="3895725"/>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0">
                <a:solidFill>
                  <a:srgbClr val="3D8DFF"/>
                </a:solidFill>
              </a:defRPr>
            </a:pPr>
            <a:r>
              <a:rPr sz="1575" b="0">
                <a:solidFill>
                  <a:srgbClr val="3D8DFF"/>
                </a:solidFill>
              </a:rPr>
              <a:t>↓</a:t>
            </a:r>
          </a:p>
        </p:txBody>
      </p:sp>
      <p:sp>
        <p:nvSpPr>
          <p:cNvPr id="19" name="">
            <a:extLst xmlns:a="http://schemas.openxmlformats.org/drawingml/2006/main">
              <a:ext uri="{FF2B5EF4-FFF2-40B4-BE49-F238E27FC236}">
                <a16:creationId xmlns:a16="http://schemas.microsoft.com/office/drawing/2014/main" id="{2BB7A36B-3585-4EC0-8D06-A4EC34B0D38D}"/>
              </a:ext>
            </a:extLst>
          </p:cNvPr>
          <p:cNvSpPr>
            <a:spLocks xmlns:a="http://schemas.openxmlformats.org/drawingml/2006/main" noGrp="1"/>
          </p:cNvSpPr>
          <p:nvPr/>
        </p:nvSpPr>
        <p:spPr>
          <a:xfrm xmlns:a="http://schemas.openxmlformats.org/drawingml/2006/main">
            <a:off x="7239000" y="4286250"/>
            <a:ext cx="4000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3D8DFF"/>
                </a:solidFill>
              </a:defRPr>
            </a:pPr>
            <a:r>
              <a:rPr sz="1875" b="1">
                <a:solidFill>
                  <a:srgbClr val="3D8DFF"/>
                </a:solidFill>
              </a:rPr>
              <a:t>4</a:t>
            </a:r>
          </a:p>
        </p:txBody>
      </p:sp>
      <p:sp>
        <p:nvSpPr>
          <p:cNvPr id="20" name="">
            <a:extLst xmlns:a="http://schemas.openxmlformats.org/drawingml/2006/main">
              <a:ext uri="{FF2B5EF4-FFF2-40B4-BE49-F238E27FC236}">
                <a16:creationId xmlns:a16="http://schemas.microsoft.com/office/drawing/2014/main" id="{B759BE02-9199-4863-A712-7B98B1B90DAC}"/>
              </a:ext>
            </a:extLst>
          </p:cNvPr>
          <p:cNvSpPr>
            <a:spLocks xmlns:a="http://schemas.openxmlformats.org/drawingml/2006/main" noGrp="1"/>
          </p:cNvSpPr>
          <p:nvPr/>
        </p:nvSpPr>
        <p:spPr>
          <a:xfrm xmlns:a="http://schemas.openxmlformats.org/drawingml/2006/main">
            <a:off x="7772400" y="4248150"/>
            <a:ext cx="3333750" cy="457200"/>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C4CB6FF-6EEB-4129-AE7E-313BE015580E}"/>
              </a:ext>
            </a:extLst>
          </p:cNvPr>
          <p:cNvSpPr>
            <a:spLocks xmlns:a="http://schemas.openxmlformats.org/drawingml/2006/main" noGrp="1"/>
          </p:cNvSpPr>
          <p:nvPr/>
        </p:nvSpPr>
        <p:spPr>
          <a:xfrm xmlns:a="http://schemas.openxmlformats.org/drawingml/2006/main">
            <a:off x="7962900" y="4362450"/>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MATCHED → 화면 이동</a:t>
            </a:r>
          </a:p>
        </p:txBody>
      </p:sp>
      <p:sp>
        <p:nvSpPr>
          <p:cNvPr id="22" name="">
            <a:extLst xmlns:a="http://schemas.openxmlformats.org/drawingml/2006/main">
              <a:ext uri="{FF2B5EF4-FFF2-40B4-BE49-F238E27FC236}">
                <a16:creationId xmlns:a16="http://schemas.microsoft.com/office/drawing/2014/main" id="{4A9EBA55-C740-47AD-BFDD-CE0879F5A5B2}"/>
              </a:ext>
            </a:extLst>
          </p:cNvPr>
          <p:cNvSpPr>
            <a:spLocks xmlns:a="http://schemas.openxmlformats.org/drawingml/2006/main" noGrp="1"/>
          </p:cNvSpPr>
          <p:nvPr/>
        </p:nvSpPr>
        <p:spPr>
          <a:xfrm xmlns:a="http://schemas.openxmlformats.org/drawingml/2006/main">
            <a:off x="609600" y="4762500"/>
            <a:ext cx="581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6845B"/>
                </a:solidFill>
              </a:defRPr>
            </a:pPr>
            <a:r>
              <a:rPr sz="1500" b="1">
                <a:solidFill>
                  <a:srgbClr val="16845B"/>
                </a:solidFill>
              </a:rPr>
              <a:t>const POLL_INTERVAL_MS = 5000;</a:t>
            </a:r>
          </a:p>
        </p:txBody>
      </p:sp>
      <p:sp>
        <p:nvSpPr>
          <p:cNvPr id="23" name="">
            <a:extLst xmlns:a="http://schemas.openxmlformats.org/drawingml/2006/main">
              <a:ext uri="{FF2B5EF4-FFF2-40B4-BE49-F238E27FC236}">
                <a16:creationId xmlns:a16="http://schemas.microsoft.com/office/drawing/2014/main" id="{52B0F0DE-3CFF-42A7-AE7A-925136FBFE37}"/>
              </a:ext>
            </a:extLst>
          </p:cNvPr>
          <p:cNvSpPr>
            <a:spLocks xmlns:a="http://schemas.openxmlformats.org/drawingml/2006/main" noGrp="1"/>
          </p:cNvSpPr>
          <p:nvPr/>
        </p:nvSpPr>
        <p:spPr>
          <a:xfrm xmlns:a="http://schemas.openxmlformats.org/drawingml/2006/main">
            <a:off x="609600" y="5257800"/>
            <a:ext cx="10972800" cy="762000"/>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1190C8EF-B08B-41D0-AC25-2593212F4505}"/>
              </a:ext>
            </a:extLst>
          </p:cNvPr>
          <p:cNvSpPr>
            <a:spLocks xmlns:a="http://schemas.openxmlformats.org/drawingml/2006/main" noGrp="1"/>
          </p:cNvSpPr>
          <p:nvPr/>
        </p:nvSpPr>
        <p:spPr>
          <a:xfrm xmlns:a="http://schemas.openxmlformats.org/drawingml/2006/main">
            <a:off x="838200" y="5429250"/>
            <a:ext cx="1045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101114"/>
                </a:solidFill>
              </a:defRPr>
            </a:pPr>
            <a:r>
              <a:rPr sz="1350" b="1">
                <a:solidFill>
                  <a:srgbClr val="101114"/>
                </a:solidFill>
              </a:rPr>
              <a:t>401 → 로그인  ·  403 → 권한 없음  ·  404 → 배송 없음  ·  response.ok 확인</a:t>
            </a:r>
          </a:p>
        </p:txBody>
      </p:sp>
      <p:sp>
        <p:nvSpPr>
          <p:cNvPr id="25" name="">
            <a:extLst xmlns:a="http://schemas.openxmlformats.org/drawingml/2006/main">
              <a:ext uri="{FF2B5EF4-FFF2-40B4-BE49-F238E27FC236}">
                <a16:creationId xmlns:a16="http://schemas.microsoft.com/office/drawing/2014/main" id="{ED756E04-BBC9-4A86-8394-7D4D6B5D4B91}"/>
              </a:ext>
            </a:extLst>
          </p:cNvPr>
          <p:cNvSpPr>
            <a:spLocks xmlns:a="http://schemas.openxmlformats.org/drawingml/2006/main" noGrp="1"/>
          </p:cNvSpPr>
          <p:nvPr/>
        </p:nvSpPr>
        <p:spPr>
          <a:xfrm xmlns:a="http://schemas.openxmlformats.org/drawingml/2006/main">
            <a:off x="838200" y="5743575"/>
            <a:ext cx="104584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16771"/>
                </a:solidFill>
              </a:defRPr>
            </a:pPr>
            <a:r>
              <a:rPr sz="1200" b="0">
                <a:solidFill>
                  <a:srgbClr val="616771"/>
                </a:solidFill>
              </a:rPr>
              <a:t>fetch는 REST가 아니라 브라우저가 REST API를 호출하는 도구</a:t>
            </a:r>
          </a:p>
        </p:txBody>
      </p:sp>
      <p:sp>
        <p:nvSpPr>
          <p:cNvPr id="26" name="">
            <a:extLst xmlns:a="http://schemas.openxmlformats.org/drawingml/2006/main">
              <a:ext uri="{FF2B5EF4-FFF2-40B4-BE49-F238E27FC236}">
                <a16:creationId xmlns:a16="http://schemas.microsoft.com/office/drawing/2014/main" id="{731BF778-A68E-435F-840D-7B1325B22F5F}"/>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58992578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28D0E3FD-A525-4195-BD83-3A5F5330B5D7}"/>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978E39ED-70CD-4A94-9797-1F406D7075BB}"/>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핵심 기술 구현 — 취소 API의 정산 불일치 방지</a:t>
            </a:r>
          </a:p>
        </p:txBody>
      </p:sp>
      <p:sp>
        <p:nvSpPr>
          <p:cNvPr id="3" name="">
            <a:extLst xmlns:a="http://schemas.openxmlformats.org/drawingml/2006/main">
              <a:ext uri="{FF2B5EF4-FFF2-40B4-BE49-F238E27FC236}">
                <a16:creationId xmlns:a16="http://schemas.microsoft.com/office/drawing/2014/main" id="{B19D1B08-A106-4393-A8A9-25C9DDF10E13}"/>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06</a:t>
            </a:r>
          </a:p>
        </p:txBody>
      </p:sp>
      <p:sp>
        <p:nvSpPr>
          <p:cNvPr id="4" name="">
            <a:extLst xmlns:a="http://schemas.openxmlformats.org/drawingml/2006/main">
              <a:ext uri="{FF2B5EF4-FFF2-40B4-BE49-F238E27FC236}">
                <a16:creationId xmlns:a16="http://schemas.microsoft.com/office/drawing/2014/main" id="{58EE5443-93C1-464D-B312-38F8A5C4E9F4}"/>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E4F353E-B4B1-4433-911D-BF6D7A31E2F3}"/>
              </a:ext>
            </a:extLst>
          </p:cNvPr>
          <p:cNvSpPr>
            <a:spLocks xmlns:a="http://schemas.openxmlformats.org/drawingml/2006/main" noGrp="1"/>
          </p:cNvSpPr>
          <p:nvPr/>
        </p:nvSpPr>
        <p:spPr>
          <a:xfrm xmlns:a="http://schemas.openxmlformats.org/drawingml/2006/main">
            <a:off x="628650" y="14382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3D8DFF"/>
                </a:solidFill>
              </a:defRPr>
            </a:pPr>
            <a:r>
              <a:rPr sz="1425" b="1">
                <a:solidFill>
                  <a:srgbClr val="3D8DFF"/>
                </a:solidFill>
              </a:rPr>
              <a:t>GET /{id}/cancellation-preview</a:t>
            </a:r>
          </a:p>
        </p:txBody>
      </p:sp>
      <p:sp>
        <p:nvSpPr>
          <p:cNvPr id="6" name="">
            <a:extLst xmlns:a="http://schemas.openxmlformats.org/drawingml/2006/main">
              <a:ext uri="{FF2B5EF4-FFF2-40B4-BE49-F238E27FC236}">
                <a16:creationId xmlns:a16="http://schemas.microsoft.com/office/drawing/2014/main" id="{BB15B4EE-387C-4797-BE25-D33D9AF4C6C1}"/>
              </a:ext>
            </a:extLst>
          </p:cNvPr>
          <p:cNvSpPr>
            <a:spLocks xmlns:a="http://schemas.openxmlformats.org/drawingml/2006/main" noGrp="1"/>
          </p:cNvSpPr>
          <p:nvPr/>
        </p:nvSpPr>
        <p:spPr>
          <a:xfrm xmlns:a="http://schemas.openxmlformats.org/drawingml/2006/main">
            <a:off x="628650" y="17145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예상 수수료·환불 조회</a:t>
            </a:r>
          </a:p>
        </p:txBody>
      </p:sp>
      <p:sp>
        <p:nvSpPr>
          <p:cNvPr id="7" name="">
            <a:extLst xmlns:a="http://schemas.openxmlformats.org/drawingml/2006/main">
              <a:ext uri="{FF2B5EF4-FFF2-40B4-BE49-F238E27FC236}">
                <a16:creationId xmlns:a16="http://schemas.microsoft.com/office/drawing/2014/main" id="{FD8BC239-07B8-4CA6-9488-5E26E3ACB6A4}"/>
              </a:ext>
            </a:extLst>
          </p:cNvPr>
          <p:cNvSpPr>
            <a:spLocks xmlns:a="http://schemas.openxmlformats.org/drawingml/2006/main" noGrp="1"/>
          </p:cNvSpPr>
          <p:nvPr/>
        </p:nvSpPr>
        <p:spPr>
          <a:xfrm xmlns:a="http://schemas.openxmlformats.org/drawingml/2006/main">
            <a:off x="5048250" y="1438275"/>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D46B16"/>
                </a:solidFill>
              </a:defRPr>
            </a:pPr>
            <a:r>
              <a:rPr sz="1425" b="1">
                <a:solidFill>
                  <a:srgbClr val="D46B16"/>
                </a:solidFill>
              </a:rPr>
              <a:t>POST /{id}/cancel</a:t>
            </a:r>
          </a:p>
        </p:txBody>
      </p:sp>
      <p:sp>
        <p:nvSpPr>
          <p:cNvPr id="8" name="">
            <a:extLst xmlns:a="http://schemas.openxmlformats.org/drawingml/2006/main">
              <a:ext uri="{FF2B5EF4-FFF2-40B4-BE49-F238E27FC236}">
                <a16:creationId xmlns:a16="http://schemas.microsoft.com/office/drawing/2014/main" id="{DBBCB61B-FB92-4A10-978B-432C61174101}"/>
              </a:ext>
            </a:extLst>
          </p:cNvPr>
          <p:cNvSpPr>
            <a:spLocks xmlns:a="http://schemas.openxmlformats.org/drawingml/2006/main" noGrp="1"/>
          </p:cNvSpPr>
          <p:nvPr/>
        </p:nvSpPr>
        <p:spPr>
          <a:xfrm xmlns:a="http://schemas.openxmlformats.org/drawingml/2006/main">
            <a:off x="5048250" y="1714500"/>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취소·환불·보상 실행</a:t>
            </a:r>
          </a:p>
        </p:txBody>
      </p:sp>
      <p:sp>
        <p:nvSpPr>
          <p:cNvPr id="9" name="">
            <a:extLst xmlns:a="http://schemas.openxmlformats.org/drawingml/2006/main">
              <a:ext uri="{FF2B5EF4-FFF2-40B4-BE49-F238E27FC236}">
                <a16:creationId xmlns:a16="http://schemas.microsoft.com/office/drawing/2014/main" id="{7430B728-7DD4-4E22-9717-6CB8D1A3663F}"/>
              </a:ext>
            </a:extLst>
          </p:cNvPr>
          <p:cNvSpPr>
            <a:spLocks xmlns:a="http://schemas.openxmlformats.org/drawingml/2006/main" noGrp="1"/>
          </p:cNvSpPr>
          <p:nvPr/>
        </p:nvSpPr>
        <p:spPr>
          <a:xfrm xmlns:a="http://schemas.openxmlformats.org/drawingml/2006/main">
            <a:off x="8858250" y="143827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BE3B3B"/>
                </a:solidFill>
              </a:defRPr>
            </a:pPr>
            <a:r>
              <a:rPr sz="1425" b="1">
                <a:solidFill>
                  <a:srgbClr val="BE3B3B"/>
                </a:solidFill>
              </a:rPr>
              <a:t>409 Conflict</a:t>
            </a:r>
          </a:p>
        </p:txBody>
      </p:sp>
      <p:sp>
        <p:nvSpPr>
          <p:cNvPr id="10" name="">
            <a:extLst xmlns:a="http://schemas.openxmlformats.org/drawingml/2006/main">
              <a:ext uri="{FF2B5EF4-FFF2-40B4-BE49-F238E27FC236}">
                <a16:creationId xmlns:a16="http://schemas.microsoft.com/office/drawing/2014/main" id="{FD4B6596-CC16-46D1-A68A-E01A15E25F55}"/>
              </a:ext>
            </a:extLst>
          </p:cNvPr>
          <p:cNvSpPr>
            <a:spLocks xmlns:a="http://schemas.openxmlformats.org/drawingml/2006/main" noGrp="1"/>
          </p:cNvSpPr>
          <p:nvPr/>
        </p:nvSpPr>
        <p:spPr>
          <a:xfrm xmlns:a="http://schemas.openxmlformats.org/drawingml/2006/main">
            <a:off x="8858250" y="17145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616771"/>
                </a:solidFill>
              </a:defRPr>
            </a:pPr>
            <a:r>
              <a:rPr sz="1125" b="0">
                <a:solidFill>
                  <a:srgbClr val="616771"/>
                </a:solidFill>
              </a:rPr>
              <a:t>허용되지 않은 상태 전이</a:t>
            </a:r>
          </a:p>
        </p:txBody>
      </p:sp>
      <p:sp>
        <p:nvSpPr>
          <p:cNvPr id="11" name="">
            <a:extLst xmlns:a="http://schemas.openxmlformats.org/drawingml/2006/main">
              <a:ext uri="{FF2B5EF4-FFF2-40B4-BE49-F238E27FC236}">
                <a16:creationId xmlns:a16="http://schemas.microsoft.com/office/drawing/2014/main" id="{8AFADEA7-B353-4FAD-BFF2-19AA356D20C2}"/>
              </a:ext>
            </a:extLst>
          </p:cNvPr>
          <p:cNvSpPr>
            <a:spLocks xmlns:a="http://schemas.openxmlformats.org/drawingml/2006/main" noGrp="1"/>
          </p:cNvSpPr>
          <p:nvPr/>
        </p:nvSpPr>
        <p:spPr>
          <a:xfrm xmlns:a="http://schemas.openxmlformats.org/drawingml/2006/main">
            <a:off x="609600" y="221932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2" name="">
            <a:extLst xmlns:a="http://schemas.openxmlformats.org/drawingml/2006/main">
              <a:ext uri="{FF2B5EF4-FFF2-40B4-BE49-F238E27FC236}">
                <a16:creationId xmlns:a16="http://schemas.microsoft.com/office/drawing/2014/main" id="{FB21BD60-988E-4660-A1A8-96CA4468CD00}"/>
              </a:ext>
            </a:extLst>
          </p:cNvPr>
          <p:cNvSpPr>
            <a:spLocks xmlns:a="http://schemas.openxmlformats.org/drawingml/2006/main" noGrp="1"/>
          </p:cNvSpPr>
          <p:nvPr/>
        </p:nvSpPr>
        <p:spPr>
          <a:xfrm xmlns:a="http://schemas.openxmlformats.org/drawingml/2006/main">
            <a:off x="762000" y="23622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BE3B3B"/>
                </a:solidFill>
              </a:defRPr>
            </a:pPr>
            <a:r>
              <a:rPr sz="1950" b="1">
                <a:solidFill>
                  <a:srgbClr val="BE3B3B"/>
                </a:solidFill>
              </a:rPr>
              <a:t>P</a:t>
            </a:r>
          </a:p>
        </p:txBody>
      </p:sp>
      <p:sp>
        <p:nvSpPr>
          <p:cNvPr id="13" name="">
            <a:extLst xmlns:a="http://schemas.openxmlformats.org/drawingml/2006/main">
              <a:ext uri="{FF2B5EF4-FFF2-40B4-BE49-F238E27FC236}">
                <a16:creationId xmlns:a16="http://schemas.microsoft.com/office/drawing/2014/main" id="{4B2C3507-0DAE-49C1-BC6E-FE77157E7BBD}"/>
              </a:ext>
            </a:extLst>
          </p:cNvPr>
          <p:cNvSpPr>
            <a:spLocks xmlns:a="http://schemas.openxmlformats.org/drawingml/2006/main" noGrp="1"/>
          </p:cNvSpPr>
          <p:nvPr/>
        </p:nvSpPr>
        <p:spPr>
          <a:xfrm xmlns:a="http://schemas.openxmlformats.org/drawingml/2006/main">
            <a:off x="1295400" y="23431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Problem</a:t>
            </a:r>
          </a:p>
        </p:txBody>
      </p:sp>
      <p:sp>
        <p:nvSpPr>
          <p:cNvPr id="14" name="">
            <a:extLst xmlns:a="http://schemas.openxmlformats.org/drawingml/2006/main">
              <a:ext uri="{FF2B5EF4-FFF2-40B4-BE49-F238E27FC236}">
                <a16:creationId xmlns:a16="http://schemas.microsoft.com/office/drawing/2014/main" id="{206CE841-8478-4916-9A2D-FDD6D4A315C7}"/>
              </a:ext>
            </a:extLst>
          </p:cNvPr>
          <p:cNvSpPr>
            <a:spLocks xmlns:a="http://schemas.openxmlformats.org/drawingml/2006/main" noGrp="1"/>
          </p:cNvSpPr>
          <p:nvPr/>
        </p:nvSpPr>
        <p:spPr>
          <a:xfrm xmlns:a="http://schemas.openxmlformats.org/drawingml/2006/main">
            <a:off x="2571750" y="231457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중복 클릭·네트워크 재시도로</a:t>
            </a:r>
          </a:p>
          <a:p xmlns:a="http://schemas.openxmlformats.org/drawingml/2006/main">
            <a:pPr algn="l">
              <a:defRPr sz="1125" b="0">
                <a:solidFill>
                  <a:srgbClr val="101114"/>
                </a:solidFill>
              </a:defRPr>
            </a:pPr>
            <a:r>
              <a:rPr sz="1125" b="0">
                <a:solidFill>
                  <a:srgbClr val="101114"/>
                </a:solidFill>
              </a:rPr>
              <a:t>같은 취소 POST가 반복될 수 있음</a:t>
            </a:r>
          </a:p>
        </p:txBody>
      </p:sp>
      <p:sp>
        <p:nvSpPr>
          <p:cNvPr id="15" name="">
            <a:extLst xmlns:a="http://schemas.openxmlformats.org/drawingml/2006/main">
              <a:ext uri="{FF2B5EF4-FFF2-40B4-BE49-F238E27FC236}">
                <a16:creationId xmlns:a16="http://schemas.microsoft.com/office/drawing/2014/main" id="{0823716E-8990-4B65-A630-CD01472D4871}"/>
              </a:ext>
            </a:extLst>
          </p:cNvPr>
          <p:cNvSpPr>
            <a:spLocks xmlns:a="http://schemas.openxmlformats.org/drawingml/2006/main" noGrp="1"/>
          </p:cNvSpPr>
          <p:nvPr/>
        </p:nvSpPr>
        <p:spPr>
          <a:xfrm xmlns:a="http://schemas.openxmlformats.org/drawingml/2006/main">
            <a:off x="609600" y="296227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16" name="">
            <a:extLst xmlns:a="http://schemas.openxmlformats.org/drawingml/2006/main">
              <a:ext uri="{FF2B5EF4-FFF2-40B4-BE49-F238E27FC236}">
                <a16:creationId xmlns:a16="http://schemas.microsoft.com/office/drawing/2014/main" id="{B5D1299B-9B72-4F5E-AC17-7E620B0077D7}"/>
              </a:ext>
            </a:extLst>
          </p:cNvPr>
          <p:cNvSpPr>
            <a:spLocks xmlns:a="http://schemas.openxmlformats.org/drawingml/2006/main" noGrp="1"/>
          </p:cNvSpPr>
          <p:nvPr/>
        </p:nvSpPr>
        <p:spPr>
          <a:xfrm xmlns:a="http://schemas.openxmlformats.org/drawingml/2006/main">
            <a:off x="762000" y="31051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D46B16"/>
                </a:solidFill>
              </a:defRPr>
            </a:pPr>
            <a:r>
              <a:rPr sz="1950" b="1">
                <a:solidFill>
                  <a:srgbClr val="D46B16"/>
                </a:solidFill>
              </a:rPr>
              <a:t>R</a:t>
            </a:r>
          </a:p>
        </p:txBody>
      </p:sp>
      <p:sp>
        <p:nvSpPr>
          <p:cNvPr id="17" name="">
            <a:extLst xmlns:a="http://schemas.openxmlformats.org/drawingml/2006/main">
              <a:ext uri="{FF2B5EF4-FFF2-40B4-BE49-F238E27FC236}">
                <a16:creationId xmlns:a16="http://schemas.microsoft.com/office/drawing/2014/main" id="{16475889-0904-40A3-8F73-DAB20614A83C}"/>
              </a:ext>
            </a:extLst>
          </p:cNvPr>
          <p:cNvSpPr>
            <a:spLocks xmlns:a="http://schemas.openxmlformats.org/drawingml/2006/main" noGrp="1"/>
          </p:cNvSpPr>
          <p:nvPr/>
        </p:nvSpPr>
        <p:spPr>
          <a:xfrm xmlns:a="http://schemas.openxmlformats.org/drawingml/2006/main">
            <a:off x="1295400" y="30861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Root Cause</a:t>
            </a:r>
          </a:p>
        </p:txBody>
      </p:sp>
      <p:sp>
        <p:nvSpPr>
          <p:cNvPr id="18" name="">
            <a:extLst xmlns:a="http://schemas.openxmlformats.org/drawingml/2006/main">
              <a:ext uri="{FF2B5EF4-FFF2-40B4-BE49-F238E27FC236}">
                <a16:creationId xmlns:a16="http://schemas.microsoft.com/office/drawing/2014/main" id="{C86FC174-AE43-4159-9BE0-BC920D4A807A}"/>
              </a:ext>
            </a:extLst>
          </p:cNvPr>
          <p:cNvSpPr>
            <a:spLocks xmlns:a="http://schemas.openxmlformats.org/drawingml/2006/main" noGrp="1"/>
          </p:cNvSpPr>
          <p:nvPr/>
        </p:nvSpPr>
        <p:spPr>
          <a:xfrm xmlns:a="http://schemas.openxmlformats.org/drawingml/2006/main">
            <a:off x="2571750" y="305752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취소가 상태 변경뿐 아니라 환불·보상·</a:t>
            </a:r>
          </a:p>
          <a:p xmlns:a="http://schemas.openxmlformats.org/drawingml/2006/main">
            <a:pPr algn="l">
              <a:defRPr sz="1125" b="0">
                <a:solidFill>
                  <a:srgbClr val="101114"/>
                </a:solidFill>
              </a:defRPr>
            </a:pPr>
            <a:r>
              <a:rPr sz="1125" b="0">
                <a:solidFill>
                  <a:srgbClr val="101114"/>
                </a:solidFill>
              </a:rPr>
              <a:t>매칭 취소·차량 복구를 함께 수행</a:t>
            </a:r>
          </a:p>
        </p:txBody>
      </p:sp>
      <p:sp>
        <p:nvSpPr>
          <p:cNvPr id="19" name="">
            <a:extLst xmlns:a="http://schemas.openxmlformats.org/drawingml/2006/main">
              <a:ext uri="{FF2B5EF4-FFF2-40B4-BE49-F238E27FC236}">
                <a16:creationId xmlns:a16="http://schemas.microsoft.com/office/drawing/2014/main" id="{E065AC86-815D-4C8D-81C5-1CACACBC7573}"/>
              </a:ext>
            </a:extLst>
          </p:cNvPr>
          <p:cNvSpPr>
            <a:spLocks xmlns:a="http://schemas.openxmlformats.org/drawingml/2006/main" noGrp="1"/>
          </p:cNvSpPr>
          <p:nvPr/>
        </p:nvSpPr>
        <p:spPr>
          <a:xfrm xmlns:a="http://schemas.openxmlformats.org/drawingml/2006/main">
            <a:off x="609600" y="370522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0" name="">
            <a:extLst xmlns:a="http://schemas.openxmlformats.org/drawingml/2006/main">
              <a:ext uri="{FF2B5EF4-FFF2-40B4-BE49-F238E27FC236}">
                <a16:creationId xmlns:a16="http://schemas.microsoft.com/office/drawing/2014/main" id="{17F6B9A5-F862-4093-8086-5F5369739C21}"/>
              </a:ext>
            </a:extLst>
          </p:cNvPr>
          <p:cNvSpPr>
            <a:spLocks xmlns:a="http://schemas.openxmlformats.org/drawingml/2006/main" noGrp="1"/>
          </p:cNvSpPr>
          <p:nvPr/>
        </p:nvSpPr>
        <p:spPr>
          <a:xfrm xmlns:a="http://schemas.openxmlformats.org/drawingml/2006/main">
            <a:off x="762000" y="38481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3D8DFF"/>
                </a:solidFill>
              </a:defRPr>
            </a:pPr>
            <a:r>
              <a:rPr sz="1950" b="1">
                <a:solidFill>
                  <a:srgbClr val="3D8DFF"/>
                </a:solidFill>
              </a:rPr>
              <a:t>S</a:t>
            </a:r>
          </a:p>
        </p:txBody>
      </p:sp>
      <p:sp>
        <p:nvSpPr>
          <p:cNvPr id="21" name="">
            <a:extLst xmlns:a="http://schemas.openxmlformats.org/drawingml/2006/main">
              <a:ext uri="{FF2B5EF4-FFF2-40B4-BE49-F238E27FC236}">
                <a16:creationId xmlns:a16="http://schemas.microsoft.com/office/drawing/2014/main" id="{96B9E3B5-DCAD-4571-9C89-FC9CCC288DD7}"/>
              </a:ext>
            </a:extLst>
          </p:cNvPr>
          <p:cNvSpPr>
            <a:spLocks xmlns:a="http://schemas.openxmlformats.org/drawingml/2006/main" noGrp="1"/>
          </p:cNvSpPr>
          <p:nvPr/>
        </p:nvSpPr>
        <p:spPr>
          <a:xfrm xmlns:a="http://schemas.openxmlformats.org/drawingml/2006/main">
            <a:off x="1295400" y="382905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Solution</a:t>
            </a:r>
          </a:p>
        </p:txBody>
      </p:sp>
      <p:sp>
        <p:nvSpPr>
          <p:cNvPr id="22" name="">
            <a:extLst xmlns:a="http://schemas.openxmlformats.org/drawingml/2006/main">
              <a:ext uri="{FF2B5EF4-FFF2-40B4-BE49-F238E27FC236}">
                <a16:creationId xmlns:a16="http://schemas.microsoft.com/office/drawing/2014/main" id="{A53CE328-10F6-4A2B-8B29-3C633A5012DE}"/>
              </a:ext>
            </a:extLst>
          </p:cNvPr>
          <p:cNvSpPr>
            <a:spLocks xmlns:a="http://schemas.openxmlformats.org/drawingml/2006/main" noGrp="1"/>
          </p:cNvSpPr>
          <p:nvPr/>
        </p:nvSpPr>
        <p:spPr>
          <a:xfrm xmlns:a="http://schemas.openxmlformats.org/drawingml/2006/main">
            <a:off x="2571750" y="380047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@Transactional + 비관적 락 +</a:t>
            </a:r>
          </a:p>
          <a:p xmlns:a="http://schemas.openxmlformats.org/drawingml/2006/main">
            <a:pPr algn="l">
              <a:defRPr sz="1125" b="0">
                <a:solidFill>
                  <a:srgbClr val="101114"/>
                </a:solidFill>
              </a:defRPr>
            </a:pPr>
            <a:r>
              <a:rPr sz="1125" b="0">
                <a:solidFill>
                  <a:srgbClr val="101114"/>
                </a:solidFill>
              </a:rPr>
              <a:t>취소 완료 시 기존 결과 반환</a:t>
            </a:r>
          </a:p>
        </p:txBody>
      </p:sp>
      <p:sp>
        <p:nvSpPr>
          <p:cNvPr id="23" name="">
            <a:extLst xmlns:a="http://schemas.openxmlformats.org/drawingml/2006/main">
              <a:ext uri="{FF2B5EF4-FFF2-40B4-BE49-F238E27FC236}">
                <a16:creationId xmlns:a16="http://schemas.microsoft.com/office/drawing/2014/main" id="{7059601C-623F-490B-B2D2-73D3C4F564C7}"/>
              </a:ext>
            </a:extLst>
          </p:cNvPr>
          <p:cNvSpPr>
            <a:spLocks xmlns:a="http://schemas.openxmlformats.org/drawingml/2006/main" noGrp="1"/>
          </p:cNvSpPr>
          <p:nvPr/>
        </p:nvSpPr>
        <p:spPr>
          <a:xfrm xmlns:a="http://schemas.openxmlformats.org/drawingml/2006/main">
            <a:off x="609600" y="4448175"/>
            <a:ext cx="5219700" cy="628650"/>
          </a:xfrm>
          <a:prstGeom xmlns:a="http://schemas.openxmlformats.org/drawingml/2006/main" prst="rect">
            <a:avLst/>
          </a:prstGeom>
          <a:solidFill xmlns:a="http://schemas.openxmlformats.org/drawingml/2006/main">
            <a:srgbClr val="FFFFFF"/>
          </a:solidFill>
          <a:ln xmlns:a="http://schemas.openxmlformats.org/drawingml/2006/main" w="9525">
            <a:solidFill>
              <a:srgbClr val="BBC1C9"/>
            </a:solidFill>
            <a:prstDash val="solid"/>
          </a:ln>
        </p:spPr>
      </p:sp>
      <p:sp>
        <p:nvSpPr>
          <p:cNvPr id="24" name="">
            <a:extLst xmlns:a="http://schemas.openxmlformats.org/drawingml/2006/main">
              <a:ext uri="{FF2B5EF4-FFF2-40B4-BE49-F238E27FC236}">
                <a16:creationId xmlns:a16="http://schemas.microsoft.com/office/drawing/2014/main" id="{7D494040-D2B2-4085-A5F0-65D2331F2207}"/>
              </a:ext>
            </a:extLst>
          </p:cNvPr>
          <p:cNvSpPr>
            <a:spLocks xmlns:a="http://schemas.openxmlformats.org/drawingml/2006/main" noGrp="1"/>
          </p:cNvSpPr>
          <p:nvPr/>
        </p:nvSpPr>
        <p:spPr>
          <a:xfrm xmlns:a="http://schemas.openxmlformats.org/drawingml/2006/main">
            <a:off x="762000" y="459105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950" b="1">
                <a:solidFill>
                  <a:srgbClr val="16845B"/>
                </a:solidFill>
              </a:defRPr>
            </a:pPr>
            <a:r>
              <a:rPr sz="1950" b="1">
                <a:solidFill>
                  <a:srgbClr val="16845B"/>
                </a:solidFill>
              </a:rPr>
              <a:t>I</a:t>
            </a:r>
          </a:p>
        </p:txBody>
      </p:sp>
      <p:sp>
        <p:nvSpPr>
          <p:cNvPr id="25" name="">
            <a:extLst xmlns:a="http://schemas.openxmlformats.org/drawingml/2006/main">
              <a:ext uri="{FF2B5EF4-FFF2-40B4-BE49-F238E27FC236}">
                <a16:creationId xmlns:a16="http://schemas.microsoft.com/office/drawing/2014/main" id="{6A266846-3A06-4784-BBE8-C7EC46F75845}"/>
              </a:ext>
            </a:extLst>
          </p:cNvPr>
          <p:cNvSpPr>
            <a:spLocks xmlns:a="http://schemas.openxmlformats.org/drawingml/2006/main" noGrp="1"/>
          </p:cNvSpPr>
          <p:nvPr/>
        </p:nvSpPr>
        <p:spPr>
          <a:xfrm xmlns:a="http://schemas.openxmlformats.org/drawingml/2006/main">
            <a:off x="1295400" y="4572000"/>
            <a:ext cx="1238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Impact</a:t>
            </a:r>
          </a:p>
        </p:txBody>
      </p:sp>
      <p:sp>
        <p:nvSpPr>
          <p:cNvPr id="26" name="">
            <a:extLst xmlns:a="http://schemas.openxmlformats.org/drawingml/2006/main">
              <a:ext uri="{FF2B5EF4-FFF2-40B4-BE49-F238E27FC236}">
                <a16:creationId xmlns:a16="http://schemas.microsoft.com/office/drawing/2014/main" id="{CBF4C38F-D7A6-4111-AEE5-27C25B831855}"/>
              </a:ext>
            </a:extLst>
          </p:cNvPr>
          <p:cNvSpPr>
            <a:spLocks xmlns:a="http://schemas.openxmlformats.org/drawingml/2006/main" noGrp="1"/>
          </p:cNvSpPr>
          <p:nvPr/>
        </p:nvSpPr>
        <p:spPr>
          <a:xfrm xmlns:a="http://schemas.openxmlformats.org/drawingml/2006/main">
            <a:off x="2571750" y="4543425"/>
            <a:ext cx="309562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101114"/>
                </a:solidFill>
              </a:defRPr>
            </a:pPr>
            <a:r>
              <a:rPr sz="1125" b="0">
                <a:solidFill>
                  <a:srgbClr val="101114"/>
                </a:solidFill>
              </a:rPr>
              <a:t>중복 요청의 이중 정산 방지</a:t>
            </a:r>
          </a:p>
          <a:p xmlns:a="http://schemas.openxmlformats.org/drawingml/2006/main">
            <a:pPr algn="l">
              <a:defRPr sz="1125" b="0">
                <a:solidFill>
                  <a:srgbClr val="101114"/>
                </a:solidFill>
              </a:defRPr>
            </a:pPr>
            <a:r>
              <a:rPr sz="1125" b="0">
                <a:solidFill>
                  <a:srgbClr val="101114"/>
                </a:solidFill>
              </a:rPr>
              <a:t>부분 반영 없이 하나의 작업으로 처리</a:t>
            </a:r>
          </a:p>
        </p:txBody>
      </p:sp>
      <p:sp>
        <p:nvSpPr>
          <p:cNvPr id="27" name="">
            <a:extLst xmlns:a="http://schemas.openxmlformats.org/drawingml/2006/main">
              <a:ext uri="{FF2B5EF4-FFF2-40B4-BE49-F238E27FC236}">
                <a16:creationId xmlns:a16="http://schemas.microsoft.com/office/drawing/2014/main" id="{0C1CF96D-83AA-4CEF-BD34-03B0860FA290}"/>
              </a:ext>
            </a:extLst>
          </p:cNvPr>
          <p:cNvSpPr>
            <a:spLocks xmlns:a="http://schemas.openxmlformats.org/drawingml/2006/main" noGrp="1"/>
          </p:cNvSpPr>
          <p:nvPr/>
        </p:nvSpPr>
        <p:spPr>
          <a:xfrm xmlns:a="http://schemas.openxmlformats.org/drawingml/2006/main">
            <a:off x="6191250" y="2219325"/>
            <a:ext cx="5391150" cy="2705100"/>
          </a:xfrm>
          <a:prstGeom xmlns:a="http://schemas.openxmlformats.org/drawingml/2006/main" prst="roundRect">
            <a:avLst>
              <a:gd name="adj" fmla="val 4225"/>
            </a:avLst>
          </a:prstGeom>
          <a:solidFill xmlns:a="http://schemas.openxmlformats.org/drawingml/2006/main">
            <a:srgbClr val="111827"/>
          </a:solidFill>
          <a:ln xmlns:a="http://schemas.openxmlformats.org/drawingml/2006/main" w="9525">
            <a:solidFill>
              <a:srgbClr val="111827"/>
            </a:solidFill>
            <a:prstDash val="solid"/>
          </a:ln>
        </p:spPr>
      </p:sp>
      <p:sp>
        <p:nvSpPr>
          <p:cNvPr id="28" name="">
            <a:extLst xmlns:a="http://schemas.openxmlformats.org/drawingml/2006/main">
              <a:ext uri="{FF2B5EF4-FFF2-40B4-BE49-F238E27FC236}">
                <a16:creationId xmlns:a16="http://schemas.microsoft.com/office/drawing/2014/main" id="{03315E8E-54A4-4F59-B21A-B9C49DED9493}"/>
              </a:ext>
            </a:extLst>
          </p:cNvPr>
          <p:cNvSpPr>
            <a:spLocks xmlns:a="http://schemas.openxmlformats.org/drawingml/2006/main" noGrp="1"/>
          </p:cNvSpPr>
          <p:nvPr/>
        </p:nvSpPr>
        <p:spPr>
          <a:xfrm xmlns:a="http://schemas.openxmlformats.org/drawingml/2006/main">
            <a:off x="6381750" y="2381250"/>
            <a:ext cx="501015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@Transactional</a:t>
            </a:r>
          </a:p>
          <a:p xmlns:a="http://schemas.openxmlformats.org/drawingml/2006/main">
            <a:pPr algn="l">
              <a:defRPr sz="1125" b="0">
                <a:solidFill>
                  <a:srgbClr val="E8EFF8"/>
                </a:solidFill>
              </a:defRPr>
            </a:pPr>
            <a:r>
              <a:rPr sz="1125" b="0">
                <a:solidFill>
                  <a:srgbClr val="E8EFF8"/>
                </a:solidFill>
              </a:rPr>
              <a:t>public DeliveryCancellationResponse cancel(...) {</a:t>
            </a:r>
          </a:p>
          <a:p xmlns:a="http://schemas.openxmlformats.org/drawingml/2006/main">
            <a:pPr algn="l">
              <a:defRPr sz="1125" b="0">
                <a:solidFill>
                  <a:srgbClr val="E8EFF8"/>
                </a:solidFill>
              </a:defRPr>
            </a:pPr>
            <a:r>
              <a:rPr sz="1125" b="0">
                <a:solidFill>
                  <a:srgbClr val="E8EFF8"/>
                </a:solidFill>
              </a:rPr>
              <a:t>  DeliveryRequest delivery =</a:t>
            </a:r>
          </a:p>
          <a:p xmlns:a="http://schemas.openxmlformats.org/drawingml/2006/main">
            <a:pPr algn="l">
              <a:defRPr sz="1125" b="0">
                <a:solidFill>
                  <a:srgbClr val="E8EFF8"/>
                </a:solidFill>
              </a:defRPr>
            </a:pPr>
            <a:r>
              <a:rPr sz="1125" b="0">
                <a:solidFill>
                  <a:srgbClr val="E8EFF8"/>
                </a:solidFill>
              </a:rPr>
              <a:t>      findDeliveryRequestForUpdateOrThrow(id);</a:t>
            </a:r>
          </a:p>
          <a:p xmlns:a="http://schemas.openxmlformats.org/drawingml/2006/main">
            <a:pPr algn="l">
              <a:defRPr sz="1125" b="0">
                <a:solidFill>
                  <a:srgbClr val="E8EFF8"/>
                </a:solidFill>
              </a:defRPr>
            </a:pPr>
            <a:r>
              <a:rPr sz="1125" b="0">
                <a:solidFill>
                  <a:srgbClr val="E8EFF8"/>
                </a:solidFill>
              </a:rPr>
              <a:t>  if (delivery.getStatus() == CANCELLED)</a:t>
            </a:r>
          </a:p>
          <a:p xmlns:a="http://schemas.openxmlformats.org/drawingml/2006/main">
            <a:pPr algn="l">
              <a:defRPr sz="1125" b="0">
                <a:solidFill>
                  <a:srgbClr val="E8EFF8"/>
                </a:solidFill>
              </a:defRPr>
            </a:pPr>
            <a:r>
              <a:rPr sz="1125" b="0">
                <a:solidFill>
                  <a:srgbClr val="E8EFF8"/>
                </a:solidFill>
              </a:rPr>
              <a:t>    return DeliveryCancellationResponse.from(delivery);</a:t>
            </a:r>
          </a:p>
          <a:p xmlns:a="http://schemas.openxmlformats.org/drawingml/2006/main">
            <a:pPr algn="l">
              <a:defRPr sz="1125" b="0">
                <a:solidFill>
                  <a:srgbClr val="E8EFF8"/>
                </a:solidFill>
              </a:defRPr>
            </a:pPr>
            <a:r>
              <a:rPr sz="1125" b="0">
                <a:solidFill>
                  <a:srgbClr val="E8EFF8"/>
                </a:solidFill>
              </a:rPr>
              <a:t>  settlePoints(delivery, courierId, settlement);</a:t>
            </a:r>
          </a:p>
          <a:p xmlns:a="http://schemas.openxmlformats.org/drawingml/2006/main">
            <a:pPr algn="l">
              <a:defRPr sz="1125" b="0">
                <a:solidFill>
                  <a:srgbClr val="E8EFF8"/>
                </a:solidFill>
              </a:defRPr>
            </a:pPr>
            <a:r>
              <a:rPr sz="1125" b="0">
                <a:solidFill>
                  <a:srgbClr val="E8EFF8"/>
                </a:solidFill>
              </a:rPr>
              <a:t>}</a:t>
            </a:r>
          </a:p>
        </p:txBody>
      </p:sp>
      <p:sp>
        <p:nvSpPr>
          <p:cNvPr id="29" name="">
            <a:extLst xmlns:a="http://schemas.openxmlformats.org/drawingml/2006/main">
              <a:ext uri="{FF2B5EF4-FFF2-40B4-BE49-F238E27FC236}">
                <a16:creationId xmlns:a16="http://schemas.microsoft.com/office/drawing/2014/main" id="{60E56199-22F3-49DD-97DC-E57834D2A563}"/>
              </a:ext>
            </a:extLst>
          </p:cNvPr>
          <p:cNvSpPr>
            <a:spLocks xmlns:a="http://schemas.openxmlformats.org/drawingml/2006/main" noGrp="1"/>
          </p:cNvSpPr>
          <p:nvPr/>
        </p:nvSpPr>
        <p:spPr>
          <a:xfrm xmlns:a="http://schemas.openxmlformats.org/drawingml/2006/main">
            <a:off x="6191250" y="5124450"/>
            <a:ext cx="5391150" cy="838200"/>
          </a:xfrm>
          <a:prstGeom xmlns:a="http://schemas.openxmlformats.org/drawingml/2006/main" prst="rect">
            <a:avLst/>
          </a:prstGeom>
          <a:solidFill xmlns:a="http://schemas.openxmlformats.org/drawingml/2006/main">
            <a:srgbClr val="DDF3FD"/>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64F799F-A57C-4308-9BB0-4A328D2A188D}"/>
              </a:ext>
            </a:extLst>
          </p:cNvPr>
          <p:cNvSpPr>
            <a:spLocks xmlns:a="http://schemas.openxmlformats.org/drawingml/2006/main" noGrp="1"/>
          </p:cNvSpPr>
          <p:nvPr/>
        </p:nvSpPr>
        <p:spPr>
          <a:xfrm xmlns:a="http://schemas.openxmlformats.org/drawingml/2006/main">
            <a:off x="6419850" y="527685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32238"/>
                </a:solidFill>
              </a:defRPr>
            </a:pPr>
            <a:r>
              <a:rPr sz="1275" b="1">
                <a:solidFill>
                  <a:srgbClr val="132238"/>
                </a:solidFill>
              </a:rPr>
              <a:t>Repository의 비관적 쓰기 락</a:t>
            </a:r>
          </a:p>
        </p:txBody>
      </p:sp>
      <p:sp>
        <p:nvSpPr>
          <p:cNvPr id="31" name="">
            <a:extLst xmlns:a="http://schemas.openxmlformats.org/drawingml/2006/main">
              <a:ext uri="{FF2B5EF4-FFF2-40B4-BE49-F238E27FC236}">
                <a16:creationId xmlns:a16="http://schemas.microsoft.com/office/drawing/2014/main" id="{1FD6ACCF-0017-487F-A5D7-2E9C9853422B}"/>
              </a:ext>
            </a:extLst>
          </p:cNvPr>
          <p:cNvSpPr>
            <a:spLocks xmlns:a="http://schemas.openxmlformats.org/drawingml/2006/main" noGrp="1"/>
          </p:cNvSpPr>
          <p:nvPr/>
        </p:nvSpPr>
        <p:spPr>
          <a:xfrm xmlns:a="http://schemas.openxmlformats.org/drawingml/2006/main">
            <a:off x="6419850" y="5562600"/>
            <a:ext cx="4857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0">
                <a:solidFill>
                  <a:srgbClr val="132238"/>
                </a:solidFill>
              </a:defRPr>
            </a:pPr>
            <a:r>
              <a:rPr sz="1200" b="0">
                <a:solidFill>
                  <a:srgbClr val="132238"/>
                </a:solidFill>
              </a:rPr>
              <a:t>@Lock(PESSIMISTIC_WRITE)  →  동일 배송의 동시 변경 차단</a:t>
            </a:r>
          </a:p>
        </p:txBody>
      </p:sp>
      <p:sp>
        <p:nvSpPr>
          <p:cNvPr id="32" name="">
            <a:extLst xmlns:a="http://schemas.openxmlformats.org/drawingml/2006/main">
              <a:ext uri="{FF2B5EF4-FFF2-40B4-BE49-F238E27FC236}">
                <a16:creationId xmlns:a16="http://schemas.microsoft.com/office/drawing/2014/main" id="{61A0C31E-F9DF-470B-BF08-418A4D7CEAA2}"/>
              </a:ext>
            </a:extLst>
          </p:cNvPr>
          <p:cNvSpPr>
            <a:spLocks xmlns:a="http://schemas.openxmlformats.org/drawingml/2006/main" noGrp="1"/>
          </p:cNvSpPr>
          <p:nvPr/>
        </p:nvSpPr>
        <p:spPr>
          <a:xfrm xmlns:a="http://schemas.openxmlformats.org/drawingml/2006/main">
            <a:off x="952500" y="614362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101114"/>
                </a:solidFill>
              </a:defRPr>
            </a:pPr>
            <a:r>
              <a:rPr sz="1575" b="1">
                <a:solidFill>
                  <a:srgbClr val="101114"/>
                </a:solidFill>
              </a:rPr>
              <a:t>좋은 REST API는 URL뿐 아니라 중복·동시 요청에서도 같은 비즈니스 결과를 보장한다.</a:t>
            </a:r>
          </a:p>
        </p:txBody>
      </p:sp>
      <p:sp>
        <p:nvSpPr>
          <p:cNvPr id="33" name="">
            <a:extLst xmlns:a="http://schemas.openxmlformats.org/drawingml/2006/main">
              <a:ext uri="{FF2B5EF4-FFF2-40B4-BE49-F238E27FC236}">
                <a16:creationId xmlns:a16="http://schemas.microsoft.com/office/drawing/2014/main" id="{286FE13E-762F-4652-9AFC-ADC959F7C8E8}"/>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프로젝트 실제 코드 기반 · 표준 5-Slide</a:t>
            </a:r>
          </a:p>
        </p:txBody>
      </p:sp>
    </p:spTree>
    <p:extLst>
      <p:ext uri="{BB962C8B-B14F-4D97-AF65-F5344CB8AC3E}">
        <p14:creationId xmlns:p14="http://schemas.microsoft.com/office/powerpoint/2010/main" val="84849483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4D667494-1109-4127-B627-87285FB1E294}"/>
              </a:ext>
            </a:extLst>
          </p:cNvPr>
          <p:cNvSpPr>
            <a:spLocks xmlns:a="http://schemas.openxmlformats.org/drawingml/2006/main" noGrp="1"/>
          </p:cNvSpPr>
          <p:nvPr/>
        </p:nvSpPr>
        <p:spPr>
          <a:xfrm xmlns:a="http://schemas.openxmlformats.org/drawingml/2006/main">
            <a:off x="609600" y="26670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975" b="1">
                <a:solidFill>
                  <a:srgbClr val="3D8DFF"/>
                </a:solidFill>
              </a:defRPr>
            </a:pPr>
            <a:r>
              <a:rPr sz="975" b="1">
                <a:solidFill>
                  <a:srgbClr val="3D8DFF"/>
                </a:solidFill>
              </a:rPr>
              <a:t>SHINHAN DELIVERY · REST API</a:t>
            </a:r>
          </a:p>
        </p:txBody>
      </p:sp>
      <p:sp>
        <p:nvSpPr>
          <p:cNvPr id="2" name="">
            <a:extLst xmlns:a="http://schemas.openxmlformats.org/drawingml/2006/main">
              <a:ext uri="{FF2B5EF4-FFF2-40B4-BE49-F238E27FC236}">
                <a16:creationId xmlns:a16="http://schemas.microsoft.com/office/drawing/2014/main" id="{F769B07C-1943-4830-92DB-F9E8E5E0C29B}"/>
              </a:ext>
            </a:extLst>
          </p:cNvPr>
          <p:cNvSpPr>
            <a:spLocks xmlns:a="http://schemas.openxmlformats.org/drawingml/2006/main" noGrp="1"/>
          </p:cNvSpPr>
          <p:nvPr/>
        </p:nvSpPr>
        <p:spPr>
          <a:xfrm xmlns:a="http://schemas.openxmlformats.org/drawingml/2006/main">
            <a:off x="609600" y="609600"/>
            <a:ext cx="10668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01114"/>
                </a:solidFill>
              </a:defRPr>
            </a:pPr>
            <a:r>
              <a:rPr sz="2700" b="1">
                <a:solidFill>
                  <a:srgbClr val="101114"/>
                </a:solidFill>
              </a:rPr>
              <a:t>회고 &amp; 향후 발전 방향</a:t>
            </a:r>
          </a:p>
        </p:txBody>
      </p:sp>
      <p:sp>
        <p:nvSpPr>
          <p:cNvPr id="3" name="">
            <a:extLst xmlns:a="http://schemas.openxmlformats.org/drawingml/2006/main">
              <a:ext uri="{FF2B5EF4-FFF2-40B4-BE49-F238E27FC236}">
                <a16:creationId xmlns:a16="http://schemas.microsoft.com/office/drawing/2014/main" id="{5262D43C-EA2A-4B5A-B551-4FAAF6480C32}"/>
              </a:ext>
            </a:extLst>
          </p:cNvPr>
          <p:cNvSpPr>
            <a:spLocks xmlns:a="http://schemas.openxmlformats.org/drawingml/2006/main" noGrp="1"/>
          </p:cNvSpPr>
          <p:nvPr/>
        </p:nvSpPr>
        <p:spPr>
          <a:xfrm xmlns:a="http://schemas.openxmlformats.org/drawingml/2006/main">
            <a:off x="11239500" y="295275"/>
            <a:ext cx="3429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00" b="1">
                <a:solidFill>
                  <a:srgbClr val="616771"/>
                </a:solidFill>
              </a:defRPr>
            </a:pPr>
            <a:r>
              <a:rPr sz="900" b="1">
                <a:solidFill>
                  <a:srgbClr val="616771"/>
                </a:solidFill>
              </a:rPr>
              <a:t>07</a:t>
            </a:r>
          </a:p>
        </p:txBody>
      </p:sp>
      <p:sp>
        <p:nvSpPr>
          <p:cNvPr id="4" name="">
            <a:extLst xmlns:a="http://schemas.openxmlformats.org/drawingml/2006/main">
              <a:ext uri="{FF2B5EF4-FFF2-40B4-BE49-F238E27FC236}">
                <a16:creationId xmlns:a16="http://schemas.microsoft.com/office/drawing/2014/main" id="{196E1B07-E9A1-48E2-A3E8-0C14E69D8B13}"/>
              </a:ext>
            </a:extLst>
          </p:cNvPr>
          <p:cNvSpPr>
            <a:spLocks xmlns:a="http://schemas.openxmlformats.org/drawingml/2006/main" noGrp="1"/>
          </p:cNvSpPr>
          <p:nvPr/>
        </p:nvSpPr>
        <p:spPr>
          <a:xfrm xmlns:a="http://schemas.openxmlformats.org/drawingml/2006/main">
            <a:off x="609600" y="12573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93DBB7B-89A2-45C5-98FF-74B1D512E64E}"/>
              </a:ext>
            </a:extLst>
          </p:cNvPr>
          <p:cNvSpPr>
            <a:spLocks xmlns:a="http://schemas.openxmlformats.org/drawingml/2006/main" noGrp="1"/>
          </p:cNvSpPr>
          <p:nvPr/>
        </p:nvSpPr>
        <p:spPr>
          <a:xfrm xmlns:a="http://schemas.openxmlformats.org/drawingml/2006/main">
            <a:off x="6096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16845B"/>
                </a:solidFill>
              </a:defRPr>
            </a:pPr>
            <a:r>
              <a:rPr sz="1800" b="1">
                <a:solidFill>
                  <a:srgbClr val="16845B"/>
                </a:solidFill>
              </a:rPr>
              <a:t>KEEP</a:t>
            </a:r>
          </a:p>
        </p:txBody>
      </p:sp>
      <p:sp>
        <p:nvSpPr>
          <p:cNvPr id="6" name="">
            <a:extLst xmlns:a="http://schemas.openxmlformats.org/drawingml/2006/main">
              <a:ext uri="{FF2B5EF4-FFF2-40B4-BE49-F238E27FC236}">
                <a16:creationId xmlns:a16="http://schemas.microsoft.com/office/drawing/2014/main" id="{F4E6B20B-750E-4586-A307-B3A2775F8ED4}"/>
              </a:ext>
            </a:extLst>
          </p:cNvPr>
          <p:cNvSpPr>
            <a:spLocks xmlns:a="http://schemas.openxmlformats.org/drawingml/2006/main" noGrp="1"/>
          </p:cNvSpPr>
          <p:nvPr/>
        </p:nvSpPr>
        <p:spPr>
          <a:xfrm xmlns:a="http://schemas.openxmlformats.org/drawingml/2006/main">
            <a:off x="6096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계속 유지할 것</a:t>
            </a:r>
          </a:p>
        </p:txBody>
      </p:sp>
      <p:sp>
        <p:nvSpPr>
          <p:cNvPr id="7" name="">
            <a:extLst xmlns:a="http://schemas.openxmlformats.org/drawingml/2006/main">
              <a:ext uri="{FF2B5EF4-FFF2-40B4-BE49-F238E27FC236}">
                <a16:creationId xmlns:a16="http://schemas.microsoft.com/office/drawing/2014/main" id="{B26D88B6-D5CF-48C5-9253-1186EDFF2B99}"/>
              </a:ext>
            </a:extLst>
          </p:cNvPr>
          <p:cNvSpPr>
            <a:spLocks xmlns:a="http://schemas.openxmlformats.org/drawingml/2006/main" noGrp="1"/>
          </p:cNvSpPr>
          <p:nvPr/>
        </p:nvSpPr>
        <p:spPr>
          <a:xfrm xmlns:a="http://schemas.openxmlformats.org/drawingml/2006/main">
            <a:off x="6096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EF0342-8F78-4DB0-8DBD-82B739246B20}"/>
              </a:ext>
            </a:extLst>
          </p:cNvPr>
          <p:cNvSpPr>
            <a:spLocks xmlns:a="http://schemas.openxmlformats.org/drawingml/2006/main" noGrp="1"/>
          </p:cNvSpPr>
          <p:nvPr/>
        </p:nvSpPr>
        <p:spPr>
          <a:xfrm xmlns:a="http://schemas.openxmlformats.org/drawingml/2006/main">
            <a:off x="8001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Controller·Service·Repository 책임 분리</a:t>
            </a:r>
          </a:p>
          <a:p xmlns:a="http://schemas.openxmlformats.org/drawingml/2006/main">
            <a:pPr algn="l">
              <a:defRPr sz="1350" b="0">
                <a:solidFill>
                  <a:srgbClr val="101114"/>
                </a:solidFill>
              </a:defRPr>
            </a:pPr>
            <a:r>
              <a:rPr sz="1350" b="0">
                <a:solidFill>
                  <a:srgbClr val="101114"/>
                </a:solidFill>
              </a:rPr>
              <a:t>• DTO와 공통 ErrorResponse 계약</a:t>
            </a:r>
          </a:p>
          <a:p xmlns:a="http://schemas.openxmlformats.org/drawingml/2006/main">
            <a:pPr algn="l">
              <a:defRPr sz="1350" b="0">
                <a:solidFill>
                  <a:srgbClr val="101114"/>
                </a:solidFill>
              </a:defRPr>
            </a:pPr>
            <a:r>
              <a:rPr sz="1350" b="0">
                <a:solidFill>
                  <a:srgbClr val="101114"/>
                </a:solidFill>
              </a:rPr>
              <a:t>• 트랜잭션·락·멱등성 기반 안전성</a:t>
            </a:r>
          </a:p>
        </p:txBody>
      </p:sp>
      <p:sp>
        <p:nvSpPr>
          <p:cNvPr id="9" name="">
            <a:extLst xmlns:a="http://schemas.openxmlformats.org/drawingml/2006/main">
              <a:ext uri="{FF2B5EF4-FFF2-40B4-BE49-F238E27FC236}">
                <a16:creationId xmlns:a16="http://schemas.microsoft.com/office/drawing/2014/main" id="{AE7436ED-8024-42A2-B091-F1486CD74F7B}"/>
              </a:ext>
            </a:extLst>
          </p:cNvPr>
          <p:cNvSpPr>
            <a:spLocks xmlns:a="http://schemas.openxmlformats.org/drawingml/2006/main" noGrp="1"/>
          </p:cNvSpPr>
          <p:nvPr/>
        </p:nvSpPr>
        <p:spPr>
          <a:xfrm xmlns:a="http://schemas.openxmlformats.org/drawingml/2006/main">
            <a:off x="42672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D46B16"/>
                </a:solidFill>
              </a:defRPr>
            </a:pPr>
            <a:r>
              <a:rPr sz="1800" b="1">
                <a:solidFill>
                  <a:srgbClr val="D46B16"/>
                </a:solidFill>
              </a:rPr>
              <a:t>PROBLEM</a:t>
            </a:r>
          </a:p>
        </p:txBody>
      </p:sp>
      <p:sp>
        <p:nvSpPr>
          <p:cNvPr id="10" name="">
            <a:extLst xmlns:a="http://schemas.openxmlformats.org/drawingml/2006/main">
              <a:ext uri="{FF2B5EF4-FFF2-40B4-BE49-F238E27FC236}">
                <a16:creationId xmlns:a16="http://schemas.microsoft.com/office/drawing/2014/main" id="{1818983C-804D-496A-BA99-2A4CC4B033DA}"/>
              </a:ext>
            </a:extLst>
          </p:cNvPr>
          <p:cNvSpPr>
            <a:spLocks xmlns:a="http://schemas.openxmlformats.org/drawingml/2006/main" noGrp="1"/>
          </p:cNvSpPr>
          <p:nvPr/>
        </p:nvSpPr>
        <p:spPr>
          <a:xfrm xmlns:a="http://schemas.openxmlformats.org/drawingml/2006/main">
            <a:off x="42672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현재의 한계</a:t>
            </a:r>
          </a:p>
        </p:txBody>
      </p:sp>
      <p:sp>
        <p:nvSpPr>
          <p:cNvPr id="11" name="">
            <a:extLst xmlns:a="http://schemas.openxmlformats.org/drawingml/2006/main">
              <a:ext uri="{FF2B5EF4-FFF2-40B4-BE49-F238E27FC236}">
                <a16:creationId xmlns:a16="http://schemas.microsoft.com/office/drawing/2014/main" id="{F01C242D-80DA-4961-89EC-641AB56C65EF}"/>
              </a:ext>
            </a:extLst>
          </p:cNvPr>
          <p:cNvSpPr>
            <a:spLocks xmlns:a="http://schemas.openxmlformats.org/drawingml/2006/main" noGrp="1"/>
          </p:cNvSpPr>
          <p:nvPr/>
        </p:nvSpPr>
        <p:spPr>
          <a:xfrm xmlns:a="http://schemas.openxmlformats.org/drawingml/2006/main">
            <a:off x="42672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A6F2538-8A42-40BE-BD2A-F36222ED747C}"/>
              </a:ext>
            </a:extLst>
          </p:cNvPr>
          <p:cNvSpPr>
            <a:spLocks xmlns:a="http://schemas.openxmlformats.org/drawingml/2006/main" noGrp="1"/>
          </p:cNvSpPr>
          <p:nvPr/>
        </p:nvSpPr>
        <p:spPr>
          <a:xfrm xmlns:a="http://schemas.openxmlformats.org/drawingml/2006/main">
            <a:off x="44577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프론트가 API URL을 직접 조합</a:t>
            </a:r>
          </a:p>
          <a:p xmlns:a="http://schemas.openxmlformats.org/drawingml/2006/main">
            <a:pPr algn="l">
              <a:defRPr sz="1350" b="0">
                <a:solidFill>
                  <a:srgbClr val="101114"/>
                </a:solidFill>
              </a:defRPr>
            </a:pPr>
            <a:r>
              <a:rPr sz="1350" b="0">
                <a:solidFill>
                  <a:srgbClr val="101114"/>
                </a:solidFill>
              </a:rPr>
              <a:t>• 5초 폴링은 불필요한 요청 발생 가능</a:t>
            </a:r>
          </a:p>
          <a:p xmlns:a="http://schemas.openxmlformats.org/drawingml/2006/main">
            <a:pPr algn="l">
              <a:defRPr sz="1350" b="0">
                <a:solidFill>
                  <a:srgbClr val="101114"/>
                </a:solidFill>
              </a:defRPr>
            </a:pPr>
            <a:r>
              <a:rPr sz="1350" b="0">
                <a:solidFill>
                  <a:srgbClr val="101114"/>
                </a:solidFill>
              </a:rPr>
              <a:t>• 외부 클라이언트가 늘면 결합도 증가</a:t>
            </a:r>
          </a:p>
        </p:txBody>
      </p:sp>
      <p:sp>
        <p:nvSpPr>
          <p:cNvPr id="13" name="">
            <a:extLst xmlns:a="http://schemas.openxmlformats.org/drawingml/2006/main">
              <a:ext uri="{FF2B5EF4-FFF2-40B4-BE49-F238E27FC236}">
                <a16:creationId xmlns:a16="http://schemas.microsoft.com/office/drawing/2014/main" id="{29170B06-B5BA-4804-ACB5-2003EB10306F}"/>
              </a:ext>
            </a:extLst>
          </p:cNvPr>
          <p:cNvSpPr>
            <a:spLocks xmlns:a="http://schemas.openxmlformats.org/drawingml/2006/main" noGrp="1"/>
          </p:cNvSpPr>
          <p:nvPr/>
        </p:nvSpPr>
        <p:spPr>
          <a:xfrm xmlns:a="http://schemas.openxmlformats.org/drawingml/2006/main">
            <a:off x="7924800" y="1562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defRPr>
            </a:pPr>
            <a:r>
              <a:rPr sz="1800" b="1">
                <a:solidFill>
                  <a:srgbClr val="3D8DFF"/>
                </a:solidFill>
              </a:rPr>
              <a:t>TRY</a:t>
            </a:r>
          </a:p>
        </p:txBody>
      </p:sp>
      <p:sp>
        <p:nvSpPr>
          <p:cNvPr id="14" name="">
            <a:extLst xmlns:a="http://schemas.openxmlformats.org/drawingml/2006/main">
              <a:ext uri="{FF2B5EF4-FFF2-40B4-BE49-F238E27FC236}">
                <a16:creationId xmlns:a16="http://schemas.microsoft.com/office/drawing/2014/main" id="{37CDF059-C718-4BD2-9639-C95F3EB5BF6E}"/>
              </a:ext>
            </a:extLst>
          </p:cNvPr>
          <p:cNvSpPr>
            <a:spLocks xmlns:a="http://schemas.openxmlformats.org/drawingml/2006/main" noGrp="1"/>
          </p:cNvSpPr>
          <p:nvPr/>
        </p:nvSpPr>
        <p:spPr>
          <a:xfrm xmlns:a="http://schemas.openxmlformats.org/drawingml/2006/main">
            <a:off x="7924800" y="1952625"/>
            <a:ext cx="3143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다음 확장</a:t>
            </a:r>
          </a:p>
        </p:txBody>
      </p:sp>
      <p:sp>
        <p:nvSpPr>
          <p:cNvPr id="15" name="">
            <a:extLst xmlns:a="http://schemas.openxmlformats.org/drawingml/2006/main">
              <a:ext uri="{FF2B5EF4-FFF2-40B4-BE49-F238E27FC236}">
                <a16:creationId xmlns:a16="http://schemas.microsoft.com/office/drawing/2014/main" id="{CAC7FDA3-EB8E-4507-AF16-1A8729CB6953}"/>
              </a:ext>
            </a:extLst>
          </p:cNvPr>
          <p:cNvSpPr>
            <a:spLocks xmlns:a="http://schemas.openxmlformats.org/drawingml/2006/main" noGrp="1"/>
          </p:cNvSpPr>
          <p:nvPr/>
        </p:nvSpPr>
        <p:spPr>
          <a:xfrm xmlns:a="http://schemas.openxmlformats.org/drawingml/2006/main">
            <a:off x="7924800" y="2352675"/>
            <a:ext cx="3143250" cy="1952625"/>
          </a:xfrm>
          <a:prstGeom xmlns:a="http://schemas.openxmlformats.org/drawingml/2006/main" prst="rect">
            <a:avLst/>
          </a:prstGeom>
          <a:solidFill xmlns:a="http://schemas.openxmlformats.org/drawingml/2006/main">
            <a:srgbClr val="F0F2F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949A1A4-3E19-4060-81F6-DF4F5CE37A5B}"/>
              </a:ext>
            </a:extLst>
          </p:cNvPr>
          <p:cNvSpPr>
            <a:spLocks xmlns:a="http://schemas.openxmlformats.org/drawingml/2006/main" noGrp="1"/>
          </p:cNvSpPr>
          <p:nvPr/>
        </p:nvSpPr>
        <p:spPr>
          <a:xfrm xmlns:a="http://schemas.openxmlformats.org/drawingml/2006/main">
            <a:off x="8115300" y="2590800"/>
            <a:ext cx="2762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0">
                <a:solidFill>
                  <a:srgbClr val="101114"/>
                </a:solidFill>
              </a:defRPr>
            </a:pPr>
            <a:r>
              <a:rPr sz="1350" b="0">
                <a:solidFill>
                  <a:srgbClr val="101114"/>
                </a:solidFill>
              </a:rPr>
              <a:t>• HATEOAS로 상태별 행동 링크 제공</a:t>
            </a:r>
          </a:p>
          <a:p xmlns:a="http://schemas.openxmlformats.org/drawingml/2006/main">
            <a:pPr algn="l">
              <a:defRPr sz="1350" b="0">
                <a:solidFill>
                  <a:srgbClr val="101114"/>
                </a:solidFill>
              </a:defRPr>
            </a:pPr>
            <a:r>
              <a:rPr sz="1350" b="0">
                <a:solidFill>
                  <a:srgbClr val="101114"/>
                </a:solidFill>
              </a:rPr>
              <a:t>• WebSocket 이벤트와 조회 API 병행</a:t>
            </a:r>
          </a:p>
          <a:p xmlns:a="http://schemas.openxmlformats.org/drawingml/2006/main">
            <a:pPr algn="l">
              <a:defRPr sz="1350" b="0">
                <a:solidFill>
                  <a:srgbClr val="101114"/>
                </a:solidFill>
              </a:defRPr>
            </a:pPr>
            <a:r>
              <a:rPr sz="1350" b="0">
                <a:solidFill>
                  <a:srgbClr val="101114"/>
                </a:solidFill>
              </a:rPr>
              <a:t>• 링크 관계·계약 테스트 추가</a:t>
            </a:r>
          </a:p>
        </p:txBody>
      </p:sp>
      <p:sp>
        <p:nvSpPr>
          <p:cNvPr id="17" name="">
            <a:extLst xmlns:a="http://schemas.openxmlformats.org/drawingml/2006/main">
              <a:ext uri="{FF2B5EF4-FFF2-40B4-BE49-F238E27FC236}">
                <a16:creationId xmlns:a16="http://schemas.microsoft.com/office/drawing/2014/main" id="{7B7A2A83-1593-4E10-968E-7D9317364DD2}"/>
              </a:ext>
            </a:extLst>
          </p:cNvPr>
          <p:cNvSpPr>
            <a:spLocks xmlns:a="http://schemas.openxmlformats.org/drawingml/2006/main" noGrp="1"/>
          </p:cNvSpPr>
          <p:nvPr/>
        </p:nvSpPr>
        <p:spPr>
          <a:xfrm xmlns:a="http://schemas.openxmlformats.org/drawingml/2006/main">
            <a:off x="647700" y="4638675"/>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101114"/>
                </a:solidFill>
              </a:defRPr>
            </a:pPr>
            <a:r>
              <a:rPr sz="1275" b="1">
                <a:solidFill>
                  <a:srgbClr val="101114"/>
                </a:solidFill>
              </a:rPr>
              <a:t>현재 JSON</a:t>
            </a:r>
          </a:p>
        </p:txBody>
      </p:sp>
      <p:sp>
        <p:nvSpPr>
          <p:cNvPr id="18" name="">
            <a:extLst xmlns:a="http://schemas.openxmlformats.org/drawingml/2006/main">
              <a:ext uri="{FF2B5EF4-FFF2-40B4-BE49-F238E27FC236}">
                <a16:creationId xmlns:a16="http://schemas.microsoft.com/office/drawing/2014/main" id="{2D6D7DC9-0C98-4B54-88D6-E2A934C1E141}"/>
              </a:ext>
            </a:extLst>
          </p:cNvPr>
          <p:cNvSpPr>
            <a:spLocks xmlns:a="http://schemas.openxmlformats.org/drawingml/2006/main" noGrp="1"/>
          </p:cNvSpPr>
          <p:nvPr/>
        </p:nvSpPr>
        <p:spPr>
          <a:xfrm xmlns:a="http://schemas.openxmlformats.org/drawingml/2006/main">
            <a:off x="609600" y="4972050"/>
            <a:ext cx="4572000" cy="666750"/>
          </a:xfrm>
          <a:prstGeom xmlns:a="http://schemas.openxmlformats.org/drawingml/2006/main" prst="roundRect">
            <a:avLst>
              <a:gd name="adj" fmla="val 17143"/>
            </a:avLst>
          </a:prstGeom>
          <a:solidFill xmlns:a="http://schemas.openxmlformats.org/drawingml/2006/main">
            <a:srgbClr val="111827"/>
          </a:solidFill>
          <a:ln xmlns:a="http://schemas.openxmlformats.org/drawingml/2006/main" w="9525">
            <a:solidFill>
              <a:srgbClr val="111827"/>
            </a:solidFill>
            <a:prstDash val="solid"/>
          </a:ln>
        </p:spPr>
      </p:sp>
      <p:sp>
        <p:nvSpPr>
          <p:cNvPr id="19" name="">
            <a:extLst xmlns:a="http://schemas.openxmlformats.org/drawingml/2006/main">
              <a:ext uri="{FF2B5EF4-FFF2-40B4-BE49-F238E27FC236}">
                <a16:creationId xmlns:a16="http://schemas.microsoft.com/office/drawing/2014/main" id="{E296D8BB-3E19-4EEC-B898-EBA561496774}"/>
              </a:ext>
            </a:extLst>
          </p:cNvPr>
          <p:cNvSpPr>
            <a:spLocks xmlns:a="http://schemas.openxmlformats.org/drawingml/2006/main" noGrp="1"/>
          </p:cNvSpPr>
          <p:nvPr/>
        </p:nvSpPr>
        <p:spPr>
          <a:xfrm xmlns:a="http://schemas.openxmlformats.org/drawingml/2006/main">
            <a:off x="800100" y="5133975"/>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0">
                <a:solidFill>
                  <a:srgbClr val="E8EFF8"/>
                </a:solidFill>
              </a:defRPr>
            </a:pPr>
            <a:r>
              <a:rPr sz="1125" b="0">
                <a:solidFill>
                  <a:srgbClr val="E8EFF8"/>
                </a:solidFill>
              </a:rPr>
              <a:t>{ "id": 123, "status": "REQUESTED" }</a:t>
            </a:r>
          </a:p>
        </p:txBody>
      </p:sp>
      <p:sp>
        <p:nvSpPr>
          <p:cNvPr id="20" name="">
            <a:extLst xmlns:a="http://schemas.openxmlformats.org/drawingml/2006/main">
              <a:ext uri="{FF2B5EF4-FFF2-40B4-BE49-F238E27FC236}">
                <a16:creationId xmlns:a16="http://schemas.microsoft.com/office/drawing/2014/main" id="{168CB480-04F9-4C3A-BA00-CFCDA0BA26F2}"/>
              </a:ext>
            </a:extLst>
          </p:cNvPr>
          <p:cNvSpPr>
            <a:spLocks xmlns:a="http://schemas.openxmlformats.org/drawingml/2006/main" noGrp="1"/>
          </p:cNvSpPr>
          <p:nvPr/>
        </p:nvSpPr>
        <p:spPr>
          <a:xfrm xmlns:a="http://schemas.openxmlformats.org/drawingml/2006/main">
            <a:off x="6286500" y="4638675"/>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75" b="1">
                <a:solidFill>
                  <a:srgbClr val="3D8DFF"/>
                </a:solidFill>
              </a:defRPr>
            </a:pPr>
            <a:r>
              <a:rPr sz="1275" b="1">
                <a:solidFill>
                  <a:srgbClr val="3D8DFF"/>
                </a:solidFill>
              </a:rPr>
              <a:t>HATEOAS 확장 예시</a:t>
            </a:r>
          </a:p>
        </p:txBody>
      </p:sp>
      <p:sp>
        <p:nvSpPr>
          <p:cNvPr id="21" name="">
            <a:extLst xmlns:a="http://schemas.openxmlformats.org/drawingml/2006/main">
              <a:ext uri="{FF2B5EF4-FFF2-40B4-BE49-F238E27FC236}">
                <a16:creationId xmlns:a16="http://schemas.microsoft.com/office/drawing/2014/main" id="{333980A9-210C-430C-849B-3F52931663D5}"/>
              </a:ext>
            </a:extLst>
          </p:cNvPr>
          <p:cNvSpPr>
            <a:spLocks xmlns:a="http://schemas.openxmlformats.org/drawingml/2006/main" noGrp="1"/>
          </p:cNvSpPr>
          <p:nvPr/>
        </p:nvSpPr>
        <p:spPr>
          <a:xfrm xmlns:a="http://schemas.openxmlformats.org/drawingml/2006/main">
            <a:off x="6248400" y="4972050"/>
            <a:ext cx="5334000" cy="876300"/>
          </a:xfrm>
          <a:prstGeom xmlns:a="http://schemas.openxmlformats.org/drawingml/2006/main" prst="roundRect">
            <a:avLst>
              <a:gd name="adj" fmla="val 13043"/>
            </a:avLst>
          </a:prstGeom>
          <a:solidFill xmlns:a="http://schemas.openxmlformats.org/drawingml/2006/main">
            <a:srgbClr val="111827"/>
          </a:solidFill>
          <a:ln xmlns:a="http://schemas.openxmlformats.org/drawingml/2006/main" w="9525">
            <a:solidFill>
              <a:srgbClr val="111827"/>
            </a:solidFill>
            <a:prstDash val="solid"/>
          </a:ln>
        </p:spPr>
      </p:sp>
      <p:sp>
        <p:nvSpPr>
          <p:cNvPr id="22" name="">
            <a:extLst xmlns:a="http://schemas.openxmlformats.org/drawingml/2006/main">
              <a:ext uri="{FF2B5EF4-FFF2-40B4-BE49-F238E27FC236}">
                <a16:creationId xmlns:a16="http://schemas.microsoft.com/office/drawing/2014/main" id="{75CC6CDD-5EF1-4FF8-93F6-6F6B61DFF960}"/>
              </a:ext>
            </a:extLst>
          </p:cNvPr>
          <p:cNvSpPr>
            <a:spLocks xmlns:a="http://schemas.openxmlformats.org/drawingml/2006/main" noGrp="1"/>
          </p:cNvSpPr>
          <p:nvPr/>
        </p:nvSpPr>
        <p:spPr>
          <a:xfrm xmlns:a="http://schemas.openxmlformats.org/drawingml/2006/main">
            <a:off x="6438900" y="5133975"/>
            <a:ext cx="4953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0">
                <a:solidFill>
                  <a:srgbClr val="E8EFF8"/>
                </a:solidFill>
              </a:defRPr>
            </a:pPr>
            <a:r>
              <a:rPr sz="1050" b="0">
                <a:solidFill>
                  <a:srgbClr val="E8EFF8"/>
                </a:solidFill>
              </a:rPr>
              <a:t>"_links": {</a:t>
            </a:r>
          </a:p>
          <a:p xmlns:a="http://schemas.openxmlformats.org/drawingml/2006/main">
            <a:pPr algn="l">
              <a:defRPr sz="1050" b="0">
                <a:solidFill>
                  <a:srgbClr val="E8EFF8"/>
                </a:solidFill>
              </a:defRPr>
            </a:pPr>
            <a:r>
              <a:rPr sz="1050" b="0">
                <a:solidFill>
                  <a:srgbClr val="E8EFF8"/>
                </a:solidFill>
              </a:rPr>
              <a:t>  "self": { "href": ".../123" },</a:t>
            </a:r>
          </a:p>
          <a:p xmlns:a="http://schemas.openxmlformats.org/drawingml/2006/main">
            <a:pPr algn="l">
              <a:defRPr sz="1050" b="0">
                <a:solidFill>
                  <a:srgbClr val="E8EFF8"/>
                </a:solidFill>
              </a:defRPr>
            </a:pPr>
            <a:r>
              <a:rPr sz="1050" b="0">
                <a:solidFill>
                  <a:srgbClr val="E8EFF8"/>
                </a:solidFill>
              </a:rPr>
              <a:t>  "cancel": { "href": ".../123/cancel" }</a:t>
            </a:r>
          </a:p>
          <a:p xmlns:a="http://schemas.openxmlformats.org/drawingml/2006/main">
            <a:pPr algn="l">
              <a:defRPr sz="1050" b="0">
                <a:solidFill>
                  <a:srgbClr val="E8EFF8"/>
                </a:solidFill>
              </a:defRPr>
            </a:pPr>
            <a:r>
              <a:rPr sz="1050" b="0">
                <a:solidFill>
                  <a:srgbClr val="E8EFF8"/>
                </a:solidFill>
              </a:rPr>
              <a:t>}</a:t>
            </a:r>
          </a:p>
        </p:txBody>
      </p:sp>
      <p:sp>
        <p:nvSpPr>
          <p:cNvPr id="23" name="">
            <a:extLst xmlns:a="http://schemas.openxmlformats.org/drawingml/2006/main">
              <a:ext uri="{FF2B5EF4-FFF2-40B4-BE49-F238E27FC236}">
                <a16:creationId xmlns:a16="http://schemas.microsoft.com/office/drawing/2014/main" id="{D29AADDF-0AE6-490E-A136-BFF02702879F}"/>
              </a:ext>
            </a:extLst>
          </p:cNvPr>
          <p:cNvSpPr>
            <a:spLocks xmlns:a="http://schemas.openxmlformats.org/drawingml/2006/main" noGrp="1"/>
          </p:cNvSpPr>
          <p:nvPr/>
        </p:nvSpPr>
        <p:spPr>
          <a:xfrm xmlns:a="http://schemas.openxmlformats.org/drawingml/2006/main">
            <a:off x="609600" y="6057900"/>
            <a:ext cx="10972800" cy="19050"/>
          </a:xfrm>
          <a:prstGeom xmlns:a="http://schemas.openxmlformats.org/drawingml/2006/main" prst="rect">
            <a:avLst/>
          </a:prstGeom>
          <a:solidFill xmlns:a="http://schemas.openxmlformats.org/drawingml/2006/main">
            <a:srgbClr val="10111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65AFB72-9990-4275-A0D0-BFF7092EA34B}"/>
              </a:ext>
            </a:extLst>
          </p:cNvPr>
          <p:cNvSpPr>
            <a:spLocks xmlns:a="http://schemas.openxmlformats.org/drawingml/2006/main" noGrp="1"/>
          </p:cNvSpPr>
          <p:nvPr/>
        </p:nvSpPr>
        <p:spPr>
          <a:xfrm xmlns:a="http://schemas.openxmlformats.org/drawingml/2006/main">
            <a:off x="838200" y="6200775"/>
            <a:ext cx="1047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01114"/>
                </a:solidFill>
              </a:defRPr>
            </a:pPr>
            <a:r>
              <a:rPr sz="1500" b="1">
                <a:solidFill>
                  <a:srgbClr val="101114"/>
                </a:solidFill>
              </a:rPr>
              <a:t>Key Lesson  |  REST API는 데이터를 반환하는 코드가 아니라 화면과 비즈니스를 연결하는 계약이다.</a:t>
            </a:r>
          </a:p>
        </p:txBody>
      </p:sp>
      <p:sp>
        <p:nvSpPr>
          <p:cNvPr id="25" name="">
            <a:extLst xmlns:a="http://schemas.openxmlformats.org/drawingml/2006/main">
              <a:ext uri="{FF2B5EF4-FFF2-40B4-BE49-F238E27FC236}">
                <a16:creationId xmlns:a16="http://schemas.microsoft.com/office/drawing/2014/main" id="{2B24AAC1-1AFE-45C8-BCE0-89792ED217B8}"/>
              </a:ext>
            </a:extLst>
          </p:cNvPr>
          <p:cNvSpPr>
            <a:spLocks xmlns:a="http://schemas.openxmlformats.org/drawingml/2006/main" noGrp="1"/>
          </p:cNvSpPr>
          <p:nvPr/>
        </p:nvSpPr>
        <p:spPr>
          <a:xfrm xmlns:a="http://schemas.openxmlformats.org/drawingml/2006/main">
            <a:off x="609600" y="6505575"/>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825" b="0">
                <a:solidFill>
                  <a:srgbClr val="616771"/>
                </a:solidFill>
              </a:defRPr>
            </a:pPr>
            <a:r>
              <a:rPr sz="825" b="0">
                <a:solidFill>
                  <a:srgbClr val="616771"/>
                </a:solidFill>
              </a:rPr>
              <a:t>현재 프로젝트에는 Spring HATEOAS가 구현되어 있지 않음</a:t>
            </a:r>
          </a:p>
        </p:txBody>
      </p:sp>
    </p:spTree>
    <p:extLst>
      <p:ext uri="{BB962C8B-B14F-4D97-AF65-F5344CB8AC3E}">
        <p14:creationId xmlns:p14="http://schemas.microsoft.com/office/powerpoint/2010/main" val="14578328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2026-08-18T08:01:59.2290000Z</dcterms:created>
  <dcterms:modified xsi:type="dcterms:W3CDTF">2026-08-18T08:01:59.2290000Z</dcterms:modified>
</coreProperties>
</file>